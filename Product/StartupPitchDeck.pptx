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</p:sldMasterIdLst>
  <p:sldIdLst>
    <p:sldId id="291" r:id="rId4"/>
    <p:sldId id="292" r:id="rId5"/>
    <p:sldId id="293" r:id="rId6"/>
    <p:sldId id="294" r:id="rId7"/>
    <p:sldId id="295" r:id="rId8"/>
    <p:sldId id="296" r:id="rId9"/>
    <p:sldId id="297" r:id="rId10"/>
    <p:sldId id="298" r:id="rId11"/>
    <p:sldId id="29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79"/>
    <p:restoredTop sz="94658"/>
  </p:normalViewPr>
  <p:slideViewPr>
    <p:cSldViewPr snapToGrid="0">
      <p:cViewPr varScale="1">
        <p:scale>
          <a:sx n="81" d="100"/>
          <a:sy n="81" d="100"/>
        </p:scale>
        <p:origin x="216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9DDD-1052-5A70-99E0-7BA03F4BD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8B4AA-A83A-0B9D-AEBA-ED3F7FE4E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36475-7331-2647-2A9C-0953168C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66401-EB16-E5D3-A32C-E014DC803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51E5C-FB3F-477A-BFB7-108A7230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5025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91A8-5111-3456-9367-3FCD7FBF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ABDC-53A6-ED69-458B-3B70957E4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79114-0D7B-0B6E-0F05-DE90DE4D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338FE-AD8B-2BD1-072C-3008C93B5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2D92-4743-F930-0CCC-F7A3CE2E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741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A5CC-9E93-272A-4184-30CD7C186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EF4AE-0FA9-1269-0C54-CDE5F4FA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54EB-0188-CBC3-3C63-6766AD09F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9A6A7-F273-ACA1-A416-818E33480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AC63-A371-726C-CE6E-490E84C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232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1D14-3F70-6B95-BA0C-B5CC9E60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0A43-9876-0AB1-89ED-25E41AA41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A1292-C5F3-AB67-5890-08B931556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7BB68B-667D-EBE7-7C39-C179BD5D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E69F8-4BE8-4400-BBA6-0DC4A9E5A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7FADD-BCD2-51F9-89A8-E5EDC8D7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4BE5-5310-87F2-C8EF-13E7DF55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22F0-D12F-924A-BF73-2B121810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DAB01-1933-2564-38CB-C920D2A04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C5929D-46AD-D600-32C0-3E28EC98B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5E89A-7B93-6128-D251-45464DA8C0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70D1E-56D4-E155-5226-5A12A20E2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B7CD5C-F254-B178-B565-0D057552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6796D3-2BB3-414A-2389-B4C10E3C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71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648A-1E1F-F7FA-F673-32ED4396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71B77-0202-A7D2-DF1F-79B71AC7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068E51-B73E-DBE1-C0FD-AC7029D33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B9FC2-CFAB-8784-EB26-76950F3A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48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5B27D-8278-4464-7AFB-13615DA5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DE766-B306-5448-E82B-682273CF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30339-F2B4-7120-EC28-7AA9D1863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7561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F48DF-6D47-FF3C-7B5E-4633B1E65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9ADCF-3A22-6DBF-462F-817F0064D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9A9DC-48AD-D474-01FD-0B38A832E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1743C-4BE7-2BDC-15DB-3724A83EB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8066E-85DC-0135-7513-8FFB5B474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71E4-2565-B309-AE64-7A872A0F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988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0461-03D2-050E-A5F8-F4722EF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C8854A-A0D4-1A65-659C-C8C0E60E3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ABDC88-D030-BC37-B8A4-CA7065927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B9955-ECD8-3E71-2C67-9DB0EF52C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B1D6B-35E3-E816-60C9-EA528344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3E9B-E2D7-8BAF-DE68-89F77300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21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03D3-7D15-20BA-DE47-AE8644FB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1034-4C3C-2065-84B3-B66BF7B9F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1A21F-2BB3-B051-A72B-485AC210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2EC22-161C-AD50-0266-5BC08489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85CBF-70ED-5F75-3ECC-CA5054CD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374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FFDD4-267F-0554-EBD2-9CB782BF5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9760F-BA78-3D93-C9FE-29A5C6B145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DC626-90A3-EFAD-396A-F0CEB1EA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42F6C-6F22-0280-D7CA-114F64F6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58CAE-B43C-CF19-B34F-33C88AA94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03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1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A1A1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CBC5-029B-B2E8-A0D1-3C79D0D9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5B374-E91A-B09D-969A-79806D9DC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C6D3E-247E-276E-CA1D-FFB206C81C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E2F0E-3115-794A-A56E-BA3D171BBBC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6B14-093F-BB5F-E105-D28092A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3AA0A-BD91-5AFC-C272-DA4DB052A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52960-BB8B-F043-A11D-3CB31AF536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4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ldBar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762000" y="698500"/>
            <a:ext cx="8636000" cy="304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RESEARCH INQUIRY · APRIL 2026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762000" y="1524000"/>
            <a:ext cx="10922000" cy="254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>
              <a:buNone/>
            </a:pPr>
            <a:r>
              <a:rPr lang="en-US" sz="5850" b="1" dirty="0">
                <a:solidFill>
                  <a:srgbClr val="F0EDE6"/>
                </a:solidFill>
                <a:latin typeface="Trebuchet MS"/>
              </a:rPr>
              <a:t>Fleet Operations Software</a:t>
            </a:r>
          </a:p>
          <a:p>
            <a:pPr>
              <a:buNone/>
            </a:pPr>
            <a:r>
              <a:rPr lang="en-US" sz="5850" b="1" dirty="0">
                <a:solidFill>
                  <a:srgbClr val="F0EDE6"/>
                </a:solidFill>
                <a:latin typeface="Trebuchet MS"/>
              </a:rPr>
              <a:t>for Autonomous Aviation</a:t>
            </a:r>
          </a:p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762000" y="4318000"/>
            <a:ext cx="8890000" cy="660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>
              <a:buNone/>
            </a:pPr>
            <a:r>
              <a:rPr lang="en-US" sz="2150" dirty="0">
                <a:solidFill>
                  <a:srgbClr val="8A8070"/>
                </a:solidFill>
                <a:latin typeface="Calibri"/>
              </a:rPr>
              <a:t>We’re researching whether the software infrastructure for managing eVTOL and drone fleets at scale exists today — and how leading companies like Archer are approaching this problem.</a:t>
            </a:r>
          </a:p>
        </p:txBody>
      </p:sp>
      <p:sp>
        <p:nvSpPr>
          <p:cNvPr id="14" name="Line14"/>
          <p:cNvSpPr>
            <a:spLocks noGrp="1"/>
          </p:cNvSpPr>
          <p:nvPr/>
        </p:nvSpPr>
        <p:spPr>
          <a:xfrm>
            <a:off x="762000" y="5232400"/>
            <a:ext cx="5486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Shape15"/>
          <p:cNvSpPr>
            <a:spLocks noGrp="1"/>
          </p:cNvSpPr>
          <p:nvPr/>
        </p:nvSpPr>
        <p:spPr>
          <a:xfrm>
            <a:off x="762000" y="5461000"/>
            <a:ext cx="5486400" cy="304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>
              <a:buNone/>
            </a:pPr>
            <a:r>
              <a:rPr lang="en-US" sz="1750" dirty="0">
                <a:solidFill>
                  <a:srgbClr val="F0EDE6"/>
                </a:solidFill>
                <a:latin typeface="Calibri"/>
              </a:rPr>
              <a:t>Aarav Verma · Tharun</a:t>
            </a:r>
          </a:p>
        </p:txBody>
      </p:sp>
      <p:sp>
        <p:nvSpPr>
          <p:cNvPr id="16" name="Shape16"/>
          <p:cNvSpPr>
            <a:spLocks noGrp="1"/>
          </p:cNvSpPr>
          <p:nvPr/>
        </p:nvSpPr>
        <p:spPr>
          <a:xfrm>
            <a:off x="6705600" y="5461000"/>
            <a:ext cx="4724400" cy="304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>
              <a:buNone/>
            </a:pPr>
            <a:r>
              <a:rPr lang="en-US" sz="1750" dirty="0">
                <a:solidFill>
                  <a:srgbClr val="8A8070"/>
                </a:solidFill>
                <a:latin typeface="Calibri"/>
              </a:rPr>
              <a:t>University of Illinois Urbana-Champaign</a:t>
            </a:r>
          </a:p>
        </p:txBody>
      </p:sp>
      <p:sp>
        <p:nvSpPr>
          <p:cNvPr id="17" name="Fix17"/>
          <p:cNvSpPr>
            <a:spLocks noGrp="1"/>
          </p:cNvSpPr>
          <p:nvPr/>
        </p:nvSpPr>
        <p:spPr>
          <a:xfrm>
            <a:off x="0" y="5880100"/>
            <a:ext cx="12192000" cy="50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CONFIDENTIAL · FOR DISCUSSION PURPOSES ONLY</a:t>
            </a:r>
          </a:p>
        </p:txBody>
      </p:sp>
      <p:sp>
        <p:nvSpPr>
          <p:cNvPr id="18" name="Fix18"/>
          <p:cNvSpPr>
            <a:spLocks noGrp="1"/>
          </p:cNvSpPr>
          <p:nvPr/>
        </p:nvSpPr>
        <p:spPr>
          <a:xfrm>
            <a:off x="0" y="6426200"/>
            <a:ext cx="12192000" cy="1270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9" name="Fix19"/>
          <p:cNvSpPr>
            <a:spLocks noGrp="1"/>
          </p:cNvSpPr>
          <p:nvPr/>
        </p:nvSpPr>
        <p:spPr>
          <a:xfrm>
            <a:off x="101600" y="6489700"/>
            <a:ext cx="6096000" cy="254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20" name="Fix20"/>
          <p:cNvSpPr>
            <a:spLocks noGrp="1"/>
          </p:cNvSpPr>
          <p:nvPr/>
        </p:nvSpPr>
        <p:spPr>
          <a:xfrm>
            <a:off x="10972800" y="6489700"/>
            <a:ext cx="1117600" cy="254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261572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5461000" cy="6731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5050" b="1" dirty="0">
                <a:solidFill>
                  <a:srgbClr val="1A1A1A"/>
                </a:solidFill>
                <a:latin typeface="Trebuchet MS"/>
              </a:rPr>
              <a:t>Who we are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2438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762000" y="1460500"/>
            <a:ext cx="4953000" cy="19685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4CC"/>
            </a:solidFill>
          </a:ln>
        </p:spPr>
        <p:txBody>
          <a:bodyPr anchor="t"/>
          <a:lstStyle/>
          <a:p>
            <a:pPr marL="164592" indent="0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FOUNDER 01</a:t>
            </a:r>
          </a:p>
          <a:p>
            <a:pPr marL="164592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/>
              </a:rPr>
              <a:t>Aarav Verma</a:t>
            </a:r>
          </a:p>
          <a:p>
            <a:pPr marL="164592" indent="0"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Aerospace Engineering · UIUC</a:t>
            </a:r>
          </a:p>
          <a:p>
            <a:pPr marL="164592" indent="0">
              <a:buNone/>
            </a:pPr>
            <a:r>
              <a:rPr lang="en-US" sz="1450" dirty="0">
                <a:solidFill>
                  <a:srgbClr val="7A7060"/>
                </a:solidFill>
                <a:latin typeface="Calibri"/>
              </a:rPr>
              <a:t>Product vision, outreach, pitch materials. Understands FAA regulatory landscape and eVTOL certification pathways.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762000" y="3619500"/>
            <a:ext cx="4953000" cy="19685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4CC"/>
            </a:solidFill>
          </a:ln>
        </p:spPr>
        <p:txBody>
          <a:bodyPr anchor="t"/>
          <a:lstStyle/>
          <a:p>
            <a:pPr marL="164592" indent="0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FOUNDER 02</a:t>
            </a:r>
          </a:p>
          <a:p>
            <a:pPr marL="164592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/>
              </a:rPr>
              <a:t>Tharun</a:t>
            </a:r>
          </a:p>
          <a:p>
            <a:pPr marL="164592" indent="0"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Materials Science · UIUC</a:t>
            </a:r>
          </a:p>
          <a:p>
            <a:pPr marL="164592" indent="0">
              <a:buNone/>
            </a:pPr>
            <a:r>
              <a:rPr lang="en-US" sz="1450" dirty="0">
                <a:solidFill>
                  <a:srgbClr val="7A7060"/>
                </a:solidFill>
                <a:latin typeface="Calibri"/>
              </a:rPr>
              <a:t>Battery degradation modeling and materials-level eVTOL hardware constraints — directly applicable to SOC/SOH tracking and maintenance prediction.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762000" y="57785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750" dirty="0">
                <a:solidFill>
                  <a:srgbClr val="7A7060"/>
                </a:solidFill>
                <a:latin typeface="Calibri"/>
              </a:rPr>
              <a:t>Two UIUC engineers who understand both the domain and the software problem.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6223000" y="457200"/>
            <a:ext cx="5461000" cy="5715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dirty="0">
                <a:solidFill>
                  <a:srgbClr val="8A8070"/>
                </a:solidFill>
                <a:latin typeface="Calibri"/>
              </a:rPr>
              <a:t>[Photo / headshots / UIUC logo]</a:t>
            </a:r>
          </a:p>
        </p:txBody>
      </p:sp>
      <p:sp>
        <p:nvSpPr>
          <p:cNvPr id="17" name="S17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8" name="S18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19" name="S19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3618934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7315200" cy="6731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5050" b="1" dirty="0">
                <a:solidFill>
                  <a:srgbClr val="1A1A1A"/>
                </a:solidFill>
                <a:latin typeface="Trebuchet MS"/>
              </a:rPr>
              <a:t>The problem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2438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1079500" y="1524000"/>
            <a:ext cx="10033000" cy="1270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2400" i="1" dirty="0">
                <a:solidFill>
                  <a:srgbClr val="1A1A1A"/>
                </a:solidFill>
                <a:latin typeface="Calibri"/>
              </a:rPr>
              <a:t>Operating 30 aircraft is not just 30x harder than operating one.</a:t>
            </a:r>
          </a:p>
          <a:p>
            <a:pPr>
              <a:buNone/>
            </a:pPr>
            <a:r>
              <a:rPr lang="en-US" sz="2400" i="1" dirty="0">
                <a:solidFill>
                  <a:srgbClr val="1A1A1A"/>
                </a:solidFill>
                <a:latin typeface="Calibri"/>
              </a:rPr>
              <a:t>It’s a different category of problem.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762000" y="3048000"/>
            <a:ext cx="3238500" cy="2794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VISIBILITY</a:t>
            </a:r>
          </a:p>
          <a:p>
            <a:pPr algn="ctr">
              <a:buNone/>
            </a:pPr>
            <a:r>
              <a:rPr lang="en-US" sz="3450" b="1" dirty="0">
                <a:solidFill>
                  <a:srgbClr val="C8B89A"/>
                </a:solidFill>
                <a:latin typeface="Trebuchet MS"/>
              </a:rPr>
              <a:t>Fleet status</a:t>
            </a:r>
          </a:p>
          <a:p>
            <a:pPr algn="ctr"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No unified real-time view</a:t>
            </a:r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4470400" y="3048000"/>
            <a:ext cx="3238500" cy="2794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POWER</a:t>
            </a:r>
          </a:p>
          <a:p>
            <a:pPr algn="ctr">
              <a:buNone/>
            </a:pPr>
            <a:r>
              <a:rPr lang="en-US" sz="3450" b="1" dirty="0">
                <a:solidFill>
                  <a:srgbClr val="C8B89A"/>
                </a:solidFill>
                <a:latin typeface="Trebuchet MS"/>
              </a:rPr>
              <a:t>Battery cycles</a:t>
            </a:r>
          </a:p>
          <a:p>
            <a:pPr algn="ctr"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No eVTOL-native tools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8178800" y="3048000"/>
            <a:ext cx="3238500" cy="2794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COMPLIANCE</a:t>
            </a:r>
          </a:p>
          <a:p>
            <a:pPr algn="ctr">
              <a:buNone/>
            </a:pPr>
            <a:r>
              <a:rPr lang="en-US" sz="3450" b="1" dirty="0">
                <a:solidFill>
                  <a:srgbClr val="C8B89A"/>
                </a:solidFill>
                <a:latin typeface="Trebuchet MS"/>
              </a:rPr>
              <a:t>No platform</a:t>
            </a:r>
          </a:p>
          <a:p>
            <a:pPr algn="ctr"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Manual FAA documentation</a:t>
            </a:r>
          </a:p>
        </p:txBody>
      </p:sp>
      <p:sp>
        <p:nvSpPr>
          <p:cNvPr id="30" name="S3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1" name="S3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32" name="S3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2458819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4876800" cy="6731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5050" b="1" dirty="0">
                <a:solidFill>
                  <a:srgbClr val="1A1A1A"/>
                </a:solidFill>
                <a:latin typeface="Trebuchet MS"/>
              </a:rPr>
              <a:t>Our solution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2438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762000" y="1460500"/>
            <a:ext cx="4876800" cy="1397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2000" dirty="0">
                <a:solidFill>
                  <a:srgbClr val="7A7060"/>
                </a:solidFill>
                <a:latin typeface="Calibri"/>
              </a:rPr>
              <a:t>A single operator dashboard giving aviation ops teams real-time control of their entire fleet — dispatch, maintenance, compliance, and analytics in one place.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762000" y="3048000"/>
            <a:ext cx="4876800" cy="1397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750" dirty="0">
                <a:solidFill>
                  <a:srgbClr val="7A7060"/>
                </a:solidFill>
                <a:latin typeface="Calibri"/>
              </a:rPr>
              <a:t>Think of it as the operations center software layer — not an avionics system, not a booking platform. The tool that the dispatch manager, maintenance coordinator, and operations director use to run the day-to-day.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6096000" y="457200"/>
            <a:ext cx="2603500" cy="2667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B89A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850" dirty="0">
                <a:solidFill>
                  <a:srgbClr val="C8B89A"/>
                </a:solidFill>
                <a:latin typeface="Calibri"/>
              </a:rPr>
              <a:t>●</a:t>
            </a:r>
          </a:p>
          <a:p>
            <a:pPr algn="ctr"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Fleet Overview</a:t>
            </a:r>
          </a:p>
          <a:p>
            <a:pPr algn="ctr">
              <a:buNone/>
            </a:pPr>
            <a:r>
              <a:rPr lang="en-US" sz="1450" dirty="0">
                <a:solidFill>
                  <a:srgbClr val="7A7060"/>
                </a:solidFill>
                <a:latin typeface="Calibri"/>
              </a:rPr>
              <a:t>Real-time status: in-flight, charging, maintenance, grounded</a:t>
            </a:r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8890000" y="457200"/>
            <a:ext cx="2603500" cy="2667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B89A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850" dirty="0">
                <a:solidFill>
                  <a:srgbClr val="C8B89A"/>
                </a:solidFill>
                <a:latin typeface="Calibri"/>
              </a:rPr>
              <a:t>●</a:t>
            </a:r>
          </a:p>
          <a:p>
            <a:pPr algn="ctr"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Mission Dispatch</a:t>
            </a:r>
          </a:p>
          <a:p>
            <a:pPr algn="ctr">
              <a:buNone/>
            </a:pPr>
            <a:r>
              <a:rPr lang="en-US" sz="1450" dirty="0">
                <a:solidFill>
                  <a:srgbClr val="7A7060"/>
                </a:solidFill>
                <a:latin typeface="Calibri"/>
              </a:rPr>
              <a:t>Assign aircraft, manage crew, handle holds and re-routing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6096000" y="3314700"/>
            <a:ext cx="2603500" cy="2667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B89A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850" dirty="0">
                <a:solidFill>
                  <a:srgbClr val="C8B89A"/>
                </a:solidFill>
                <a:latin typeface="Calibri"/>
              </a:rPr>
              <a:t>●</a:t>
            </a:r>
          </a:p>
          <a:p>
            <a:pPr algn="ctr"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Maintenance Tracker</a:t>
            </a:r>
          </a:p>
          <a:p>
            <a:pPr algn="ctr">
              <a:buNone/>
            </a:pPr>
            <a:r>
              <a:rPr lang="en-US" sz="1450" dirty="0">
                <a:solidFill>
                  <a:srgbClr val="7A7060"/>
                </a:solidFill>
                <a:latin typeface="Calibri"/>
              </a:rPr>
              <a:t>Flight hours, battery cycles, scheduled vs. unscheduled work orders</a:t>
            </a:r>
          </a:p>
        </p:txBody>
      </p:sp>
      <p:sp>
        <p:nvSpPr>
          <p:cNvPr id="23" name="S23"/>
          <p:cNvSpPr>
            <a:spLocks noGrp="1"/>
          </p:cNvSpPr>
          <p:nvPr/>
        </p:nvSpPr>
        <p:spPr>
          <a:xfrm>
            <a:off x="8890000" y="3314700"/>
            <a:ext cx="2603500" cy="2667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B89A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850" dirty="0">
                <a:solidFill>
                  <a:srgbClr val="C8B89A"/>
                </a:solidFill>
                <a:latin typeface="Calibri"/>
              </a:rPr>
              <a:t>●</a:t>
            </a:r>
          </a:p>
          <a:p>
            <a:pPr algn="ctr"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Compliance Log</a:t>
            </a:r>
          </a:p>
          <a:p>
            <a:pPr algn="ctr">
              <a:buNone/>
            </a:pPr>
            <a:r>
              <a:rPr lang="en-US" sz="1450" dirty="0">
                <a:solidFill>
                  <a:srgbClr val="7A7060"/>
                </a:solidFill>
                <a:latin typeface="Calibri"/>
              </a:rPr>
              <a:t>FAA Part 135/107, LAANC, audit trail</a:t>
            </a:r>
          </a:p>
        </p:txBody>
      </p:sp>
      <p:sp>
        <p:nvSpPr>
          <p:cNvPr id="40" name="S4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41" name="S4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42" name="S4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173470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7315200" cy="6731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5050" b="1" dirty="0">
                <a:solidFill>
                  <a:srgbClr val="1A1A1A"/>
                </a:solidFill>
                <a:latin typeface="Trebuchet MS"/>
              </a:rPr>
              <a:t>Why now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2438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762000" y="1460500"/>
            <a:ext cx="10744200" cy="4445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850" dirty="0">
                <a:solidFill>
                  <a:srgbClr val="7A7060"/>
                </a:solidFill>
                <a:latin typeface="Calibri"/>
              </a:rPr>
              <a:t>The window to build this right is before commercial operations begin — not during.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095500" y="2921000"/>
            <a:ext cx="8001000" cy="254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50" name="S50"/>
          <p:cNvSpPr>
            <a:spLocks noGrp="1"/>
          </p:cNvSpPr>
          <p:nvPr/>
        </p:nvSpPr>
        <p:spPr>
          <a:xfrm>
            <a:off x="762000" y="4470400"/>
            <a:ext cx="10668000" cy="1397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850" b="1" dirty="0">
                <a:solidFill>
                  <a:srgbClr val="F0EDE6"/>
                </a:solidFill>
                <a:latin typeface="Calibri"/>
              </a:rPr>
              <a:t>$9.45B eVTOL fleet software market by 2033 · 34.9% CAGR · $25B Samsara market cap (trucking equivalent)</a:t>
            </a:r>
          </a:p>
        </p:txBody>
      </p:sp>
      <p:sp>
        <p:nvSpPr>
          <p:cNvPr id="60" name="S6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61" name="S6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62" name="S6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05 / 09</a:t>
            </a:r>
          </a:p>
        </p:txBody>
      </p:sp>
      <p:sp>
        <p:nvSpPr>
          <p:cNvPr id="20" name="Dot20"/>
          <p:cNvSpPr>
            <a:spLocks noGrp="1"/>
          </p:cNvSpPr>
          <p:nvPr/>
        </p:nvSpPr>
        <p:spPr>
          <a:xfrm>
            <a:off x="1981200" y="2819400"/>
            <a:ext cx="228600" cy="228600"/>
          </a:xfrm>
          <a:prstGeom prst="ellipse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S30"/>
          <p:cNvSpPr>
            <a:spLocks noGrp="1"/>
          </p:cNvSpPr>
          <p:nvPr/>
        </p:nvSpPr>
        <p:spPr>
          <a:xfrm>
            <a:off x="889000" y="22225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libri"/>
              </a:rPr>
              <a:t>NOW – 2025</a:t>
            </a:r>
          </a:p>
        </p:txBody>
      </p:sp>
      <p:sp>
        <p:nvSpPr>
          <p:cNvPr id="40" name="S40"/>
          <p:cNvSpPr>
            <a:spLocks noGrp="1"/>
          </p:cNvSpPr>
          <p:nvPr/>
        </p:nvSpPr>
        <p:spPr>
          <a:xfrm>
            <a:off x="889000" y="3111500"/>
            <a:ext cx="2413000" cy="1143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Flight testing, certification. Fleets small — decisions made now.</a:t>
            </a:r>
          </a:p>
        </p:txBody>
      </p:sp>
      <p:sp>
        <p:nvSpPr>
          <p:cNvPr id="21" name="Dot21"/>
          <p:cNvSpPr>
            <a:spLocks noGrp="1"/>
          </p:cNvSpPr>
          <p:nvPr/>
        </p:nvSpPr>
        <p:spPr>
          <a:xfrm>
            <a:off x="4648200" y="2819400"/>
            <a:ext cx="228600" cy="228600"/>
          </a:xfrm>
          <a:prstGeom prst="ellipse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S31"/>
          <p:cNvSpPr>
            <a:spLocks noGrp="1"/>
          </p:cNvSpPr>
          <p:nvPr/>
        </p:nvSpPr>
        <p:spPr>
          <a:xfrm>
            <a:off x="3556000" y="22225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libri"/>
              </a:rPr>
              <a:t>2025 – 2027</a:t>
            </a:r>
          </a:p>
        </p:txBody>
      </p:sp>
      <p:sp>
        <p:nvSpPr>
          <p:cNvPr id="41" name="S41"/>
          <p:cNvSpPr>
            <a:spLocks noGrp="1"/>
          </p:cNvSpPr>
          <p:nvPr/>
        </p:nvSpPr>
        <p:spPr>
          <a:xfrm>
            <a:off x="3556000" y="3111500"/>
            <a:ext cx="2413000" cy="1143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First commercial eVTOL routes (LA, NYC, Dubai). 10–30 aircraft per operator.</a:t>
            </a:r>
          </a:p>
        </p:txBody>
      </p:sp>
      <p:sp>
        <p:nvSpPr>
          <p:cNvPr id="22" name="Dot22"/>
          <p:cNvSpPr>
            <a:spLocks noGrp="1"/>
          </p:cNvSpPr>
          <p:nvPr/>
        </p:nvSpPr>
        <p:spPr>
          <a:xfrm>
            <a:off x="7315200" y="2819400"/>
            <a:ext cx="228600" cy="228600"/>
          </a:xfrm>
          <a:prstGeom prst="ellipse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S32"/>
          <p:cNvSpPr>
            <a:spLocks noGrp="1"/>
          </p:cNvSpPr>
          <p:nvPr/>
        </p:nvSpPr>
        <p:spPr>
          <a:xfrm>
            <a:off x="6223000" y="22225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libri"/>
              </a:rPr>
              <a:t>2028 – 2030</a:t>
            </a:r>
          </a:p>
        </p:txBody>
      </p:sp>
      <p:sp>
        <p:nvSpPr>
          <p:cNvPr id="42" name="S42"/>
          <p:cNvSpPr>
            <a:spLocks noGrp="1"/>
          </p:cNvSpPr>
          <p:nvPr/>
        </p:nvSpPr>
        <p:spPr>
          <a:xfrm>
            <a:off x="6223000" y="3111500"/>
            <a:ext cx="2413000" cy="1143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Fleet scaling. 100+ aircraft per operator. Ops infrastructure becomes competitive advantage.</a:t>
            </a:r>
          </a:p>
        </p:txBody>
      </p:sp>
      <p:sp>
        <p:nvSpPr>
          <p:cNvPr id="23" name="Dot23"/>
          <p:cNvSpPr>
            <a:spLocks noGrp="1"/>
          </p:cNvSpPr>
          <p:nvPr/>
        </p:nvSpPr>
        <p:spPr>
          <a:xfrm>
            <a:off x="9982200" y="2819400"/>
            <a:ext cx="228600" cy="228600"/>
          </a:xfrm>
          <a:prstGeom prst="ellipse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S33"/>
          <p:cNvSpPr>
            <a:spLocks noGrp="1"/>
          </p:cNvSpPr>
          <p:nvPr/>
        </p:nvSpPr>
        <p:spPr>
          <a:xfrm>
            <a:off x="8890000" y="2222500"/>
            <a:ext cx="2413000" cy="3048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450" b="1" dirty="0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43" name="S43"/>
          <p:cNvSpPr>
            <a:spLocks noGrp="1"/>
          </p:cNvSpPr>
          <p:nvPr/>
        </p:nvSpPr>
        <p:spPr>
          <a:xfrm>
            <a:off x="8890000" y="3111500"/>
            <a:ext cx="2413000" cy="1143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Drone fleets (20–200 aircraft) face this same problem now. Bridge market.</a:t>
            </a:r>
          </a:p>
        </p:txBody>
      </p:sp>
    </p:spTree>
    <p:extLst>
      <p:ext uri="{BB962C8B-B14F-4D97-AF65-F5344CB8AC3E}">
        <p14:creationId xmlns:p14="http://schemas.microsoft.com/office/powerpoint/2010/main" val="3859461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lIns="91440" tIns="109728" rIns="91440" bIns="54864"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7315200" cy="673100"/>
          </a:xfrm>
          <a:prstGeom prst="rect">
            <a:avLst/>
          </a:prstGeom>
          <a:noFill/>
          <a:ln>
            <a:noFill/>
          </a:ln>
        </p:spPr>
        <p:txBody>
          <a:bodyPr lIns="91440" tIns="109728" rIns="91440" bIns="54864" anchor="t"/>
          <a:lstStyle/>
          <a:p>
            <a:pPr>
              <a:buNone/>
            </a:pPr>
            <a:r>
              <a:rPr lang="en-US" sz="5050" b="1" dirty="0">
                <a:solidFill>
                  <a:srgbClr val="1A1A1A"/>
                </a:solidFill>
                <a:latin typeface="Trebuchet MS"/>
              </a:rPr>
              <a:t>Market opportunity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2438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lIns="91440" tIns="109728" rIns="91440" bIns="54864" anchor="t"/>
          <a:lstStyle/>
          <a:p>
            <a:endParaRPr/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762000" y="1524000"/>
            <a:ext cx="4953000" cy="203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4CC"/>
            </a:solidFill>
          </a:ln>
        </p:spPr>
        <p:txBody>
          <a:bodyPr lIns="91440" tIns="109728" rIns="91440" bIns="54864" anchor="t"/>
          <a:lstStyle/>
          <a:p>
            <a:pPr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TODAY — DRONE BRIDGE MARKET</a:t>
            </a:r>
          </a:p>
          <a:p>
            <a:pPr>
              <a:buNone/>
            </a:pPr>
            <a:r>
              <a:rPr lang="en-US" sz="6400" b="1" dirty="0">
                <a:solidFill>
                  <a:srgbClr val="1A1A1A"/>
                </a:solidFill>
                <a:latin typeface="Trebuchet MS"/>
              </a:rPr>
              <a:t>$25B</a:t>
            </a:r>
          </a:p>
          <a:p>
            <a:pPr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Samsara’s market cap — trucking equivalent already exists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762000" y="3810000"/>
            <a:ext cx="4953000" cy="2032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lIns="91440" tIns="109728" rIns="91440" bIns="54864" anchor="t"/>
          <a:lstStyle/>
          <a:p>
            <a:pPr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TOMORROW — eVTOL MARKET</a:t>
            </a:r>
          </a:p>
          <a:p>
            <a:pPr>
              <a:buNone/>
            </a:pPr>
            <a:r>
              <a:rPr lang="en-US" sz="6400" b="1" dirty="0">
                <a:solidFill>
                  <a:srgbClr val="C8B89A"/>
                </a:solidFill>
                <a:latin typeface="Trebuchet MS"/>
              </a:rPr>
              <a:t>$9.45B</a:t>
            </a:r>
          </a:p>
          <a:p>
            <a:pPr>
              <a:buNone/>
            </a:pPr>
            <a:r>
              <a:rPr lang="en-US" sz="1600" dirty="0">
                <a:solidFill>
                  <a:srgbClr val="8A8070"/>
                </a:solidFill>
                <a:latin typeface="Calibri"/>
              </a:rPr>
              <a:t>eVTOL fleet management software market by 2033 (34.9% CAGR)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6223000" y="1524000"/>
            <a:ext cx="5461000" cy="4445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lIns="91440" tIns="109728" rIns="91440" bIns="54864" anchor="ctr"/>
          <a:lstStyle/>
          <a:p>
            <a:pPr algn="ctr">
              <a:buNone/>
            </a:pPr>
            <a:r>
              <a:rPr lang="en-US" sz="1600" dirty="0">
                <a:solidFill>
                  <a:srgbClr val="8A8070"/>
                </a:solidFill>
                <a:latin typeface="Calibri"/>
              </a:rPr>
              <a:t>43% of total eVTOL market in 2024 is software — the highest-growth segment. The competitive landscape (FlytBase, AlarisPro, AirData UAV, Aloft) is fragmented and none are architected for commercial eVTOL scale.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lIns="91440" tIns="109728" rIns="91440" bIns="54864" anchor="t"/>
          <a:lstStyle/>
          <a:p>
            <a:endParaRPr/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lIns="91440" tIns="109728" rIns="91440" bIns="54864" anchor="t"/>
          <a:lstStyle/>
          <a:p>
            <a:pPr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lIns="91440" tIns="109728" rIns="91440" bIns="54864" anchor="t"/>
          <a:lstStyle/>
          <a:p>
            <a:pPr algn="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2743818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4876800" cy="6731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5050" b="1" dirty="0">
                <a:solidFill>
                  <a:srgbClr val="1A1A1A"/>
                </a:solidFill>
                <a:latin typeface="Trebuchet MS"/>
              </a:rPr>
              <a:t>Technical approach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24384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762000" y="1524000"/>
            <a:ext cx="38100" cy="12192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0" name="S30"/>
          <p:cNvSpPr>
            <a:spLocks noGrp="1"/>
          </p:cNvSpPr>
          <p:nvPr/>
        </p:nvSpPr>
        <p:spPr>
          <a:xfrm>
            <a:off x="990600" y="1524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Frontend</a:t>
            </a:r>
          </a:p>
        </p:txBody>
      </p:sp>
      <p:sp>
        <p:nvSpPr>
          <p:cNvPr id="40" name="S40"/>
          <p:cNvSpPr>
            <a:spLocks noGrp="1"/>
          </p:cNvSpPr>
          <p:nvPr/>
        </p:nvSpPr>
        <p:spPr>
          <a:xfrm>
            <a:off x="990600" y="19685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React + Mapbox — real-time fleet map and operator dashboard</a:t>
            </a:r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762000" y="3149600"/>
            <a:ext cx="38100" cy="12192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1" name="S31"/>
          <p:cNvSpPr>
            <a:spLocks noGrp="1"/>
          </p:cNvSpPr>
          <p:nvPr/>
        </p:nvSpPr>
        <p:spPr>
          <a:xfrm>
            <a:off x="990600" y="31496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Backend &amp; Telemetry</a:t>
            </a:r>
          </a:p>
        </p:txBody>
      </p:sp>
      <p:sp>
        <p:nvSpPr>
          <p:cNvPr id="41" name="S41"/>
          <p:cNvSpPr>
            <a:spLocks noGrp="1"/>
          </p:cNvSpPr>
          <p:nvPr/>
        </p:nvSpPr>
        <p:spPr>
          <a:xfrm>
            <a:off x="990600" y="35941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Node.js/Express API · Apache Kafka · Redis live state · PostgreSQL + TimescaleDB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762000" y="4762500"/>
            <a:ext cx="38100" cy="12192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2" name="S32"/>
          <p:cNvSpPr>
            <a:spLocks noGrp="1"/>
          </p:cNvSpPr>
          <p:nvPr/>
        </p:nvSpPr>
        <p:spPr>
          <a:xfrm>
            <a:off x="990600" y="47625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850" b="1" dirty="0">
                <a:solidFill>
                  <a:srgbClr val="1A1A1A"/>
                </a:solidFill>
                <a:latin typeface="Calibri"/>
              </a:rPr>
              <a:t>Integrations</a:t>
            </a:r>
          </a:p>
        </p:txBody>
      </p:sp>
      <p:sp>
        <p:nvSpPr>
          <p:cNvPr id="42" name="S42"/>
          <p:cNvSpPr>
            <a:spLocks noGrp="1"/>
          </p:cNvSpPr>
          <p:nvPr/>
        </p:nvSpPr>
        <p:spPr>
          <a:xfrm>
            <a:off x="990600" y="5207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MAVLink (drones) · ADS-B + OEM APIs (eVTOL) · AWS · SOC2 compliant architecture</a:t>
            </a:r>
          </a:p>
        </p:txBody>
      </p:sp>
      <p:sp>
        <p:nvSpPr>
          <p:cNvPr id="50" name="S50"/>
          <p:cNvSpPr>
            <a:spLocks noGrp="1"/>
          </p:cNvSpPr>
          <p:nvPr/>
        </p:nvSpPr>
        <p:spPr>
          <a:xfrm>
            <a:off x="6223000" y="1460500"/>
            <a:ext cx="5461000" cy="4508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BUSINESS MODEL HYPOTHESIS</a:t>
            </a:r>
          </a:p>
          <a:p>
            <a:pPr algn="ctr">
              <a:buNone/>
            </a:pPr>
            <a:r>
              <a:rPr lang="en-US" sz="3750" b="1" dirty="0">
                <a:solidFill>
                  <a:srgbClr val="C8B89A"/>
                </a:solidFill>
                <a:latin typeface="Trebuchet MS"/>
              </a:rPr>
              <a:t>$200–500</a:t>
            </a:r>
          </a:p>
          <a:p>
            <a:pPr algn="ctr">
              <a:buNone/>
            </a:pPr>
            <a:r>
              <a:rPr lang="en-US" sz="1600" dirty="0">
                <a:solidFill>
                  <a:srgbClr val="7A7060"/>
                </a:solidFill>
                <a:latin typeface="Calibri"/>
              </a:rPr>
              <a:t>per aircraft / month</a:t>
            </a:r>
          </a:p>
          <a:p>
            <a:pPr algn="ctr"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SaaS subscription. Samsara charges $300–600/vehicle/year for trucking. Aviation compliance value justifies a premium.</a:t>
            </a:r>
          </a:p>
        </p:txBody>
      </p:sp>
      <p:sp>
        <p:nvSpPr>
          <p:cNvPr id="60" name="S6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D8D4CC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61" name="S6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62" name="S6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7A7060"/>
                </a:solidFill>
                <a:latin typeface="Calibri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84364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lIns="137160" tIns="137160" rIns="137160" bIns="91440"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10744200" cy="673100"/>
          </a:xfrm>
          <a:prstGeom prst="rect">
            <a:avLst/>
          </a:prstGeom>
          <a:noFill/>
          <a:ln>
            <a:noFill/>
          </a:ln>
        </p:spPr>
        <p:txBody>
          <a:bodyPr lIns="137160" tIns="137160" rIns="137160" bIns="91440" anchor="t"/>
          <a:lstStyle/>
          <a:p>
            <a:pPr>
              <a:buNone/>
            </a:pPr>
            <a:r>
              <a:rPr lang="en-US" sz="5050" b="1" dirty="0">
                <a:solidFill>
                  <a:srgbClr val="F0EDE6"/>
                </a:solidFill>
                <a:latin typeface="Trebuchet MS"/>
              </a:rPr>
              <a:t>Why we’re reaching out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30480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lIns="137160" tIns="137160" rIns="137160" bIns="91440" anchor="t"/>
          <a:lstStyle/>
          <a:p>
            <a:endParaRPr/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762000" y="1460500"/>
            <a:ext cx="10744200" cy="444500"/>
          </a:xfrm>
          <a:prstGeom prst="rect">
            <a:avLst/>
          </a:prstGeom>
          <a:noFill/>
          <a:ln>
            <a:noFill/>
          </a:ln>
        </p:spPr>
        <p:txBody>
          <a:bodyPr lIns="137160" tIns="137160" rIns="137160" bIns="91440" anchor="t"/>
          <a:lstStyle/>
          <a:p>
            <a:pPr>
              <a:buNone/>
            </a:pPr>
            <a:r>
              <a:rPr lang="en-US" sz="1850" dirty="0">
                <a:solidFill>
                  <a:srgbClr val="8A8070"/>
                </a:solidFill>
                <a:latin typeface="Calibri"/>
              </a:rPr>
              <a:t>Three questions — and an open door if any of this resonates.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762000" y="2095500"/>
            <a:ext cx="3403600" cy="355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lIns="137160" tIns="137160" rIns="137160" bIns="91440" anchor="t"/>
          <a:lstStyle/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01</a:t>
            </a:r>
          </a:p>
          <a:p>
            <a:pPr>
              <a:buNone/>
            </a:pPr>
            <a:r>
              <a:rPr lang="en-US" sz="150" dirty="0">
                <a:noFill/>
              </a:rPr>
              <a:t> </a:t>
            </a:r>
          </a:p>
          <a:p>
            <a:pPr>
              <a:buNone/>
            </a:pPr>
            <a:r>
              <a:rPr lang="en-US" sz="1850" b="1" dirty="0">
                <a:solidFill>
                  <a:srgbClr val="F0EDE6"/>
                </a:solidFill>
                <a:latin typeface="Calibri"/>
              </a:rPr>
              <a:t>Does Archer have — or plan to build — purpose-built fleet operations software?</a:t>
            </a:r>
          </a:p>
          <a:p>
            <a:pPr>
              <a:buNone/>
            </a:pPr>
            <a:r>
              <a:rPr lang="en-US" sz="150" dirty="0">
                <a:noFill/>
              </a:rPr>
              <a:t> </a:t>
            </a:r>
          </a:p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Is this being solved internally, sourced externally, or hasn’t been prioritized yet?</a:t>
            </a:r>
          </a:p>
        </p:txBody>
      </p:sp>
      <p:sp>
        <p:nvSpPr>
          <p:cNvPr id="50" name="Strip50"/>
          <p:cNvSpPr>
            <a:spLocks noGrp="1"/>
          </p:cNvSpPr>
          <p:nvPr/>
        </p:nvSpPr>
        <p:spPr>
          <a:xfrm>
            <a:off x="762000" y="2095500"/>
            <a:ext cx="3403600" cy="508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4394200" y="2095500"/>
            <a:ext cx="3403600" cy="355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lIns="137160" tIns="137160" rIns="137160" bIns="91440" anchor="t"/>
          <a:lstStyle/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02</a:t>
            </a:r>
          </a:p>
          <a:p>
            <a:pPr>
              <a:buNone/>
            </a:pPr>
            <a:r>
              <a:rPr lang="en-US" sz="150" dirty="0">
                <a:noFill/>
              </a:rPr>
              <a:t> </a:t>
            </a:r>
          </a:p>
          <a:p>
            <a:pPr>
              <a:buNone/>
            </a:pPr>
            <a:r>
              <a:rPr lang="en-US" sz="1850" b="1" dirty="0">
                <a:solidFill>
                  <a:srgbClr val="F0EDE6"/>
                </a:solidFill>
                <a:latin typeface="Calibri"/>
              </a:rPr>
              <a:t>Is there appetite to work with an outside team on specific components — or to pilot a third-party platform?</a:t>
            </a:r>
          </a:p>
          <a:p>
            <a:pPr>
              <a:buNone/>
            </a:pPr>
            <a:r>
              <a:rPr lang="en-US" sz="150" dirty="0">
                <a:noFill/>
              </a:rPr>
              <a:t> </a:t>
            </a:r>
          </a:p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Focus engineering resources on the aircraft and partner for ops software?</a:t>
            </a:r>
          </a:p>
        </p:txBody>
      </p:sp>
      <p:sp>
        <p:nvSpPr>
          <p:cNvPr id="51" name="Strip51"/>
          <p:cNvSpPr>
            <a:spLocks noGrp="1"/>
          </p:cNvSpPr>
          <p:nvPr/>
        </p:nvSpPr>
        <p:spPr>
          <a:xfrm>
            <a:off x="4394200" y="2095500"/>
            <a:ext cx="3403600" cy="508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8026400" y="2095500"/>
            <a:ext cx="3403600" cy="355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lIns="137160" tIns="137160" rIns="137160" bIns="91440" anchor="t"/>
          <a:lstStyle/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03</a:t>
            </a:r>
          </a:p>
          <a:p>
            <a:pPr>
              <a:buNone/>
            </a:pPr>
            <a:r>
              <a:rPr lang="en-US" sz="150" dirty="0">
                <a:noFill/>
              </a:rPr>
              <a:t> </a:t>
            </a:r>
          </a:p>
          <a:p>
            <a:pPr>
              <a:buNone/>
            </a:pPr>
            <a:r>
              <a:rPr lang="en-US" sz="1850" b="1" dirty="0">
                <a:solidFill>
                  <a:srgbClr val="F0EDE6"/>
                </a:solidFill>
                <a:latin typeface="Calibri"/>
              </a:rPr>
              <a:t>Who at Archer would be the right person to continue this conversation?</a:t>
            </a:r>
          </a:p>
          <a:p>
            <a:pPr>
              <a:buNone/>
            </a:pPr>
            <a:r>
              <a:rPr lang="en-US" sz="150" dirty="0">
                <a:noFill/>
              </a:rPr>
              <a:t> </a:t>
            </a:r>
          </a:p>
          <a:p>
            <a:pPr>
              <a:buNone/>
            </a:pPr>
            <a:r>
              <a:rPr lang="en-US" sz="1450" dirty="0">
                <a:solidFill>
                  <a:srgbClr val="8A8070"/>
                </a:solidFill>
                <a:latin typeface="Calibri"/>
              </a:rPr>
              <a:t>Whoever owns the fleet ops or digital technology roadmap. Even 20 minutes would help us build the right thing.</a:t>
            </a:r>
          </a:p>
        </p:txBody>
      </p:sp>
      <p:sp>
        <p:nvSpPr>
          <p:cNvPr id="52" name="Strip52"/>
          <p:cNvSpPr>
            <a:spLocks noGrp="1"/>
          </p:cNvSpPr>
          <p:nvPr/>
        </p:nvSpPr>
        <p:spPr>
          <a:xfrm>
            <a:off x="8026400" y="2095500"/>
            <a:ext cx="3403600" cy="508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S6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txBody>
          <a:bodyPr lIns="137160" tIns="137160" rIns="137160" bIns="91440" anchor="t"/>
          <a:lstStyle/>
          <a:p>
            <a:endParaRPr/>
          </a:p>
        </p:txBody>
      </p:sp>
      <p:sp>
        <p:nvSpPr>
          <p:cNvPr id="61" name="S6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lIns="137160" tIns="137160" rIns="137160" bIns="91440" anchor="t"/>
          <a:lstStyle/>
          <a:p>
            <a:pPr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62" name="S6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lIns="137160" tIns="137160" rIns="137160" bIns="91440" anchor="t"/>
          <a:lstStyle/>
          <a:p>
            <a:pPr algn="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4085605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10"/>
          <p:cNvSpPr>
            <a:spLocks noGrp="1"/>
          </p:cNvSpPr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762000" y="457200"/>
            <a:ext cx="10744200" cy="6731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5050" b="1" dirty="0">
                <a:solidFill>
                  <a:srgbClr val="F0EDE6"/>
                </a:solidFill>
                <a:latin typeface="Trebuchet MS"/>
              </a:rPr>
              <a:t>Just a conversation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62000" y="1231900"/>
            <a:ext cx="3048000" cy="127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60" name="S60"/>
          <p:cNvSpPr>
            <a:spLocks noGrp="1"/>
          </p:cNvSpPr>
          <p:nvPr/>
        </p:nvSpPr>
        <p:spPr>
          <a:xfrm>
            <a:off x="0" y="6273800"/>
            <a:ext cx="12192000" cy="1270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61" name="S61"/>
          <p:cNvSpPr>
            <a:spLocks noGrp="1"/>
          </p:cNvSpPr>
          <p:nvPr/>
        </p:nvSpPr>
        <p:spPr>
          <a:xfrm>
            <a:off x="101600" y="6337300"/>
            <a:ext cx="60960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eVTOL Research Brief · UIUC 2026</a:t>
            </a:r>
          </a:p>
        </p:txBody>
      </p:sp>
      <p:sp>
        <p:nvSpPr>
          <p:cNvPr id="62" name="S62"/>
          <p:cNvSpPr>
            <a:spLocks noGrp="1"/>
          </p:cNvSpPr>
          <p:nvPr/>
        </p:nvSpPr>
        <p:spPr>
          <a:xfrm>
            <a:off x="10972800" y="6337300"/>
            <a:ext cx="1117600" cy="2794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r">
              <a:buNone/>
            </a:pPr>
            <a:r>
              <a:rPr lang="en-US" sz="1350" dirty="0">
                <a:solidFill>
                  <a:srgbClr val="8A8070"/>
                </a:solidFill>
                <a:latin typeface="Calibri"/>
              </a:rPr>
              <a:t>09 / 09</a:t>
            </a:r>
          </a:p>
        </p:txBody>
      </p:sp>
      <p:sp>
        <p:nvSpPr>
          <p:cNvPr id="20" name="A20"/>
          <p:cNvSpPr>
            <a:spLocks noGrp="1"/>
          </p:cNvSpPr>
          <p:nvPr/>
        </p:nvSpPr>
        <p:spPr>
          <a:xfrm>
            <a:off x="1206500" y="1524000"/>
            <a:ext cx="38100" cy="9652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0" name="A30"/>
          <p:cNvSpPr>
            <a:spLocks noGrp="1"/>
          </p:cNvSpPr>
          <p:nvPr/>
        </p:nvSpPr>
        <p:spPr>
          <a:xfrm>
            <a:off x="1498600" y="1524000"/>
            <a:ext cx="100076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2150" b="1" dirty="0">
                <a:solidFill>
                  <a:srgbClr val="F0EDE6"/>
                </a:solidFill>
                <a:latin typeface="Calibri"/>
              </a:rPr>
              <a:t>We’re not asking for funding, partnership commitments, or anything commercial.</a:t>
            </a:r>
          </a:p>
        </p:txBody>
      </p:sp>
      <p:sp>
        <p:nvSpPr>
          <p:cNvPr id="40" name="A40"/>
          <p:cNvSpPr>
            <a:spLocks noGrp="1"/>
          </p:cNvSpPr>
          <p:nvPr/>
        </p:nvSpPr>
        <p:spPr>
          <a:xfrm>
            <a:off x="1498600" y="1955800"/>
            <a:ext cx="10007600" cy="3175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600" dirty="0">
                <a:solidFill>
                  <a:srgbClr val="8A8070"/>
                </a:solidFill>
                <a:latin typeface="Calibri"/>
              </a:rPr>
              <a:t>Just a conversation with the right person at Archer — whoever owns the fleet ops or digital technology roadmap.</a:t>
            </a:r>
          </a:p>
        </p:txBody>
      </p:sp>
      <p:sp>
        <p:nvSpPr>
          <p:cNvPr id="21" name="A21"/>
          <p:cNvSpPr>
            <a:spLocks noGrp="1"/>
          </p:cNvSpPr>
          <p:nvPr/>
        </p:nvSpPr>
        <p:spPr>
          <a:xfrm>
            <a:off x="1206500" y="2921000"/>
            <a:ext cx="38100" cy="9652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1" name="A31"/>
          <p:cNvSpPr>
            <a:spLocks noGrp="1"/>
          </p:cNvSpPr>
          <p:nvPr/>
        </p:nvSpPr>
        <p:spPr>
          <a:xfrm>
            <a:off x="1498600" y="2921000"/>
            <a:ext cx="100076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2150" b="1" dirty="0">
                <a:solidFill>
                  <a:srgbClr val="F0EDE6"/>
                </a:solidFill>
                <a:latin typeface="Calibri"/>
              </a:rPr>
              <a:t>We’re at research and early-build stage.</a:t>
            </a:r>
          </a:p>
        </p:txBody>
      </p:sp>
      <p:sp>
        <p:nvSpPr>
          <p:cNvPr id="41" name="A41"/>
          <p:cNvSpPr>
            <a:spLocks noGrp="1"/>
          </p:cNvSpPr>
          <p:nvPr/>
        </p:nvSpPr>
        <p:spPr>
          <a:xfrm>
            <a:off x="1498600" y="3352800"/>
            <a:ext cx="10007600" cy="3175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600" dirty="0">
                <a:solidFill>
                  <a:srgbClr val="8A8070"/>
                </a:solidFill>
                <a:latin typeface="Calibri"/>
              </a:rPr>
              <a:t>Getting in front of the right people before everyone is flying at scale is the only way to build something actually useful.</a:t>
            </a:r>
          </a:p>
        </p:txBody>
      </p:sp>
      <p:sp>
        <p:nvSpPr>
          <p:cNvPr id="22" name="A22"/>
          <p:cNvSpPr>
            <a:spLocks noGrp="1"/>
          </p:cNvSpPr>
          <p:nvPr/>
        </p:nvSpPr>
        <p:spPr>
          <a:xfrm>
            <a:off x="1206500" y="4318000"/>
            <a:ext cx="38100" cy="965200"/>
          </a:xfrm>
          <a:prstGeom prst="rect">
            <a:avLst/>
          </a:prstGeom>
          <a:solidFill>
            <a:srgbClr val="C8B89A"/>
          </a:solidFill>
          <a:ln>
            <a:noFill/>
          </a:ln>
        </p:spPr>
        <p:txBody>
          <a:bodyPr anchor="t"/>
          <a:lstStyle/>
          <a:p>
            <a:endParaRPr/>
          </a:p>
        </p:txBody>
      </p:sp>
      <p:sp>
        <p:nvSpPr>
          <p:cNvPr id="32" name="A32"/>
          <p:cNvSpPr>
            <a:spLocks noGrp="1"/>
          </p:cNvSpPr>
          <p:nvPr/>
        </p:nvSpPr>
        <p:spPr>
          <a:xfrm>
            <a:off x="1498600" y="4318000"/>
            <a:ext cx="10007600" cy="38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2150" b="1" dirty="0">
                <a:solidFill>
                  <a:srgbClr val="F0EDE6"/>
                </a:solidFill>
                <a:latin typeface="Calibri"/>
              </a:rPr>
              <a:t>Why Archer specifically.</a:t>
            </a:r>
          </a:p>
        </p:txBody>
      </p:sp>
      <p:sp>
        <p:nvSpPr>
          <p:cNvPr id="42" name="A42"/>
          <p:cNvSpPr>
            <a:spLocks noGrp="1"/>
          </p:cNvSpPr>
          <p:nvPr/>
        </p:nvSpPr>
        <p:spPr>
          <a:xfrm>
            <a:off x="1498600" y="4749800"/>
            <a:ext cx="10007600" cy="3175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>
              <a:buNone/>
            </a:pPr>
            <a:r>
              <a:rPr lang="en-US" sz="1600" dirty="0">
                <a:solidFill>
                  <a:srgbClr val="8A8070"/>
                </a:solidFill>
                <a:latin typeface="Calibri"/>
              </a:rPr>
              <a:t>You’re furthest along on the path to commercial operations. The software infrastructure decisions being made at Archer right now will shape how the whole industry approaches this.</a:t>
            </a:r>
          </a:p>
        </p:txBody>
      </p:sp>
      <p:sp>
        <p:nvSpPr>
          <p:cNvPr id="50" name="A50"/>
          <p:cNvSpPr>
            <a:spLocks noGrp="1"/>
          </p:cNvSpPr>
          <p:nvPr/>
        </p:nvSpPr>
        <p:spPr>
          <a:xfrm>
            <a:off x="762000" y="5486400"/>
            <a:ext cx="10668000" cy="609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>
              <a:buNone/>
            </a:pPr>
            <a:r>
              <a:rPr lang="en-US" sz="1600" dirty="0">
                <a:solidFill>
                  <a:srgbClr val="F0EDE6"/>
                </a:solidFill>
                <a:latin typeface="Calibri"/>
              </a:rPr>
              <a:t>Aarav Verma · Aerospace Engineering, UIUC · [email] · [phone]</a:t>
            </a:r>
          </a:p>
        </p:txBody>
      </p:sp>
    </p:spTree>
    <p:extLst>
      <p:ext uri="{BB962C8B-B14F-4D97-AF65-F5344CB8AC3E}">
        <p14:creationId xmlns:p14="http://schemas.microsoft.com/office/powerpoint/2010/main" val="524553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 [1776098439909]">
  <a:themeElements>
    <a:clrScheme name="Office">
      <a:dk1>
        <a:srgbClr val="1A1A1A"/>
      </a:dk1>
      <a:lt1>
        <a:srgbClr val="F5F2EC"/>
      </a:lt1>
      <a:dk2>
        <a:srgbClr val="141414"/>
      </a:dk2>
      <a:lt2>
        <a:srgbClr val="F0EDE6"/>
      </a:lt2>
      <a:accent1>
        <a:srgbClr val="C8B89A"/>
      </a:accent1>
      <a:accent2>
        <a:srgbClr val="1E1E1E"/>
      </a:accent2>
      <a:accent3>
        <a:srgbClr val="7A7060"/>
      </a:accent3>
      <a:accent4>
        <a:srgbClr val="8A8070"/>
      </a:accent4>
      <a:accent5>
        <a:srgbClr val="D8D4CC"/>
      </a:accent5>
      <a:accent6>
        <a:srgbClr val="2E2E2E"/>
      </a:accent6>
      <a:hlink>
        <a:srgbClr val="467886"/>
      </a:hlink>
      <a:folHlink>
        <a:srgbClr val="96607D"/>
      </a:folHlink>
    </a:clrScheme>
    <a:fontScheme name="Office">
      <a:majorFont>
        <a:latin typeface="Trebuchet MS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A7603F4-9E49-5C49-BDA7-A585D5C3EC4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769bf467-fb7a-4bb2-8c53-7358a0887bc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860</TotalTime>
  <Words>868</Words>
  <Application>Microsoft Macintosh PowerPoint</Application>
  <PresentationFormat>Widescreen</PresentationFormat>
  <Paragraphs>118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Trebuchet MS</vt:lpstr>
      <vt:lpstr>Office Theme</vt:lpstr>
      <vt:lpstr>Office Theme [1776098439909]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Verma, Aarav</dc:creator>
  <cp:lastModifiedBy>Verma, Aarav</cp:lastModifiedBy>
  <cp:revision>3</cp:revision>
  <dcterms:created xsi:type="dcterms:W3CDTF">2026-04-13T16:07:30Z</dcterms:created>
  <dcterms:modified xsi:type="dcterms:W3CDTF">2026-04-17T08:16:14Z</dcterms:modified>
</cp:coreProperties>
</file>