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72" r:id="rId3"/>
    <p:sldMasterId id="2147483684" r:id="rId4"/>
  </p:sldMasterIdLst>
  <p:sldIdLst>
    <p:sldId id="307" r:id="rId5"/>
    <p:sldId id="348" r:id="rId6"/>
    <p:sldId id="349" r:id="rId7"/>
    <p:sldId id="347" r:id="rId8"/>
    <p:sldId id="354" r:id="rId9"/>
    <p:sldId id="358" r:id="rId10"/>
    <p:sldId id="360" r:id="rId11"/>
    <p:sldId id="357" r:id="rId12"/>
    <p:sldId id="29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E0D1"/>
    <a:srgbClr val="E8DFC8"/>
    <a:srgbClr val="C6B798"/>
    <a:srgbClr val="1A1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900"/>
    <p:restoredTop sz="94668"/>
  </p:normalViewPr>
  <p:slideViewPr>
    <p:cSldViewPr snapToGrid="0">
      <p:cViewPr>
        <p:scale>
          <a:sx n="101" d="100"/>
          <a:sy n="101" d="100"/>
        </p:scale>
        <p:origin x="688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B9DDD-1052-5A70-99E0-7BA03F4BDC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98B4AA-A83A-0B9D-AEBA-ED3F7FE4E3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36475-7331-2647-2A9C-0953168C5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66401-EB16-E5D3-A32C-E014DC803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E51E5C-FB3F-477A-BFB7-108A72304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502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A91A8-5111-3456-9367-3FCD7FBF7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2ABDC-53A6-ED69-458B-3B70957E4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179114-0D7B-0B6E-0F05-DE90DE4D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5338FE-AD8B-2BD1-072C-3008C93B5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12D92-4743-F930-0CCC-F7A3CE2EC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874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6A5CC-9E93-272A-4184-30CD7C186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8EF4AE-0FA9-1269-0C54-CDE5F4FA4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F54EB-0188-CBC3-3C63-6766AD09F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39A6A7-F273-ACA1-A416-818E33480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7FAC63-A371-726C-CE6E-490E84C47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82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1D14-3F70-6B95-BA0C-B5CC9E600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80A43-9876-0AB1-89ED-25E41AA41A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7A1292-C5F3-AB67-5890-08B931556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7BB68B-667D-EBE7-7C39-C179BD5DF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4E69F8-4BE8-4400-BBA6-0DC4A9E5A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57FADD-BCD2-51F9-89A8-E5EDC8D7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5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74BE5-5310-87F2-C8EF-13E7DF557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822F0-D12F-924A-BF73-2B121810B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DDAB01-1933-2564-38CB-C920D2A04D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C5929D-46AD-D600-32C0-3E28EC98B2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55E89A-7B93-6128-D251-45464DA8C0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870D1E-56D4-E155-5226-5A12A20E2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B7CD5C-F254-B178-B565-0D0575524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6796D3-2BB3-414A-2389-B4C10E3CF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7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3648A-1E1F-F7FA-F673-32ED4396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71B77-0202-A7D2-DF1F-79B71AC7F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068E51-B73E-DBE1-C0FD-AC7029D33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AB9FC2-CFAB-8784-EB26-76950F3AE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54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D5B27D-8278-4464-7AFB-13615DA5C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9DE766-B306-5448-E82B-682273CF8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30339-F2B4-7120-EC28-7AA9D1863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075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F48DF-6D47-FF3C-7B5E-4633B1E65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9ADCF-3A22-6DBF-462F-817F0064D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9A9DC-48AD-D474-01FD-0B38A832E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A1743C-4BE7-2BDC-15DB-3724A83EB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28066E-85DC-0135-7513-8FFB5B474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A371E4-2565-B309-AE64-7A872A0F7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98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30461-03D2-050E-A5F8-F4722EF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C8854A-A0D4-1A65-659C-C8C0E60E3B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ABDC88-D030-BC37-B8A4-CA70659271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4B9955-ECD8-3E71-2C67-9DB0EF52C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BB1D6B-35E3-E816-60C9-EA5283442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E3E9B-E2D7-8BAF-DE68-89F77300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1521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003D3-7D15-20BA-DE47-AE8644FB0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CB1034-4C3C-2065-84B3-B66BF7B9F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91A21F-2BB3-B051-A72B-485AC2105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2EC22-161C-AD50-0266-5BC08489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85CBF-70ED-5F75-3ECC-CA5054CD5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137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FFFDD4-267F-0554-EBD2-9CB782BF5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9760F-BA78-3D93-C9FE-29A5C6B145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DC626-90A3-EFAD-396A-F0CEB1EA2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42F6C-6F22-0280-D7CA-114F64F6B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58CAE-B43C-CF19-B34F-33C88AA94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5034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B9DDD-1052-5A70-99E0-7BA03F4BDC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98B4AA-A83A-0B9D-AEBA-ED3F7FE4E3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36475-7331-2647-2A9C-0953168C5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66401-EB16-E5D3-A32C-E014DC803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E51E5C-FB3F-477A-BFB7-108A72304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5025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A91A8-5111-3456-9367-3FCD7FBF7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2ABDC-53A6-ED69-458B-3B70957E4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179114-0D7B-0B6E-0F05-DE90DE4D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5338FE-AD8B-2BD1-072C-3008C93B5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12D92-4743-F930-0CCC-F7A3CE2EC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8741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6A5CC-9E93-272A-4184-30CD7C186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8EF4AE-0FA9-1269-0C54-CDE5F4FA4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F54EB-0188-CBC3-3C63-6766AD09F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39A6A7-F273-ACA1-A416-818E33480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7FAC63-A371-726C-CE6E-490E84C47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823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1D14-3F70-6B95-BA0C-B5CC9E600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80A43-9876-0AB1-89ED-25E41AA41A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7A1292-C5F3-AB67-5890-08B931556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7BB68B-667D-EBE7-7C39-C179BD5DF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4E69F8-4BE8-4400-BBA6-0DC4A9E5A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57FADD-BCD2-51F9-89A8-E5EDC8D7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52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74BE5-5310-87F2-C8EF-13E7DF557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822F0-D12F-924A-BF73-2B121810B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DDAB01-1933-2564-38CB-C920D2A04D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C5929D-46AD-D600-32C0-3E28EC98B2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55E89A-7B93-6128-D251-45464DA8C0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870D1E-56D4-E155-5226-5A12A20E2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B7CD5C-F254-B178-B565-0D0575524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6796D3-2BB3-414A-2389-B4C10E3CF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71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3648A-1E1F-F7FA-F673-32ED4396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71B77-0202-A7D2-DF1F-79B71AC7F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068E51-B73E-DBE1-C0FD-AC7029D33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AB9FC2-CFAB-8784-EB26-76950F3AE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5487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D5B27D-8278-4464-7AFB-13615DA5C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9DE766-B306-5448-E82B-682273CF8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30339-F2B4-7120-EC28-7AA9D1863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0756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F48DF-6D47-FF3C-7B5E-4633B1E65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9ADCF-3A22-6DBF-462F-817F0064D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9A9DC-48AD-D474-01FD-0B38A832E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A1743C-4BE7-2BDC-15DB-3724A83EB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28066E-85DC-0135-7513-8FFB5B474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A371E4-2565-B309-AE64-7A872A0F7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988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30461-03D2-050E-A5F8-F4722EF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C8854A-A0D4-1A65-659C-C8C0E60E3B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ABDC88-D030-BC37-B8A4-CA70659271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4B9955-ECD8-3E71-2C67-9DB0EF52C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BB1D6B-35E3-E816-60C9-EA5283442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E3E9B-E2D7-8BAF-DE68-89F77300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1521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003D3-7D15-20BA-DE47-AE8644FB0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CB1034-4C3C-2065-84B3-B66BF7B9F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91A21F-2BB3-B051-A72B-485AC2105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2EC22-161C-AD50-0266-5BC08489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85CBF-70ED-5F75-3ECC-CA5054CD5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1374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FFFDD4-267F-0554-EBD2-9CB782BF5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9760F-BA78-3D93-C9FE-29A5C6B145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DC626-90A3-EFAD-396A-F0CEB1EA2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42F6C-6F22-0280-D7CA-114F64F6B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58CAE-B43C-CF19-B34F-33C88AA94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5034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B9DDD-1052-5A70-99E0-7BA03F4BDC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98B4AA-A83A-0B9D-AEBA-ED3F7FE4E3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36475-7331-2647-2A9C-0953168C5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66401-EB16-E5D3-A32C-E014DC803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E51E5C-FB3F-477A-BFB7-108A72304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5025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A91A8-5111-3456-9367-3FCD7FBF7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2ABDC-53A6-ED69-458B-3B70957E4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179114-0D7B-0B6E-0F05-DE90DE4D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5338FE-AD8B-2BD1-072C-3008C93B5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12D92-4743-F930-0CCC-F7A3CE2EC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87419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6A5CC-9E93-272A-4184-30CD7C186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8EF4AE-0FA9-1269-0C54-CDE5F4FA4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F54EB-0188-CBC3-3C63-6766AD09F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39A6A7-F273-ACA1-A416-818E33480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7FAC63-A371-726C-CE6E-490E84C47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8232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1D14-3F70-6B95-BA0C-B5CC9E600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80A43-9876-0AB1-89ED-25E41AA41A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7A1292-C5F3-AB67-5890-08B931556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7BB68B-667D-EBE7-7C39-C179BD5DF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4E69F8-4BE8-4400-BBA6-0DC4A9E5A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57FADD-BCD2-51F9-89A8-E5EDC8D7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520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74BE5-5310-87F2-C8EF-13E7DF557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822F0-D12F-924A-BF73-2B121810B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DDAB01-1933-2564-38CB-C920D2A04D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C5929D-46AD-D600-32C0-3E28EC98B2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55E89A-7B93-6128-D251-45464DA8C0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870D1E-56D4-E155-5226-5A12A20E2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B7CD5C-F254-B178-B565-0D0575524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6796D3-2BB3-414A-2389-B4C10E3CF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713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3648A-1E1F-F7FA-F673-32ED4396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71B77-0202-A7D2-DF1F-79B71AC7F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068E51-B73E-DBE1-C0FD-AC7029D33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AB9FC2-CFAB-8784-EB26-76950F3AE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548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D5B27D-8278-4464-7AFB-13615DA5C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9DE766-B306-5448-E82B-682273CF8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30339-F2B4-7120-EC28-7AA9D1863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07561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F48DF-6D47-FF3C-7B5E-4633B1E65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9ADCF-3A22-6DBF-462F-817F0064D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9A9DC-48AD-D474-01FD-0B38A832E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A1743C-4BE7-2BDC-15DB-3724A83EB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28066E-85DC-0135-7513-8FFB5B474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A371E4-2565-B309-AE64-7A872A0F7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9885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30461-03D2-050E-A5F8-F4722EF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C8854A-A0D4-1A65-659C-C8C0E60E3B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ABDC88-D030-BC37-B8A4-CA70659271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4B9955-ECD8-3E71-2C67-9DB0EF52C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BB1D6B-35E3-E816-60C9-EA5283442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E3E9B-E2D7-8BAF-DE68-89F77300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15219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003D3-7D15-20BA-DE47-AE8644FB0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CB1034-4C3C-2065-84B3-B66BF7B9F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91A21F-2BB3-B051-A72B-485AC2105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2EC22-161C-AD50-0266-5BC08489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85CBF-70ED-5F75-3ECC-CA5054CD5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13743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FFFDD4-267F-0554-EBD2-9CB782BF5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9760F-BA78-3D93-C9FE-29A5C6B145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DC626-90A3-EFAD-396A-F0CEB1EA2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42F6C-6F22-0280-D7CA-114F64F6B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58CAE-B43C-CF19-B34F-33C88AA94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5034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B9DDD-1052-5A70-99E0-7BA03F4BDC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98B4AA-A83A-0B9D-AEBA-ED3F7FE4E3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36475-7331-2647-2A9C-0953168C5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66401-EB16-E5D3-A32C-E014DC803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E51E5C-FB3F-477A-BFB7-108A72304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50251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A91A8-5111-3456-9367-3FCD7FBF7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2ABDC-53A6-ED69-458B-3B70957E4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179114-0D7B-0B6E-0F05-DE90DE4D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5338FE-AD8B-2BD1-072C-3008C93B5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12D92-4743-F930-0CCC-F7A3CE2EC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87419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6A5CC-9E93-272A-4184-30CD7C186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8EF4AE-0FA9-1269-0C54-CDE5F4FA4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F54EB-0188-CBC3-3C63-6766AD09F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39A6A7-F273-ACA1-A416-818E33480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7FAC63-A371-726C-CE6E-490E84C47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8232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1D14-3F70-6B95-BA0C-B5CC9E600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80A43-9876-0AB1-89ED-25E41AA41A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7A1292-C5F3-AB67-5890-08B931556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7BB68B-667D-EBE7-7C39-C179BD5DF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4E69F8-4BE8-4400-BBA6-0DC4A9E5A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57FADD-BCD2-51F9-89A8-E5EDC8D7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520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74BE5-5310-87F2-C8EF-13E7DF557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822F0-D12F-924A-BF73-2B121810B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DDAB01-1933-2564-38CB-C920D2A04D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C5929D-46AD-D600-32C0-3E28EC98B2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55E89A-7B93-6128-D251-45464DA8C0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870D1E-56D4-E155-5226-5A12A20E2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B7CD5C-F254-B178-B565-0D0575524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6796D3-2BB3-414A-2389-B4C10E3CF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713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3648A-1E1F-F7FA-F673-32ED4396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71B77-0202-A7D2-DF1F-79B71AC7F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068E51-B73E-DBE1-C0FD-AC7029D33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AB9FC2-CFAB-8784-EB26-76950F3AE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5487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D5B27D-8278-4464-7AFB-13615DA5C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9DE766-B306-5448-E82B-682273CF8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30339-F2B4-7120-EC28-7AA9D1863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07561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F48DF-6D47-FF3C-7B5E-4633B1E65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9ADCF-3A22-6DBF-462F-817F0064D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9A9DC-48AD-D474-01FD-0B38A832E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A1743C-4BE7-2BDC-15DB-3724A83EB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28066E-85DC-0135-7513-8FFB5B474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A371E4-2565-B309-AE64-7A872A0F7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9885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30461-03D2-050E-A5F8-F4722EF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C8854A-A0D4-1A65-659C-C8C0E60E3B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ABDC88-D030-BC37-B8A4-CA70659271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4B9955-ECD8-3E71-2C67-9DB0EF52C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BB1D6B-35E3-E816-60C9-EA5283442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E3E9B-E2D7-8BAF-DE68-89F77300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15219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003D3-7D15-20BA-DE47-AE8644FB0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CB1034-4C3C-2065-84B3-B66BF7B9F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91A21F-2BB3-B051-A72B-485AC2105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2EC22-161C-AD50-0266-5BC08489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85CBF-70ED-5F75-3ECC-CA5054CD5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13743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FFFDD4-267F-0554-EBD2-9CB782BF5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9760F-BA78-3D93-C9FE-29A5C6B145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DC626-90A3-EFAD-396A-F0CEB1EA2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42F6C-6F22-0280-D7CA-114F64F6B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58CAE-B43C-CF19-B34F-33C88AA94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503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56CBC5-029B-B2E8-A0D1-3C79D0D90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5B374-E91A-B09D-969A-79806D9DC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C6D3E-247E-276E-CA1D-FFB206C81C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56B14-093F-BB5F-E105-D28092A46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03AA0A-BD91-5AFC-C272-DA4DB052A8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940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56CBC5-029B-B2E8-A0D1-3C79D0D90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5B374-E91A-B09D-969A-79806D9DC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C6D3E-247E-276E-CA1D-FFB206C81C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56B14-093F-BB5F-E105-D28092A46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03AA0A-BD91-5AFC-C272-DA4DB052A8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940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1A1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A1A1A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56CBC5-029B-B2E8-A0D1-3C79D0D90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5B374-E91A-B09D-969A-79806D9DC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C6D3E-247E-276E-CA1D-FFB206C81C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56B14-093F-BB5F-E105-D28092A46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03AA0A-BD91-5AFC-C272-DA4DB052A8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940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56CBC5-029B-B2E8-A0D1-3C79D0D90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5B374-E91A-B09D-969A-79806D9DC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C6D3E-247E-276E-CA1D-FFB206C81C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E2F0E-3115-794A-A56E-BA3D171BBBC1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56B14-093F-BB5F-E105-D28092A46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03AA0A-BD91-5AFC-C272-DA4DB052A8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940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0F0F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999999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546461-03C0-C940-9F6A-734864DBB7FD}"/>
              </a:ext>
            </a:extLst>
          </p:cNvPr>
          <p:cNvSpPr/>
          <p:nvPr/>
        </p:nvSpPr>
        <p:spPr>
          <a:xfrm>
            <a:off x="457200" y="1828800"/>
            <a:ext cx="63500" cy="4876800"/>
          </a:xfrm>
          <a:prstGeom prst="rect">
            <a:avLst/>
          </a:prstGeom>
          <a:solidFill>
            <a:srgbClr val="C8B89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582520-D860-BA4B-AC04-AC2BD8F67928}"/>
              </a:ext>
            </a:extLst>
          </p:cNvPr>
          <p:cNvSpPr txBox="1"/>
          <p:nvPr/>
        </p:nvSpPr>
        <p:spPr>
          <a:xfrm>
            <a:off x="635000" y="355600"/>
            <a:ext cx="7315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900">
                <a:solidFill>
                  <a:srgbClr val="666666"/>
                </a:solidFill>
                <a:latin typeface="Calibri"/>
                <a:cs typeface="Calibri"/>
              </a:rPr>
              <a:t>RESEARCH INQUIRY · APRIL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0B4EEB-924C-954E-BCE7-7B25482B4FAB}"/>
              </a:ext>
            </a:extLst>
          </p:cNvPr>
          <p:cNvSpPr txBox="1"/>
          <p:nvPr/>
        </p:nvSpPr>
        <p:spPr>
          <a:xfrm>
            <a:off x="635000" y="1828800"/>
            <a:ext cx="10414000" cy="1879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F0F0F0"/>
                </a:solidFill>
                <a:latin typeface="Georgia"/>
              </a:rPr>
              <a:t>Fleet Operations Software for Autonomous Aviation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1158AD-A70E-9D4D-ABFF-46049D2C9E39}"/>
              </a:ext>
            </a:extLst>
          </p:cNvPr>
          <p:cNvSpPr txBox="1"/>
          <p:nvPr/>
        </p:nvSpPr>
        <p:spPr>
          <a:xfrm>
            <a:off x="635000" y="3810000"/>
            <a:ext cx="7874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 dirty="0">
                <a:solidFill>
                  <a:srgbClr val="C8B89A"/>
                </a:solidFill>
                <a:latin typeface="Calibri"/>
                <a:cs typeface="Calibri"/>
              </a:rPr>
              <a:t>VOLANT · B2B SaaS · Fleet Operations Platform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933A6D-E370-F24E-AF75-2164A0A058B3}"/>
              </a:ext>
            </a:extLst>
          </p:cNvPr>
          <p:cNvSpPr txBox="1"/>
          <p:nvPr/>
        </p:nvSpPr>
        <p:spPr>
          <a:xfrm>
            <a:off x="635000" y="4165600"/>
            <a:ext cx="10414000" cy="124649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500" dirty="0">
                <a:solidFill>
                  <a:srgbClr val="999999"/>
                </a:solidFill>
                <a:latin typeface="Calibri"/>
                <a:cs typeface="Calibri"/>
              </a:rPr>
              <a:t>We're researching whether the software infrastructure for managing eVTOL and drone fleets at scale exists today, and how leading companies like Archer are approaching this problem.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DE04A7-176D-C24C-9135-BA4E2E174E7C}"/>
              </a:ext>
            </a:extLst>
          </p:cNvPr>
          <p:cNvSpPr/>
          <p:nvPr/>
        </p:nvSpPr>
        <p:spPr>
          <a:xfrm>
            <a:off x="635000" y="5638800"/>
            <a:ext cx="10922000" cy="12700"/>
          </a:xfrm>
          <a:prstGeom prst="rect">
            <a:avLst/>
          </a:prstGeom>
          <a:solidFill>
            <a:srgbClr val="33333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5F911F-CD34-5747-80B1-E1CDB5735BD2}"/>
              </a:ext>
            </a:extLst>
          </p:cNvPr>
          <p:cNvSpPr txBox="1"/>
          <p:nvPr/>
        </p:nvSpPr>
        <p:spPr>
          <a:xfrm>
            <a:off x="635000" y="6115735"/>
            <a:ext cx="4826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 dirty="0">
                <a:solidFill>
                  <a:srgbClr val="F0F0F0"/>
                </a:solidFill>
                <a:latin typeface="Calibri"/>
                <a:cs typeface="Calibri"/>
              </a:rPr>
              <a:t>Aarav Verma · Tharun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5D7723-DE16-C32D-8F74-CC561C686F71}"/>
              </a:ext>
            </a:extLst>
          </p:cNvPr>
          <p:cNvSpPr/>
          <p:nvPr/>
        </p:nvSpPr>
        <p:spPr>
          <a:xfrm>
            <a:off x="635000" y="6477000"/>
            <a:ext cx="10922000" cy="12700"/>
          </a:xfrm>
          <a:prstGeom prst="rect">
            <a:avLst/>
          </a:prstGeom>
          <a:solidFill>
            <a:srgbClr val="33333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C10B52-AE58-C56B-AD11-AD7540284FF2}"/>
              </a:ext>
            </a:extLst>
          </p:cNvPr>
          <p:cNvSpPr txBox="1"/>
          <p:nvPr/>
        </p:nvSpPr>
        <p:spPr>
          <a:xfrm>
            <a:off x="635000" y="6527800"/>
            <a:ext cx="1092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dirty="0">
                <a:solidFill>
                  <a:srgbClr val="555555"/>
                </a:solidFill>
                <a:latin typeface="Calibri"/>
                <a:cs typeface="Calibri"/>
              </a:rPr>
              <a:t>eVTOL Research Brief · UIUC 2026          CONFIDENTIAL · FOR DISCUSSION PURPOSES ONLY          01 / 09</a:t>
            </a:r>
          </a:p>
        </p:txBody>
      </p:sp>
    </p:spTree>
    <p:extLst>
      <p:ext uri="{BB962C8B-B14F-4D97-AF65-F5344CB8AC3E}">
        <p14:creationId xmlns:p14="http://schemas.microsoft.com/office/powerpoint/2010/main" val="1696566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AF4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>
            <a:extLst>
              <a:ext uri="{FF2B5EF4-FFF2-40B4-BE49-F238E27FC236}">
                <a16:creationId xmlns:a16="http://schemas.microsoft.com/office/drawing/2014/main" id="{CE5A75E2-1F61-6B45-A661-1B598C04B8A7}"/>
              </a:ext>
            </a:extLst>
          </p:cNvPr>
          <p:cNvSpPr txBox="1"/>
          <p:nvPr/>
        </p:nvSpPr>
        <p:spPr>
          <a:xfrm>
            <a:off x="635000" y="279400"/>
            <a:ext cx="50800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555555"/>
                </a:solidFill>
                <a:latin typeface="Calibri"/>
                <a:cs typeface="Calibri"/>
              </a:rPr>
              <a:t>THE MARKET PARALLEL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879A499-96C0-004B-8233-E5EDDE10BA5D}"/>
              </a:ext>
            </a:extLst>
          </p:cNvPr>
          <p:cNvSpPr/>
          <p:nvPr/>
        </p:nvSpPr>
        <p:spPr>
          <a:xfrm>
            <a:off x="457200" y="533400"/>
            <a:ext cx="63500" cy="482600"/>
          </a:xfrm>
          <a:prstGeom prst="rect">
            <a:avLst/>
          </a:prstGeom>
          <a:solidFill>
            <a:srgbClr val="C8B89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E709D15-F232-CE46-BEBC-B472C47809E9}"/>
              </a:ext>
            </a:extLst>
          </p:cNvPr>
          <p:cNvSpPr txBox="1"/>
          <p:nvPr/>
        </p:nvSpPr>
        <p:spPr>
          <a:xfrm>
            <a:off x="635000" y="508000"/>
            <a:ext cx="109220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100" b="1" dirty="0">
                <a:solidFill>
                  <a:srgbClr val="1A1A1A"/>
                </a:solidFill>
                <a:latin typeface="Georgia"/>
              </a:rPr>
              <a:t>Samsara solved this for trucking.
Aviation doesn't have its equivalent yet.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66A3D6B-F389-4FB9-8002-7063560D8A06}"/>
              </a:ext>
            </a:extLst>
          </p:cNvPr>
          <p:cNvGrpSpPr/>
          <p:nvPr/>
        </p:nvGrpSpPr>
        <p:grpSpPr>
          <a:xfrm>
            <a:off x="635000" y="1320799"/>
            <a:ext cx="1752600" cy="4152901"/>
            <a:chOff x="635000" y="1320799"/>
            <a:chExt cx="1752600" cy="3632201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8FA178F-B52C-8040-81F2-99A21C653EF6}"/>
                </a:ext>
              </a:extLst>
            </p:cNvPr>
            <p:cNvSpPr/>
            <p:nvPr/>
          </p:nvSpPr>
          <p:spPr>
            <a:xfrm>
              <a:off x="635000" y="1320799"/>
              <a:ext cx="1752600" cy="489974"/>
            </a:xfrm>
            <a:prstGeom prst="rect">
              <a:avLst/>
            </a:prstGeom>
            <a:solidFill>
              <a:srgbClr val="181818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46D376B-29E7-3E4E-820A-124C2C8DA03B}"/>
                </a:ext>
              </a:extLst>
            </p:cNvPr>
            <p:cNvSpPr txBox="1"/>
            <p:nvPr/>
          </p:nvSpPr>
          <p:spPr>
            <a:xfrm>
              <a:off x="711200" y="1397000"/>
              <a:ext cx="1600200" cy="349943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8B89A"/>
                  </a:solidFill>
                  <a:latin typeface="Calibri"/>
                  <a:cs typeface="Calibri"/>
                </a:rPr>
                <a:t>Capability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65DCACF-B7BB-EA42-AD7F-A58D75AD30A3}"/>
                </a:ext>
              </a:extLst>
            </p:cNvPr>
            <p:cNvSpPr/>
            <p:nvPr/>
          </p:nvSpPr>
          <p:spPr>
            <a:xfrm>
              <a:off x="635000" y="1773184"/>
              <a:ext cx="1752600" cy="538216"/>
            </a:xfrm>
            <a:prstGeom prst="rect">
              <a:avLst/>
            </a:prstGeom>
            <a:solidFill>
              <a:srgbClr val="1E1E1E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4B8CE92-B29C-464C-AD64-0C403046BA4F}"/>
                </a:ext>
              </a:extLst>
            </p:cNvPr>
            <p:cNvSpPr txBox="1"/>
            <p:nvPr/>
          </p:nvSpPr>
          <p:spPr>
            <a:xfrm>
              <a:off x="711200" y="1899633"/>
              <a:ext cx="1600200" cy="29610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1600" dirty="0">
                  <a:solidFill>
                    <a:srgbClr val="E8DFC8"/>
                  </a:solidFill>
                  <a:latin typeface="Calibri"/>
                  <a:cs typeface="Calibri"/>
                </a:rPr>
                <a:t>FLEET VISIBILITY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E116020D-D882-804B-B9AB-681F7B4F5040}"/>
                </a:ext>
              </a:extLst>
            </p:cNvPr>
            <p:cNvSpPr/>
            <p:nvPr/>
          </p:nvSpPr>
          <p:spPr>
            <a:xfrm>
              <a:off x="635000" y="2311400"/>
              <a:ext cx="1752600" cy="660400"/>
            </a:xfrm>
            <a:prstGeom prst="rect">
              <a:avLst/>
            </a:prstGeom>
            <a:solidFill>
              <a:srgbClr val="161616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E4CB33B-737D-7443-A6D4-1C5783132E10}"/>
                </a:ext>
              </a:extLst>
            </p:cNvPr>
            <p:cNvSpPr txBox="1"/>
            <p:nvPr/>
          </p:nvSpPr>
          <p:spPr>
            <a:xfrm>
              <a:off x="711200" y="2494449"/>
              <a:ext cx="1600200" cy="29610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1600" dirty="0">
                  <a:solidFill>
                    <a:srgbClr val="E8DFC8"/>
                  </a:solidFill>
                  <a:latin typeface="Calibri"/>
                  <a:cs typeface="Calibri"/>
                </a:rPr>
                <a:t>MAINTENANCE</a:t>
              </a: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527C997F-37E0-6748-8DA8-4F1FA5CB5B44}"/>
                </a:ext>
              </a:extLst>
            </p:cNvPr>
            <p:cNvSpPr/>
            <p:nvPr/>
          </p:nvSpPr>
          <p:spPr>
            <a:xfrm>
              <a:off x="635000" y="2971800"/>
              <a:ext cx="1752600" cy="660400"/>
            </a:xfrm>
            <a:prstGeom prst="rect">
              <a:avLst/>
            </a:prstGeom>
            <a:solidFill>
              <a:srgbClr val="1E1E1E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04D4E95E-8EA7-8C42-939D-A85A79C2728B}"/>
                </a:ext>
              </a:extLst>
            </p:cNvPr>
            <p:cNvSpPr txBox="1"/>
            <p:nvPr/>
          </p:nvSpPr>
          <p:spPr>
            <a:xfrm>
              <a:off x="711200" y="3142998"/>
              <a:ext cx="1600200" cy="29610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1600" dirty="0">
                  <a:solidFill>
                    <a:srgbClr val="E8DFC8"/>
                  </a:solidFill>
                  <a:latin typeface="Calibri"/>
                  <a:cs typeface="Calibri"/>
                </a:rPr>
                <a:t>COMPLIANCE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D25DC359-C209-164D-B775-7822E8E916F5}"/>
                </a:ext>
              </a:extLst>
            </p:cNvPr>
            <p:cNvSpPr/>
            <p:nvPr/>
          </p:nvSpPr>
          <p:spPr>
            <a:xfrm>
              <a:off x="635000" y="3632200"/>
              <a:ext cx="1752600" cy="660400"/>
            </a:xfrm>
            <a:prstGeom prst="rect">
              <a:avLst/>
            </a:prstGeom>
            <a:solidFill>
              <a:srgbClr val="161616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829362B8-E5B7-5F45-B915-D4A66C72A9CB}"/>
                </a:ext>
              </a:extLst>
            </p:cNvPr>
            <p:cNvSpPr txBox="1"/>
            <p:nvPr/>
          </p:nvSpPr>
          <p:spPr>
            <a:xfrm>
              <a:off x="711200" y="3804760"/>
              <a:ext cx="1600200" cy="29610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1600" dirty="0">
                  <a:solidFill>
                    <a:srgbClr val="E8DFC8"/>
                  </a:solidFill>
                  <a:latin typeface="Calibri"/>
                  <a:cs typeface="Calibri"/>
                </a:rPr>
                <a:t>DISPATCH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B826D378-DB8C-5E40-8FB3-700F31C65665}"/>
                </a:ext>
              </a:extLst>
            </p:cNvPr>
            <p:cNvSpPr/>
            <p:nvPr/>
          </p:nvSpPr>
          <p:spPr>
            <a:xfrm>
              <a:off x="635000" y="4292600"/>
              <a:ext cx="1752600" cy="660400"/>
            </a:xfrm>
            <a:prstGeom prst="rect">
              <a:avLst/>
            </a:prstGeom>
            <a:solidFill>
              <a:srgbClr val="1E1E1E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B5B39BF1-FEF6-5F4C-9F57-84F07447A2A9}"/>
                </a:ext>
              </a:extLst>
            </p:cNvPr>
            <p:cNvSpPr txBox="1"/>
            <p:nvPr/>
          </p:nvSpPr>
          <p:spPr>
            <a:xfrm>
              <a:off x="711200" y="4465222"/>
              <a:ext cx="1600200" cy="29610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1600" dirty="0">
                  <a:solidFill>
                    <a:srgbClr val="E8DFC8"/>
                  </a:solidFill>
                  <a:latin typeface="Calibri"/>
                  <a:cs typeface="Calibri"/>
                </a:rPr>
                <a:t>PLATFORM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CC791DC-3B94-2C78-0407-64D2C0C12065}"/>
              </a:ext>
            </a:extLst>
          </p:cNvPr>
          <p:cNvGrpSpPr/>
          <p:nvPr/>
        </p:nvGrpSpPr>
        <p:grpSpPr>
          <a:xfrm>
            <a:off x="2451100" y="1320800"/>
            <a:ext cx="3911600" cy="4152900"/>
            <a:chOff x="2451100" y="1320800"/>
            <a:chExt cx="3911600" cy="363220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769E9336-95A7-C64F-8EC6-7016C8035E71}"/>
                </a:ext>
              </a:extLst>
            </p:cNvPr>
            <p:cNvSpPr/>
            <p:nvPr/>
          </p:nvSpPr>
          <p:spPr>
            <a:xfrm>
              <a:off x="2451100" y="1320800"/>
              <a:ext cx="3911600" cy="489973"/>
            </a:xfrm>
            <a:prstGeom prst="rect">
              <a:avLst/>
            </a:prstGeom>
            <a:solidFill>
              <a:srgbClr val="181818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BE73559-156C-D646-B8D9-B9A650590D37}"/>
                </a:ext>
              </a:extLst>
            </p:cNvPr>
            <p:cNvSpPr txBox="1"/>
            <p:nvPr/>
          </p:nvSpPr>
          <p:spPr>
            <a:xfrm>
              <a:off x="2527300" y="1387167"/>
              <a:ext cx="3759200" cy="349943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8B89A"/>
                  </a:solidFill>
                  <a:latin typeface="Calibri"/>
                  <a:cs typeface="Calibri"/>
                </a:rPr>
                <a:t>Samsara/Trucking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FB9D29A-0385-3F43-A955-46F877677C2C}"/>
                </a:ext>
              </a:extLst>
            </p:cNvPr>
            <p:cNvSpPr/>
            <p:nvPr/>
          </p:nvSpPr>
          <p:spPr>
            <a:xfrm>
              <a:off x="2451100" y="1773184"/>
              <a:ext cx="3911600" cy="538216"/>
            </a:xfrm>
            <a:prstGeom prst="rect">
              <a:avLst/>
            </a:prstGeom>
            <a:solidFill>
              <a:srgbClr val="1E1E1E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3991CA6-7160-6E4C-B657-61C6337C6460}"/>
                </a:ext>
              </a:extLst>
            </p:cNvPr>
            <p:cNvSpPr txBox="1"/>
            <p:nvPr/>
          </p:nvSpPr>
          <p:spPr>
            <a:xfrm>
              <a:off x="2524760" y="1940011"/>
              <a:ext cx="3759200" cy="25572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1300" dirty="0">
                  <a:solidFill>
                    <a:srgbClr val="E8E0D0"/>
                  </a:solidFill>
                  <a:latin typeface="Calibri"/>
                  <a:cs typeface="Calibri"/>
                </a:rPr>
                <a:t>Real-time GPS dashboard, status per vehicle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483A566A-4B35-9F47-82D9-63B89D183922}"/>
                </a:ext>
              </a:extLst>
            </p:cNvPr>
            <p:cNvSpPr/>
            <p:nvPr/>
          </p:nvSpPr>
          <p:spPr>
            <a:xfrm>
              <a:off x="2451100" y="2311400"/>
              <a:ext cx="3911600" cy="660400"/>
            </a:xfrm>
            <a:prstGeom prst="rect">
              <a:avLst/>
            </a:prstGeom>
            <a:solidFill>
              <a:srgbClr val="161616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9C1128-5249-534C-A589-9D24EA131548}"/>
                </a:ext>
              </a:extLst>
            </p:cNvPr>
            <p:cNvSpPr txBox="1"/>
            <p:nvPr/>
          </p:nvSpPr>
          <p:spPr>
            <a:xfrm>
              <a:off x="2527300" y="2523854"/>
              <a:ext cx="3759200" cy="25572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1300" dirty="0">
                  <a:solidFill>
                    <a:srgbClr val="E8E0D0"/>
                  </a:solidFill>
                  <a:latin typeface="Calibri"/>
                  <a:cs typeface="Calibri"/>
                </a:rPr>
                <a:t>Automated alerts, mileage-based scheduling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DC2EEE3E-D1DE-B545-B879-048C5323C595}"/>
                </a:ext>
              </a:extLst>
            </p:cNvPr>
            <p:cNvSpPr/>
            <p:nvPr/>
          </p:nvSpPr>
          <p:spPr>
            <a:xfrm>
              <a:off x="2451100" y="2971800"/>
              <a:ext cx="3911600" cy="660400"/>
            </a:xfrm>
            <a:prstGeom prst="rect">
              <a:avLst/>
            </a:prstGeom>
            <a:solidFill>
              <a:srgbClr val="1E1E1E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7DBADEC4-5E86-7E49-AFDF-1A6705678F52}"/>
                </a:ext>
              </a:extLst>
            </p:cNvPr>
            <p:cNvSpPr txBox="1"/>
            <p:nvPr/>
          </p:nvSpPr>
          <p:spPr>
            <a:xfrm>
              <a:off x="2524760" y="3164064"/>
              <a:ext cx="3759200" cy="25572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1300" dirty="0">
                  <a:solidFill>
                    <a:srgbClr val="E8E0D0"/>
                  </a:solidFill>
                  <a:latin typeface="Calibri"/>
                  <a:cs typeface="Calibri"/>
                </a:rPr>
                <a:t>Automated HOS and DOT reporting</a:t>
              </a: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3E5F5A4A-6BF1-3543-9413-86E6637E85A4}"/>
                </a:ext>
              </a:extLst>
            </p:cNvPr>
            <p:cNvSpPr/>
            <p:nvPr/>
          </p:nvSpPr>
          <p:spPr>
            <a:xfrm>
              <a:off x="2451100" y="3632200"/>
              <a:ext cx="3911600" cy="660400"/>
            </a:xfrm>
            <a:prstGeom prst="rect">
              <a:avLst/>
            </a:prstGeom>
            <a:solidFill>
              <a:srgbClr val="161616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2B7A26F-7FEA-A246-9B0E-9A7B5AF4F457}"/>
                </a:ext>
              </a:extLst>
            </p:cNvPr>
            <p:cNvSpPr txBox="1"/>
            <p:nvPr/>
          </p:nvSpPr>
          <p:spPr>
            <a:xfrm>
              <a:off x="2524760" y="3833637"/>
              <a:ext cx="3759200" cy="25572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1300" dirty="0">
                  <a:solidFill>
                    <a:srgbClr val="E8E0D0"/>
                  </a:solidFill>
                  <a:latin typeface="Calibri"/>
                  <a:cs typeface="Calibri"/>
                </a:rPr>
                <a:t>Route optimization, driver assignment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05775020-71DC-5645-AFBB-B3BF900FEBF4}"/>
                </a:ext>
              </a:extLst>
            </p:cNvPr>
            <p:cNvSpPr/>
            <p:nvPr/>
          </p:nvSpPr>
          <p:spPr>
            <a:xfrm>
              <a:off x="2451100" y="4292600"/>
              <a:ext cx="3911600" cy="660400"/>
            </a:xfrm>
            <a:prstGeom prst="rect">
              <a:avLst/>
            </a:prstGeom>
            <a:solidFill>
              <a:srgbClr val="1E1E1E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BBCC066-A2DC-DD42-844D-6AA6E5994706}"/>
                </a:ext>
              </a:extLst>
            </p:cNvPr>
            <p:cNvSpPr txBox="1"/>
            <p:nvPr/>
          </p:nvSpPr>
          <p:spPr>
            <a:xfrm>
              <a:off x="2524760" y="4494037"/>
              <a:ext cx="3759200" cy="25572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1300" dirty="0">
                  <a:solidFill>
                    <a:srgbClr val="E8E0D0"/>
                  </a:solidFill>
                  <a:latin typeface="Calibri"/>
                  <a:cs typeface="Calibri"/>
                </a:rPr>
                <a:t>~$17B purpose-built company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620F530-1C2F-26D4-52A8-E8B931A1C5F2}"/>
              </a:ext>
            </a:extLst>
          </p:cNvPr>
          <p:cNvGrpSpPr/>
          <p:nvPr/>
        </p:nvGrpSpPr>
        <p:grpSpPr>
          <a:xfrm>
            <a:off x="6426200" y="1320799"/>
            <a:ext cx="5130800" cy="4152901"/>
            <a:chOff x="6426200" y="1320799"/>
            <a:chExt cx="5130800" cy="3632201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154D5803-2FD6-ED4C-9BBC-0B5ED1AF8CA8}"/>
                </a:ext>
              </a:extLst>
            </p:cNvPr>
            <p:cNvSpPr/>
            <p:nvPr/>
          </p:nvSpPr>
          <p:spPr>
            <a:xfrm>
              <a:off x="6426200" y="1320799"/>
              <a:ext cx="5130800" cy="489972"/>
            </a:xfrm>
            <a:prstGeom prst="rect">
              <a:avLst/>
            </a:prstGeom>
            <a:solidFill>
              <a:srgbClr val="181818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C3BF25AB-AACB-A145-AD04-3588C2C6506A}"/>
                </a:ext>
              </a:extLst>
            </p:cNvPr>
            <p:cNvSpPr txBox="1"/>
            <p:nvPr/>
          </p:nvSpPr>
          <p:spPr>
            <a:xfrm>
              <a:off x="6502400" y="1397000"/>
              <a:ext cx="4978400" cy="349943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8B89A"/>
                  </a:solidFill>
                  <a:latin typeface="Calibri"/>
                  <a:cs typeface="Calibri"/>
                </a:rPr>
                <a:t>Aviation Today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E2048BA6-6205-F94C-90A5-064DFA767EE4}"/>
                </a:ext>
              </a:extLst>
            </p:cNvPr>
            <p:cNvSpPr/>
            <p:nvPr/>
          </p:nvSpPr>
          <p:spPr>
            <a:xfrm>
              <a:off x="6426200" y="1773184"/>
              <a:ext cx="5130800" cy="538216"/>
            </a:xfrm>
            <a:prstGeom prst="rect">
              <a:avLst/>
            </a:prstGeom>
            <a:solidFill>
              <a:srgbClr val="1E1E1E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3C3D5379-CDC0-1945-99B7-ED7F9539BAC1}"/>
                </a:ext>
              </a:extLst>
            </p:cNvPr>
            <p:cNvSpPr txBox="1"/>
            <p:nvPr/>
          </p:nvSpPr>
          <p:spPr>
            <a:xfrm>
              <a:off x="6502400" y="1898364"/>
              <a:ext cx="4978400" cy="25572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1300" dirty="0">
                  <a:solidFill>
                    <a:srgbClr val="E8E0D0"/>
                  </a:solidFill>
                  <a:latin typeface="Calibri"/>
                  <a:cs typeface="Calibri"/>
                </a:rPr>
                <a:t>Fragmented: ADS-B readers, OEM portals, manual logs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99838AB5-A83D-F641-83A9-FDDE766DB8EC}"/>
                </a:ext>
              </a:extLst>
            </p:cNvPr>
            <p:cNvSpPr/>
            <p:nvPr/>
          </p:nvSpPr>
          <p:spPr>
            <a:xfrm>
              <a:off x="6426200" y="2311400"/>
              <a:ext cx="5130800" cy="660400"/>
            </a:xfrm>
            <a:prstGeom prst="rect">
              <a:avLst/>
            </a:prstGeom>
            <a:solidFill>
              <a:srgbClr val="161616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9BE7B2A-ED17-9F4C-9AE7-1BB70228C99D}"/>
                </a:ext>
              </a:extLst>
            </p:cNvPr>
            <p:cNvSpPr txBox="1"/>
            <p:nvPr/>
          </p:nvSpPr>
          <p:spPr>
            <a:xfrm>
              <a:off x="6502400" y="2523854"/>
              <a:ext cx="4978400" cy="25572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1300" dirty="0">
                  <a:solidFill>
                    <a:srgbClr val="E8E0D0"/>
                  </a:solidFill>
                  <a:latin typeface="Calibri"/>
                  <a:cs typeface="Calibri"/>
                </a:rPr>
                <a:t>Spreadsheets built for fixed-wing, not eVTOL battery cycles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6C691881-8EB2-B548-9211-A19667E940B8}"/>
                </a:ext>
              </a:extLst>
            </p:cNvPr>
            <p:cNvSpPr/>
            <p:nvPr/>
          </p:nvSpPr>
          <p:spPr>
            <a:xfrm>
              <a:off x="6426200" y="2971800"/>
              <a:ext cx="5130800" cy="660400"/>
            </a:xfrm>
            <a:prstGeom prst="rect">
              <a:avLst/>
            </a:prstGeom>
            <a:solidFill>
              <a:srgbClr val="1E1E1E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47A5DBFC-3AF6-BC49-8CC8-6501C329B73F}"/>
                </a:ext>
              </a:extLst>
            </p:cNvPr>
            <p:cNvSpPr txBox="1"/>
            <p:nvPr/>
          </p:nvSpPr>
          <p:spPr>
            <a:xfrm>
              <a:off x="6502400" y="3164064"/>
              <a:ext cx="4978400" cy="25572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1300" dirty="0">
                  <a:solidFill>
                    <a:srgbClr val="E8E0D0"/>
                  </a:solidFill>
                  <a:latin typeface="Calibri"/>
                  <a:cs typeface="Calibri"/>
                </a:rPr>
                <a:t>Manual FAA documentation: done by hand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8685C5AC-5227-9A46-86D2-6AABB281F604}"/>
                </a:ext>
              </a:extLst>
            </p:cNvPr>
            <p:cNvSpPr/>
            <p:nvPr/>
          </p:nvSpPr>
          <p:spPr>
            <a:xfrm>
              <a:off x="6426200" y="3632200"/>
              <a:ext cx="5130800" cy="660400"/>
            </a:xfrm>
            <a:prstGeom prst="rect">
              <a:avLst/>
            </a:prstGeom>
            <a:solidFill>
              <a:srgbClr val="161616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5729DA27-FACD-AD44-8C69-99648FF31BB8}"/>
                </a:ext>
              </a:extLst>
            </p:cNvPr>
            <p:cNvSpPr txBox="1"/>
            <p:nvPr/>
          </p:nvSpPr>
          <p:spPr>
            <a:xfrm>
              <a:off x="6502400" y="3833637"/>
              <a:ext cx="4978400" cy="25572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1300" dirty="0">
                  <a:solidFill>
                    <a:srgbClr val="E8E0D0"/>
                  </a:solidFill>
                  <a:latin typeface="Calibri"/>
                  <a:cs typeface="Calibri"/>
                </a:rPr>
                <a:t>Phone calls, spreadsheets, no deconfliction tooling</a:t>
              </a: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8C3BA417-A83F-3D46-B4C1-5255872132C0}"/>
                </a:ext>
              </a:extLst>
            </p:cNvPr>
            <p:cNvSpPr/>
            <p:nvPr/>
          </p:nvSpPr>
          <p:spPr>
            <a:xfrm>
              <a:off x="6426200" y="4292600"/>
              <a:ext cx="5130800" cy="660400"/>
            </a:xfrm>
            <a:prstGeom prst="rect">
              <a:avLst/>
            </a:prstGeom>
            <a:solidFill>
              <a:srgbClr val="1E1E1E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9FCA6C89-550C-B341-8474-71C6E62ACDC7}"/>
                </a:ext>
              </a:extLst>
            </p:cNvPr>
            <p:cNvSpPr txBox="1"/>
            <p:nvPr/>
          </p:nvSpPr>
          <p:spPr>
            <a:xfrm>
              <a:off x="6502400" y="4485411"/>
              <a:ext cx="4978400" cy="25572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1300" dirty="0">
                  <a:solidFill>
                    <a:srgbClr val="E9E0D1"/>
                  </a:solidFill>
                  <a:latin typeface="Calibri"/>
                  <a:cs typeface="Calibri"/>
                </a:rPr>
                <a:t>Purpose-built aviation equivalent: does not exist.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0B3125E-3A0B-91A9-EE21-0E96CE00A908}"/>
              </a:ext>
            </a:extLst>
          </p:cNvPr>
          <p:cNvGrpSpPr/>
          <p:nvPr/>
        </p:nvGrpSpPr>
        <p:grpSpPr>
          <a:xfrm>
            <a:off x="635000" y="5613400"/>
            <a:ext cx="10922000" cy="660400"/>
            <a:chOff x="635000" y="5334000"/>
            <a:chExt cx="10922000" cy="66040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C7BBA1F9-5C66-A04D-A7DC-EC9D0AB67B88}"/>
                </a:ext>
              </a:extLst>
            </p:cNvPr>
            <p:cNvSpPr/>
            <p:nvPr/>
          </p:nvSpPr>
          <p:spPr>
            <a:xfrm>
              <a:off x="635000" y="5334000"/>
              <a:ext cx="10922000" cy="660400"/>
            </a:xfrm>
            <a:prstGeom prst="rect">
              <a:avLst/>
            </a:prstGeom>
            <a:solidFill>
              <a:srgbClr val="181818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BA0BAA88-091B-B94E-B804-405DB58B2E10}"/>
                </a:ext>
              </a:extLst>
            </p:cNvPr>
            <p:cNvSpPr/>
            <p:nvPr/>
          </p:nvSpPr>
          <p:spPr>
            <a:xfrm>
              <a:off x="635000" y="5334000"/>
              <a:ext cx="38100" cy="660400"/>
            </a:xfrm>
            <a:prstGeom prst="rect">
              <a:avLst/>
            </a:prstGeom>
            <a:solidFill>
              <a:srgbClr val="C8B89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</p:grpSp>
      <p:sp>
        <p:nvSpPr>
          <p:cNvPr id="97" name="TextBox 96">
            <a:extLst>
              <a:ext uri="{FF2B5EF4-FFF2-40B4-BE49-F238E27FC236}">
                <a16:creationId xmlns:a16="http://schemas.microsoft.com/office/drawing/2014/main" id="{8B22EB0C-CF5C-5C4B-A00B-2A6FADF9036F}"/>
              </a:ext>
            </a:extLst>
          </p:cNvPr>
          <p:cNvSpPr txBox="1"/>
          <p:nvPr/>
        </p:nvSpPr>
        <p:spPr>
          <a:xfrm>
            <a:off x="762000" y="5789853"/>
            <a:ext cx="10668000" cy="34624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650" dirty="0">
                <a:solidFill>
                  <a:srgbClr val="E8E0D0"/>
                </a:solidFill>
                <a:latin typeface="Calibri"/>
                <a:cs typeface="Calibri"/>
              </a:rPr>
              <a:t>“FlytBase, AlarisPro, AirData UAV, and Aloft, none architected for drone fleets today and eVTOL at scale. The gap is real.”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6C0B4CE-B200-F47D-BD74-FADF3F0C6FAF}"/>
              </a:ext>
            </a:extLst>
          </p:cNvPr>
          <p:cNvGrpSpPr/>
          <p:nvPr/>
        </p:nvGrpSpPr>
        <p:grpSpPr>
          <a:xfrm>
            <a:off x="635000" y="6477000"/>
            <a:ext cx="10922000" cy="228600"/>
            <a:chOff x="635000" y="6477000"/>
            <a:chExt cx="10922000" cy="228600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3B5F0585-3C2B-054B-8692-3FAFEFA6A369}"/>
                </a:ext>
              </a:extLst>
            </p:cNvPr>
            <p:cNvSpPr/>
            <p:nvPr/>
          </p:nvSpPr>
          <p:spPr>
            <a:xfrm>
              <a:off x="635000" y="6477000"/>
              <a:ext cx="10922000" cy="12700"/>
            </a:xfrm>
            <a:prstGeom prst="rect">
              <a:avLst/>
            </a:prstGeom>
            <a:solidFill>
              <a:srgbClr val="333333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E9F625D-03B6-1F43-8725-DD76293A83D0}"/>
                </a:ext>
              </a:extLst>
            </p:cNvPr>
            <p:cNvSpPr txBox="1"/>
            <p:nvPr/>
          </p:nvSpPr>
          <p:spPr>
            <a:xfrm>
              <a:off x="635000" y="6527800"/>
              <a:ext cx="10922000" cy="17780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en-US" sz="1300" dirty="0">
                  <a:solidFill>
                    <a:srgbClr val="555555"/>
                  </a:solidFill>
                  <a:latin typeface="Calibri"/>
                  <a:cs typeface="Calibri"/>
                </a:rPr>
                <a:t>eVTOL Research Brief · UIUC 2026          CONFIDENTIAL · FOR DISCUSSION PURPOSES ONLY          02 / 09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4913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AF4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6D53C36B-0379-B246-88DA-F2E2CBAF387A}"/>
              </a:ext>
            </a:extLst>
          </p:cNvPr>
          <p:cNvSpPr txBox="1"/>
          <p:nvPr/>
        </p:nvSpPr>
        <p:spPr>
          <a:xfrm>
            <a:off x="635000" y="279400"/>
            <a:ext cx="63500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555555"/>
                </a:solidFill>
                <a:latin typeface="Calibri"/>
                <a:cs typeface="Calibri"/>
              </a:rPr>
              <a:t>WHAT GETS HARD AT SCALE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29C2503-A00E-DC4A-9B3E-1B9560FA047D}"/>
              </a:ext>
            </a:extLst>
          </p:cNvPr>
          <p:cNvSpPr txBox="1"/>
          <p:nvPr/>
        </p:nvSpPr>
        <p:spPr>
          <a:xfrm>
            <a:off x="635000" y="508000"/>
            <a:ext cx="10922000" cy="736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1A1A1A"/>
                </a:solidFill>
                <a:latin typeface="Georgia"/>
              </a:rPr>
              <a:t>Operating 30 aircraft is not just 30x harder than operating one.
It’s a different category of problem.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856F344-C45B-7C48-A17E-E584300BA91F}"/>
              </a:ext>
            </a:extLst>
          </p:cNvPr>
          <p:cNvSpPr/>
          <p:nvPr/>
        </p:nvSpPr>
        <p:spPr>
          <a:xfrm>
            <a:off x="635000" y="1346200"/>
            <a:ext cx="3454400" cy="2260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B08DE49-D6E1-9E44-9EE2-F73933FB8A64}"/>
              </a:ext>
            </a:extLst>
          </p:cNvPr>
          <p:cNvSpPr/>
          <p:nvPr/>
        </p:nvSpPr>
        <p:spPr>
          <a:xfrm>
            <a:off x="635000" y="1346200"/>
            <a:ext cx="38100" cy="2260600"/>
          </a:xfrm>
          <a:prstGeom prst="rect">
            <a:avLst/>
          </a:prstGeom>
          <a:solidFill>
            <a:srgbClr val="C8B89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DA2949-EB6F-7942-A8BF-BB67E7E92667}"/>
              </a:ext>
            </a:extLst>
          </p:cNvPr>
          <p:cNvSpPr txBox="1"/>
          <p:nvPr/>
        </p:nvSpPr>
        <p:spPr>
          <a:xfrm>
            <a:off x="812800" y="1524000"/>
            <a:ext cx="406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>
                <a:solidFill>
                  <a:srgbClr val="C8B89A"/>
                </a:solidFill>
                <a:latin typeface="Calibri"/>
                <a:cs typeface="Calibri"/>
              </a:rPr>
              <a:t>01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691DE6-1CE8-FF44-9184-A901F2BA232A}"/>
              </a:ext>
            </a:extLst>
          </p:cNvPr>
          <p:cNvSpPr txBox="1"/>
          <p:nvPr/>
        </p:nvSpPr>
        <p:spPr>
          <a:xfrm>
            <a:off x="1219200" y="1524000"/>
            <a:ext cx="2692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C6B798"/>
                </a:solidFill>
                <a:latin typeface="Calibri"/>
                <a:cs typeface="Calibri"/>
              </a:rPr>
              <a:t>FLEET VISIBILITY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5C1ED29-3B33-B641-A5A0-D9614053AE91}"/>
              </a:ext>
            </a:extLst>
          </p:cNvPr>
          <p:cNvSpPr/>
          <p:nvPr/>
        </p:nvSpPr>
        <p:spPr>
          <a:xfrm>
            <a:off x="812800" y="1879600"/>
            <a:ext cx="3098800" cy="12700"/>
          </a:xfrm>
          <a:prstGeom prst="rect">
            <a:avLst/>
          </a:prstGeom>
          <a:solidFill>
            <a:srgbClr val="33333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B91BE9-0DFF-354D-924D-D4EC6B00F465}"/>
              </a:ext>
            </a:extLst>
          </p:cNvPr>
          <p:cNvSpPr txBox="1"/>
          <p:nvPr/>
        </p:nvSpPr>
        <p:spPr>
          <a:xfrm>
            <a:off x="812800" y="2006600"/>
            <a:ext cx="30988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E8E0D0"/>
                </a:solidFill>
                <a:latin typeface="Calibri"/>
                <a:cs typeface="Calibri"/>
              </a:rPr>
              <a:t>Knowing which aircraft are in-flight, charging, or grounded across an entire operation in real time.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4698CB2-5D0B-EC43-A042-0216CA778CE2}"/>
              </a:ext>
            </a:extLst>
          </p:cNvPr>
          <p:cNvSpPr/>
          <p:nvPr/>
        </p:nvSpPr>
        <p:spPr>
          <a:xfrm>
            <a:off x="4368800" y="1346200"/>
            <a:ext cx="3454400" cy="2260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3BF6DC1-7C1D-3744-A653-A26E80DDBFAA}"/>
              </a:ext>
            </a:extLst>
          </p:cNvPr>
          <p:cNvSpPr/>
          <p:nvPr/>
        </p:nvSpPr>
        <p:spPr>
          <a:xfrm>
            <a:off x="4368800" y="1346200"/>
            <a:ext cx="38100" cy="2260600"/>
          </a:xfrm>
          <a:prstGeom prst="rect">
            <a:avLst/>
          </a:prstGeom>
          <a:solidFill>
            <a:srgbClr val="C8B89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37624F0-EAFD-B543-9105-5398B64FDE77}"/>
              </a:ext>
            </a:extLst>
          </p:cNvPr>
          <p:cNvSpPr txBox="1"/>
          <p:nvPr/>
        </p:nvSpPr>
        <p:spPr>
          <a:xfrm>
            <a:off x="4546600" y="1524000"/>
            <a:ext cx="406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>
                <a:solidFill>
                  <a:srgbClr val="C8B89A"/>
                </a:solidFill>
                <a:latin typeface="Calibri"/>
                <a:cs typeface="Calibri"/>
              </a:rPr>
              <a:t>02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85FDDC-2E73-DE48-90F9-1C9834A0787A}"/>
              </a:ext>
            </a:extLst>
          </p:cNvPr>
          <p:cNvSpPr txBox="1"/>
          <p:nvPr/>
        </p:nvSpPr>
        <p:spPr>
          <a:xfrm>
            <a:off x="4953000" y="1524000"/>
            <a:ext cx="2692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C6B798"/>
                </a:solidFill>
                <a:latin typeface="Calibri"/>
                <a:cs typeface="Calibri"/>
              </a:rPr>
              <a:t>BATTERY CYCLE MANAGEMENT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4F7A582-E481-AD42-966E-D064D4A566C5}"/>
              </a:ext>
            </a:extLst>
          </p:cNvPr>
          <p:cNvSpPr/>
          <p:nvPr/>
        </p:nvSpPr>
        <p:spPr>
          <a:xfrm>
            <a:off x="4546600" y="1879600"/>
            <a:ext cx="3098800" cy="12700"/>
          </a:xfrm>
          <a:prstGeom prst="rect">
            <a:avLst/>
          </a:prstGeom>
          <a:solidFill>
            <a:srgbClr val="33333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C8C8A5-BE94-F146-B231-FD5C260F670F}"/>
              </a:ext>
            </a:extLst>
          </p:cNvPr>
          <p:cNvSpPr txBox="1"/>
          <p:nvPr/>
        </p:nvSpPr>
        <p:spPr>
          <a:xfrm>
            <a:off x="4546600" y="2006600"/>
            <a:ext cx="3098800" cy="107721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E8E0D0"/>
                </a:solidFill>
                <a:latin typeface="Calibri"/>
                <a:cs typeface="Calibri"/>
              </a:rPr>
              <a:t>eVTOL-specific: tracking state of charge, cycle count, degradation. Flagging replacement before mid-mission failure.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E6057BE-8604-6044-AA7F-0FCF056A9D13}"/>
              </a:ext>
            </a:extLst>
          </p:cNvPr>
          <p:cNvSpPr/>
          <p:nvPr/>
        </p:nvSpPr>
        <p:spPr>
          <a:xfrm>
            <a:off x="8102600" y="1346200"/>
            <a:ext cx="3454400" cy="2260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B27AFF4B-6DF9-8341-BE3C-5863F8EDEA87}"/>
              </a:ext>
            </a:extLst>
          </p:cNvPr>
          <p:cNvSpPr/>
          <p:nvPr/>
        </p:nvSpPr>
        <p:spPr>
          <a:xfrm>
            <a:off x="8102600" y="1346200"/>
            <a:ext cx="38100" cy="2260600"/>
          </a:xfrm>
          <a:prstGeom prst="rect">
            <a:avLst/>
          </a:prstGeom>
          <a:solidFill>
            <a:srgbClr val="C8B89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637DE3F-74D7-0D44-9975-2B81BA502B02}"/>
              </a:ext>
            </a:extLst>
          </p:cNvPr>
          <p:cNvSpPr txBox="1"/>
          <p:nvPr/>
        </p:nvSpPr>
        <p:spPr>
          <a:xfrm>
            <a:off x="8280400" y="1524000"/>
            <a:ext cx="406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>
                <a:solidFill>
                  <a:srgbClr val="C8B89A"/>
                </a:solidFill>
                <a:latin typeface="Calibri"/>
                <a:cs typeface="Calibri"/>
              </a:rPr>
              <a:t>03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F147EF61-F190-8642-B7D6-7B3874D09BB7}"/>
              </a:ext>
            </a:extLst>
          </p:cNvPr>
          <p:cNvSpPr txBox="1"/>
          <p:nvPr/>
        </p:nvSpPr>
        <p:spPr>
          <a:xfrm>
            <a:off x="8686800" y="1524000"/>
            <a:ext cx="2692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C6B798"/>
                </a:solidFill>
                <a:latin typeface="Calibri"/>
                <a:cs typeface="Calibri"/>
              </a:rPr>
              <a:t>MAINTENANCE TRACKING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6C9B475E-709B-3644-8257-8DF06007112D}"/>
              </a:ext>
            </a:extLst>
          </p:cNvPr>
          <p:cNvSpPr/>
          <p:nvPr/>
        </p:nvSpPr>
        <p:spPr>
          <a:xfrm>
            <a:off x="8280400" y="1879600"/>
            <a:ext cx="3098800" cy="12700"/>
          </a:xfrm>
          <a:prstGeom prst="rect">
            <a:avLst/>
          </a:prstGeom>
          <a:solidFill>
            <a:srgbClr val="33333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0A6E3C8D-E4C6-8F43-8AA6-C3B7534AC634}"/>
              </a:ext>
            </a:extLst>
          </p:cNvPr>
          <p:cNvSpPr txBox="1"/>
          <p:nvPr/>
        </p:nvSpPr>
        <p:spPr>
          <a:xfrm>
            <a:off x="8280400" y="2006600"/>
            <a:ext cx="30988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E8E0D0"/>
                </a:solidFill>
                <a:latin typeface="Calibri"/>
                <a:cs typeface="Calibri"/>
              </a:rPr>
              <a:t>Flight-hour-based scheduling, incident logging, parts inventory, FAA-compliant records.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6752D6D5-B3D5-4645-B0AE-6B700D878CB1}"/>
              </a:ext>
            </a:extLst>
          </p:cNvPr>
          <p:cNvSpPr/>
          <p:nvPr/>
        </p:nvSpPr>
        <p:spPr>
          <a:xfrm>
            <a:off x="635000" y="3733800"/>
            <a:ext cx="3454400" cy="2260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001A4D83-E111-0A45-8119-4D9644540F92}"/>
              </a:ext>
            </a:extLst>
          </p:cNvPr>
          <p:cNvSpPr/>
          <p:nvPr/>
        </p:nvSpPr>
        <p:spPr>
          <a:xfrm>
            <a:off x="635000" y="3733800"/>
            <a:ext cx="38100" cy="2260600"/>
          </a:xfrm>
          <a:prstGeom prst="rect">
            <a:avLst/>
          </a:prstGeom>
          <a:solidFill>
            <a:srgbClr val="C8B89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4C394F3-77D0-C844-A3A1-8D571E105AFB}"/>
              </a:ext>
            </a:extLst>
          </p:cNvPr>
          <p:cNvSpPr txBox="1"/>
          <p:nvPr/>
        </p:nvSpPr>
        <p:spPr>
          <a:xfrm>
            <a:off x="812800" y="3911600"/>
            <a:ext cx="406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>
                <a:solidFill>
                  <a:srgbClr val="C8B89A"/>
                </a:solidFill>
                <a:latin typeface="Calibri"/>
                <a:cs typeface="Calibri"/>
              </a:rPr>
              <a:t>04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1F48989A-B39F-044D-AB5D-53B527AD56CE}"/>
              </a:ext>
            </a:extLst>
          </p:cNvPr>
          <p:cNvSpPr txBox="1"/>
          <p:nvPr/>
        </p:nvSpPr>
        <p:spPr>
          <a:xfrm>
            <a:off x="1219200" y="3911600"/>
            <a:ext cx="2692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C6B798"/>
                </a:solidFill>
                <a:latin typeface="Calibri"/>
                <a:cs typeface="Calibri"/>
              </a:rPr>
              <a:t>REGULATORY COMPLIANCE</a:t>
            </a: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7010A96-5D4B-A14C-B7BC-A83324FCC9A5}"/>
              </a:ext>
            </a:extLst>
          </p:cNvPr>
          <p:cNvSpPr/>
          <p:nvPr/>
        </p:nvSpPr>
        <p:spPr>
          <a:xfrm>
            <a:off x="812800" y="4267200"/>
            <a:ext cx="3098800" cy="12700"/>
          </a:xfrm>
          <a:prstGeom prst="rect">
            <a:avLst/>
          </a:prstGeom>
          <a:solidFill>
            <a:srgbClr val="33333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41C5588E-06A2-9F4F-9118-FFD50A2A40A3}"/>
              </a:ext>
            </a:extLst>
          </p:cNvPr>
          <p:cNvSpPr txBox="1"/>
          <p:nvPr/>
        </p:nvSpPr>
        <p:spPr>
          <a:xfrm>
            <a:off x="812800" y="4394200"/>
            <a:ext cx="3098800" cy="107721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E8E0D0"/>
                </a:solidFill>
                <a:latin typeface="Calibri"/>
                <a:cs typeface="Calibri"/>
              </a:rPr>
              <a:t>Part 135 reporting, LAANC airspace authorization (currently 5–10 min manual), pilot certification tracking.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AE2F03EF-CFB7-D94D-8ED7-E6989360B1A0}"/>
              </a:ext>
            </a:extLst>
          </p:cNvPr>
          <p:cNvSpPr/>
          <p:nvPr/>
        </p:nvSpPr>
        <p:spPr>
          <a:xfrm>
            <a:off x="4368800" y="3733800"/>
            <a:ext cx="3454400" cy="2260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8D11FAE6-967A-AA48-9AFE-F155B23C07DE}"/>
              </a:ext>
            </a:extLst>
          </p:cNvPr>
          <p:cNvSpPr/>
          <p:nvPr/>
        </p:nvSpPr>
        <p:spPr>
          <a:xfrm>
            <a:off x="4368800" y="3733800"/>
            <a:ext cx="38100" cy="2260600"/>
          </a:xfrm>
          <a:prstGeom prst="rect">
            <a:avLst/>
          </a:prstGeom>
          <a:solidFill>
            <a:srgbClr val="C8B89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C4E9E2E3-EEBA-9842-89EF-3B6A2D7A41D5}"/>
              </a:ext>
            </a:extLst>
          </p:cNvPr>
          <p:cNvSpPr txBox="1"/>
          <p:nvPr/>
        </p:nvSpPr>
        <p:spPr>
          <a:xfrm>
            <a:off x="4546600" y="3911600"/>
            <a:ext cx="406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>
                <a:solidFill>
                  <a:srgbClr val="C8B89A"/>
                </a:solidFill>
                <a:latin typeface="Calibri"/>
                <a:cs typeface="Calibri"/>
              </a:rPr>
              <a:t>05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550E5363-D5D2-7745-82FE-BF1BA221A346}"/>
              </a:ext>
            </a:extLst>
          </p:cNvPr>
          <p:cNvSpPr txBox="1"/>
          <p:nvPr/>
        </p:nvSpPr>
        <p:spPr>
          <a:xfrm>
            <a:off x="4953000" y="3911600"/>
            <a:ext cx="2692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C6B798"/>
                </a:solidFill>
                <a:latin typeface="Calibri"/>
                <a:cs typeface="Calibri"/>
              </a:rPr>
              <a:t>MISSION DISPATCH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A85ECC36-003C-C14C-A835-54AD24AD8E05}"/>
              </a:ext>
            </a:extLst>
          </p:cNvPr>
          <p:cNvSpPr/>
          <p:nvPr/>
        </p:nvSpPr>
        <p:spPr>
          <a:xfrm>
            <a:off x="4546600" y="4267200"/>
            <a:ext cx="3098800" cy="12700"/>
          </a:xfrm>
          <a:prstGeom prst="rect">
            <a:avLst/>
          </a:prstGeom>
          <a:solidFill>
            <a:srgbClr val="33333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3D73F97A-3865-654B-975E-765CAFF7A233}"/>
              </a:ext>
            </a:extLst>
          </p:cNvPr>
          <p:cNvSpPr txBox="1"/>
          <p:nvPr/>
        </p:nvSpPr>
        <p:spPr>
          <a:xfrm>
            <a:off x="4546600" y="4394200"/>
            <a:ext cx="30988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E8E0D0"/>
                </a:solidFill>
                <a:latin typeface="Calibri"/>
                <a:cs typeface="Calibri"/>
              </a:rPr>
              <a:t>Assign aircraft by battery level, location, airspace. Deconflict multiple aircraft in shared airspace.</a:t>
            </a:r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FD3B995B-7976-6045-B368-D862E896AB4E}"/>
              </a:ext>
            </a:extLst>
          </p:cNvPr>
          <p:cNvSpPr/>
          <p:nvPr/>
        </p:nvSpPr>
        <p:spPr>
          <a:xfrm>
            <a:off x="8102600" y="3733800"/>
            <a:ext cx="3454400" cy="2260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2F00266-F55E-F74F-A6BD-294B1D5EE015}"/>
              </a:ext>
            </a:extLst>
          </p:cNvPr>
          <p:cNvSpPr/>
          <p:nvPr/>
        </p:nvSpPr>
        <p:spPr>
          <a:xfrm>
            <a:off x="8102600" y="3733800"/>
            <a:ext cx="38100" cy="2260600"/>
          </a:xfrm>
          <a:prstGeom prst="rect">
            <a:avLst/>
          </a:prstGeom>
          <a:solidFill>
            <a:srgbClr val="C8B89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756A9140-8BCA-5A45-B530-B86D8888906C}"/>
              </a:ext>
            </a:extLst>
          </p:cNvPr>
          <p:cNvSpPr txBox="1"/>
          <p:nvPr/>
        </p:nvSpPr>
        <p:spPr>
          <a:xfrm>
            <a:off x="8280400" y="3911600"/>
            <a:ext cx="406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>
                <a:solidFill>
                  <a:srgbClr val="C8B89A"/>
                </a:solidFill>
                <a:latin typeface="Calibri"/>
                <a:cs typeface="Calibri"/>
              </a:rPr>
              <a:t>06</a:t>
            </a: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1079D35-A684-B24F-B35F-52F4C5F31098}"/>
              </a:ext>
            </a:extLst>
          </p:cNvPr>
          <p:cNvSpPr txBox="1"/>
          <p:nvPr/>
        </p:nvSpPr>
        <p:spPr>
          <a:xfrm>
            <a:off x="8686800" y="3911600"/>
            <a:ext cx="2692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C6B798"/>
                </a:solidFill>
                <a:latin typeface="Calibri"/>
                <a:cs typeface="Calibri"/>
              </a:rPr>
              <a:t>UTILIZATION ANALYTICS</a:t>
            </a:r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53AE2580-ADB7-F540-A259-6E2AB565953D}"/>
              </a:ext>
            </a:extLst>
          </p:cNvPr>
          <p:cNvSpPr/>
          <p:nvPr/>
        </p:nvSpPr>
        <p:spPr>
          <a:xfrm>
            <a:off x="8280400" y="4267200"/>
            <a:ext cx="3098800" cy="12700"/>
          </a:xfrm>
          <a:prstGeom prst="rect">
            <a:avLst/>
          </a:prstGeom>
          <a:solidFill>
            <a:srgbClr val="33333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BCC9CF99-049D-7D43-AA1B-510B5C26910D}"/>
              </a:ext>
            </a:extLst>
          </p:cNvPr>
          <p:cNvSpPr txBox="1"/>
          <p:nvPr/>
        </p:nvSpPr>
        <p:spPr>
          <a:xfrm>
            <a:off x="8280400" y="4394200"/>
            <a:ext cx="30988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E8E0D0"/>
                </a:solidFill>
                <a:latin typeface="Calibri"/>
                <a:cs typeface="Calibri"/>
              </a:rPr>
              <a:t>Cost per flight hour, downtime, revenue per aircraft. Currently calculated manually if at all.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54DC82E-968B-2F60-31F0-0CF2B7AC125B}"/>
              </a:ext>
            </a:extLst>
          </p:cNvPr>
          <p:cNvGrpSpPr/>
          <p:nvPr/>
        </p:nvGrpSpPr>
        <p:grpSpPr>
          <a:xfrm>
            <a:off x="635000" y="6477000"/>
            <a:ext cx="10922000" cy="343188"/>
            <a:chOff x="635000" y="6477000"/>
            <a:chExt cx="10922000" cy="34318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D2FAF0B-17D5-5876-758E-8FE5AF20264B}"/>
                </a:ext>
              </a:extLst>
            </p:cNvPr>
            <p:cNvSpPr/>
            <p:nvPr/>
          </p:nvSpPr>
          <p:spPr>
            <a:xfrm>
              <a:off x="635000" y="6477000"/>
              <a:ext cx="10922000" cy="12700"/>
            </a:xfrm>
            <a:prstGeom prst="rect">
              <a:avLst/>
            </a:prstGeom>
            <a:solidFill>
              <a:srgbClr val="333333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2E250A8-F10C-03BC-016A-F0A0A5048E10}"/>
                </a:ext>
              </a:extLst>
            </p:cNvPr>
            <p:cNvSpPr txBox="1"/>
            <p:nvPr/>
          </p:nvSpPr>
          <p:spPr>
            <a:xfrm>
              <a:off x="635000" y="6527800"/>
              <a:ext cx="10922000" cy="29238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en-US" sz="1300" dirty="0">
                  <a:solidFill>
                    <a:srgbClr val="555555"/>
                  </a:solidFill>
                  <a:latin typeface="Calibri"/>
                  <a:cs typeface="Calibri"/>
                </a:rPr>
                <a:t>eVTOL Research Brief · UIUC 2026          CONFIDENTIAL · FOR DISCUSSION PURPOSES ONLY          03 / 09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5837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AF4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1D11C2-E573-B54A-B8C5-205214861BF5}"/>
              </a:ext>
            </a:extLst>
          </p:cNvPr>
          <p:cNvSpPr txBox="1"/>
          <p:nvPr/>
        </p:nvSpPr>
        <p:spPr>
          <a:xfrm>
            <a:off x="635000" y="355600"/>
            <a:ext cx="381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555555"/>
                </a:solidFill>
                <a:latin typeface="Calibri"/>
                <a:cs typeface="Calibri"/>
              </a:rPr>
              <a:t>WHY NOW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739AF5-213B-B446-B7F8-B9B8434467DA}"/>
              </a:ext>
            </a:extLst>
          </p:cNvPr>
          <p:cNvSpPr txBox="1"/>
          <p:nvPr/>
        </p:nvSpPr>
        <p:spPr>
          <a:xfrm>
            <a:off x="635000" y="609600"/>
            <a:ext cx="10922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1A1A1A"/>
                </a:solidFill>
                <a:latin typeface="Georgia"/>
              </a:rPr>
              <a:t>The window to build this right is before
commercial operations begin — not during.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B4BEFB-913B-9C46-8739-217A6049014B}"/>
              </a:ext>
            </a:extLst>
          </p:cNvPr>
          <p:cNvSpPr/>
          <p:nvPr/>
        </p:nvSpPr>
        <p:spPr>
          <a:xfrm>
            <a:off x="1016000" y="1574800"/>
            <a:ext cx="25400" cy="3556000"/>
          </a:xfrm>
          <a:prstGeom prst="rect">
            <a:avLst/>
          </a:prstGeom>
          <a:solidFill>
            <a:srgbClr val="33333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CB6B108-9472-774C-A5DB-11546D44616A}"/>
              </a:ext>
            </a:extLst>
          </p:cNvPr>
          <p:cNvSpPr/>
          <p:nvPr/>
        </p:nvSpPr>
        <p:spPr>
          <a:xfrm>
            <a:off x="952500" y="1625600"/>
            <a:ext cx="152400" cy="152400"/>
          </a:xfrm>
          <a:prstGeom prst="ellipse">
            <a:avLst/>
          </a:prstGeom>
          <a:solidFill>
            <a:srgbClr val="4444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CFF25E-D6B0-3041-8EA9-EC13EC9360D2}"/>
              </a:ext>
            </a:extLst>
          </p:cNvPr>
          <p:cNvSpPr txBox="1"/>
          <p:nvPr/>
        </p:nvSpPr>
        <p:spPr>
          <a:xfrm>
            <a:off x="1244600" y="1574800"/>
            <a:ext cx="203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 dirty="0">
                <a:solidFill>
                  <a:srgbClr val="C8B89A"/>
                </a:solidFill>
                <a:latin typeface="Calibri"/>
                <a:cs typeface="Calibri"/>
              </a:rPr>
              <a:t>NOW–2025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BAB21D-3060-9B4B-B3B3-466D1F6899EA}"/>
              </a:ext>
            </a:extLst>
          </p:cNvPr>
          <p:cNvSpPr txBox="1"/>
          <p:nvPr/>
        </p:nvSpPr>
        <p:spPr>
          <a:xfrm>
            <a:off x="1244600" y="1803400"/>
            <a:ext cx="5588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A1A1A"/>
                </a:solidFill>
                <a:latin typeface="Calibri"/>
                <a:cs typeface="Calibri"/>
              </a:rPr>
              <a:t>Pre-commercial. Fleets small, manual ops work. But infrastructure decisions are being made right now.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A471029-24DC-474D-A8B5-FAA0498A00CA}"/>
              </a:ext>
            </a:extLst>
          </p:cNvPr>
          <p:cNvSpPr/>
          <p:nvPr/>
        </p:nvSpPr>
        <p:spPr>
          <a:xfrm>
            <a:off x="952500" y="2489200"/>
            <a:ext cx="152400" cy="152400"/>
          </a:xfrm>
          <a:prstGeom prst="ellipse">
            <a:avLst/>
          </a:prstGeom>
          <a:solidFill>
            <a:srgbClr val="4444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618F76-999B-7C40-8098-373589E9C2D6}"/>
              </a:ext>
            </a:extLst>
          </p:cNvPr>
          <p:cNvSpPr txBox="1"/>
          <p:nvPr/>
        </p:nvSpPr>
        <p:spPr>
          <a:xfrm>
            <a:off x="1244600" y="2487425"/>
            <a:ext cx="203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 dirty="0">
                <a:solidFill>
                  <a:srgbClr val="C8B89A"/>
                </a:solidFill>
                <a:latin typeface="Calibri"/>
                <a:cs typeface="Calibri"/>
              </a:rPr>
              <a:t>2026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3B77CC-FF4B-5A44-99F7-4CA56D8B9F74}"/>
              </a:ext>
            </a:extLst>
          </p:cNvPr>
          <p:cNvSpPr txBox="1"/>
          <p:nvPr/>
        </p:nvSpPr>
        <p:spPr>
          <a:xfrm>
            <a:off x="1244600" y="2716025"/>
            <a:ext cx="5948946" cy="73866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A1A1A"/>
                </a:solidFill>
                <a:latin typeface="Calibri"/>
                <a:cs typeface="Calibri"/>
              </a:rPr>
              <a:t>First commercial eVTOL routes. Archer: 100% FAA acceptance of Midnight’s Means of Compliance. First passenger flights US + UAE. Manual ops become a liability.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BD71F03-4B35-0147-9B26-9267C0C4363E}"/>
              </a:ext>
            </a:extLst>
          </p:cNvPr>
          <p:cNvSpPr/>
          <p:nvPr/>
        </p:nvSpPr>
        <p:spPr>
          <a:xfrm>
            <a:off x="952500" y="3543300"/>
            <a:ext cx="152400" cy="152400"/>
          </a:xfrm>
          <a:prstGeom prst="ellipse">
            <a:avLst/>
          </a:prstGeom>
          <a:solidFill>
            <a:srgbClr val="4444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372B73-CC92-984C-BF26-73DEFAC7E900}"/>
              </a:ext>
            </a:extLst>
          </p:cNvPr>
          <p:cNvSpPr txBox="1"/>
          <p:nvPr/>
        </p:nvSpPr>
        <p:spPr>
          <a:xfrm>
            <a:off x="1244600" y="3539823"/>
            <a:ext cx="203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 dirty="0">
                <a:solidFill>
                  <a:srgbClr val="C8B89A"/>
                </a:solidFill>
                <a:latin typeface="Calibri"/>
                <a:cs typeface="Calibri"/>
              </a:rPr>
              <a:t>2028–2030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03BA35-410E-404A-ACB0-038A05EA9F0E}"/>
              </a:ext>
            </a:extLst>
          </p:cNvPr>
          <p:cNvSpPr txBox="1"/>
          <p:nvPr/>
        </p:nvSpPr>
        <p:spPr>
          <a:xfrm>
            <a:off x="1244600" y="3768423"/>
            <a:ext cx="5588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  <a:latin typeface="Calibri"/>
                <a:cs typeface="Calibri"/>
              </a:rPr>
              <a:t>100+ aircraft per operator. Software built for small fleets doesn’t scale.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AC1DC89-C983-2442-9201-59B64E37618F}"/>
              </a:ext>
            </a:extLst>
          </p:cNvPr>
          <p:cNvSpPr/>
          <p:nvPr/>
        </p:nvSpPr>
        <p:spPr>
          <a:xfrm>
            <a:off x="952500" y="4360933"/>
            <a:ext cx="152400" cy="152400"/>
          </a:xfrm>
          <a:prstGeom prst="ellipse">
            <a:avLst/>
          </a:prstGeom>
          <a:solidFill>
            <a:srgbClr val="C8B89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B38186-705B-7744-A113-7DCB0708B1C4}"/>
              </a:ext>
            </a:extLst>
          </p:cNvPr>
          <p:cNvSpPr txBox="1"/>
          <p:nvPr/>
        </p:nvSpPr>
        <p:spPr>
          <a:xfrm>
            <a:off x="1244600" y="4327151"/>
            <a:ext cx="203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 dirty="0">
                <a:solidFill>
                  <a:srgbClr val="C8B89A"/>
                </a:solidFill>
                <a:latin typeface="Calibri"/>
                <a:cs typeface="Calibri"/>
              </a:rPr>
              <a:t>TODAY (BRIDGE)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8FAAFA-4575-A844-B0C9-B37B393561B3}"/>
              </a:ext>
            </a:extLst>
          </p:cNvPr>
          <p:cNvSpPr txBox="1"/>
          <p:nvPr/>
        </p:nvSpPr>
        <p:spPr>
          <a:xfrm>
            <a:off x="1244600" y="4555751"/>
            <a:ext cx="5588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  <a:latin typeface="Calibri"/>
                <a:cs typeface="Calibri"/>
              </a:rPr>
              <a:t>Drone fleet operators — 20–200 aircraft — face this exact problem now. Same software, smaller aircraft.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D6B8B8-EF7C-4F47-B5A6-3365E796BC11}"/>
              </a:ext>
            </a:extLst>
          </p:cNvPr>
          <p:cNvSpPr/>
          <p:nvPr/>
        </p:nvSpPr>
        <p:spPr>
          <a:xfrm>
            <a:off x="635000" y="5181600"/>
            <a:ext cx="3352800" cy="10541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FBB703-1133-AC47-9352-811C168800F6}"/>
              </a:ext>
            </a:extLst>
          </p:cNvPr>
          <p:cNvSpPr txBox="1"/>
          <p:nvPr/>
        </p:nvSpPr>
        <p:spPr>
          <a:xfrm>
            <a:off x="812800" y="5308600"/>
            <a:ext cx="29972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E8DFC8"/>
                </a:solidFill>
                <a:latin typeface="Calibri"/>
                <a:cs typeface="Calibri"/>
              </a:rPr>
              <a:t>$5.67B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D8893A1-873B-534A-8E4A-C63EB00FB501}"/>
              </a:ext>
            </a:extLst>
          </p:cNvPr>
          <p:cNvSpPr txBox="1"/>
          <p:nvPr/>
        </p:nvSpPr>
        <p:spPr>
          <a:xfrm>
            <a:off x="812800" y="5689600"/>
            <a:ext cx="2997200" cy="49244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dirty="0">
                <a:solidFill>
                  <a:srgbClr val="C6B798"/>
                </a:solidFill>
                <a:latin typeface="Calibri"/>
                <a:cs typeface="Calibri"/>
              </a:rPr>
              <a:t>eVTOL fleet management market by 2033 (31.2% CAGR)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1E613E8-D6EA-CC45-BBD8-B1B5B95DD212}"/>
              </a:ext>
            </a:extLst>
          </p:cNvPr>
          <p:cNvSpPr/>
          <p:nvPr/>
        </p:nvSpPr>
        <p:spPr>
          <a:xfrm>
            <a:off x="4267200" y="5181599"/>
            <a:ext cx="3352800" cy="10541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BE97AC-92C2-4248-A704-9E8F757658AB}"/>
              </a:ext>
            </a:extLst>
          </p:cNvPr>
          <p:cNvSpPr txBox="1"/>
          <p:nvPr/>
        </p:nvSpPr>
        <p:spPr>
          <a:xfrm>
            <a:off x="4445000" y="5308600"/>
            <a:ext cx="29972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E8DFC8"/>
                </a:solidFill>
                <a:latin typeface="Calibri"/>
                <a:cs typeface="Calibri"/>
              </a:rPr>
              <a:t>#1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782C95-4F68-BE4A-81EB-4029E67CF348}"/>
              </a:ext>
            </a:extLst>
          </p:cNvPr>
          <p:cNvSpPr txBox="1"/>
          <p:nvPr/>
        </p:nvSpPr>
        <p:spPr>
          <a:xfrm>
            <a:off x="4445000" y="5689600"/>
            <a:ext cx="2997200" cy="49244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dirty="0">
                <a:solidFill>
                  <a:srgbClr val="C6B798"/>
                </a:solidFill>
                <a:latin typeface="Calibri"/>
                <a:cs typeface="Calibri"/>
              </a:rPr>
              <a:t>Software &amp; digital services: fastest-growing segment of eVTOL market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6D02BE7-EEC7-E544-AA9A-3DBCE1AF3169}"/>
              </a:ext>
            </a:extLst>
          </p:cNvPr>
          <p:cNvSpPr/>
          <p:nvPr/>
        </p:nvSpPr>
        <p:spPr>
          <a:xfrm>
            <a:off x="7899400" y="5181599"/>
            <a:ext cx="3352800" cy="1054099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2AD2EE-B4FF-1740-91B6-63C11ADF8EC8}"/>
              </a:ext>
            </a:extLst>
          </p:cNvPr>
          <p:cNvSpPr txBox="1"/>
          <p:nvPr/>
        </p:nvSpPr>
        <p:spPr>
          <a:xfrm>
            <a:off x="8077200" y="5308600"/>
            <a:ext cx="29972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E8DFC8"/>
                </a:solidFill>
                <a:latin typeface="Calibri"/>
                <a:cs typeface="Calibri"/>
              </a:rPr>
              <a:t>$17B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860D1A-B6DE-2147-80F3-FB1F06F06234}"/>
              </a:ext>
            </a:extLst>
          </p:cNvPr>
          <p:cNvSpPr txBox="1"/>
          <p:nvPr/>
        </p:nvSpPr>
        <p:spPr>
          <a:xfrm>
            <a:off x="8077200" y="5689600"/>
            <a:ext cx="2997200" cy="49244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dirty="0">
                <a:solidFill>
                  <a:srgbClr val="C6B798"/>
                </a:solidFill>
                <a:latin typeface="Calibri"/>
                <a:cs typeface="Calibri"/>
              </a:rPr>
              <a:t>Samsara market cap (Apr 2026) — the trucking equivalent that already exists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0A78E9B-D733-FCA0-E12C-14D3E05B8DEA}"/>
              </a:ext>
            </a:extLst>
          </p:cNvPr>
          <p:cNvGrpSpPr/>
          <p:nvPr/>
        </p:nvGrpSpPr>
        <p:grpSpPr>
          <a:xfrm>
            <a:off x="635000" y="6477000"/>
            <a:ext cx="10922000" cy="343188"/>
            <a:chOff x="635000" y="6477000"/>
            <a:chExt cx="10922000" cy="343188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C080788-4C21-F36D-E707-FB36C81DE5B8}"/>
                </a:ext>
              </a:extLst>
            </p:cNvPr>
            <p:cNvSpPr/>
            <p:nvPr/>
          </p:nvSpPr>
          <p:spPr>
            <a:xfrm>
              <a:off x="635000" y="6477000"/>
              <a:ext cx="10922000" cy="12700"/>
            </a:xfrm>
            <a:prstGeom prst="rect">
              <a:avLst/>
            </a:prstGeom>
            <a:solidFill>
              <a:srgbClr val="333333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E36F155-5C82-9802-7878-3998F1928728}"/>
                </a:ext>
              </a:extLst>
            </p:cNvPr>
            <p:cNvSpPr txBox="1"/>
            <p:nvPr/>
          </p:nvSpPr>
          <p:spPr>
            <a:xfrm>
              <a:off x="635000" y="6527800"/>
              <a:ext cx="10922000" cy="29238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en-US" sz="1300" dirty="0">
                  <a:solidFill>
                    <a:srgbClr val="555555"/>
                  </a:solidFill>
                  <a:latin typeface="Calibri"/>
                  <a:cs typeface="Calibri"/>
                </a:rPr>
                <a:t>eVTOL Research Brief · UIUC 2026          CONFIDENTIAL · FOR DISCUSSION PURPOSES ONLY          04 / 09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48662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AF4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87F60B-7CB5-6C4E-A45B-63040E75E386}"/>
              </a:ext>
            </a:extLst>
          </p:cNvPr>
          <p:cNvSpPr txBox="1"/>
          <p:nvPr/>
        </p:nvSpPr>
        <p:spPr>
          <a:xfrm>
            <a:off x="635000" y="355600"/>
            <a:ext cx="381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555555"/>
                </a:solidFill>
                <a:latin typeface="Calibri"/>
                <a:cs typeface="Calibri"/>
              </a:rPr>
              <a:t>THE SOLUTION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E4B732-06D4-F64A-B3DC-DF1A02D677DB}"/>
              </a:ext>
            </a:extLst>
          </p:cNvPr>
          <p:cNvSpPr txBox="1"/>
          <p:nvPr/>
        </p:nvSpPr>
        <p:spPr>
          <a:xfrm>
            <a:off x="635000" y="6096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1A1A1A"/>
                </a:solidFill>
                <a:latin typeface="Georgia"/>
              </a:rPr>
              <a:t>A single operator dashboard for real-time control of the entire fleet.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BFE43F-D7E8-724B-96CF-73139A19EF92}"/>
              </a:ext>
            </a:extLst>
          </p:cNvPr>
          <p:cNvSpPr txBox="1"/>
          <p:nvPr/>
        </p:nvSpPr>
        <p:spPr>
          <a:xfrm>
            <a:off x="635000" y="1219200"/>
            <a:ext cx="1092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300" dirty="0">
                <a:solidFill>
                  <a:srgbClr val="1A1A1A"/>
                </a:solidFill>
                <a:latin typeface="Calibri"/>
                <a:cs typeface="Calibri"/>
              </a:rPr>
              <a:t>Not avionics. Not a booking platform. The ops-center software layer for dispatch managers, maintenance coordinators, and operations directors.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0B7F9-9209-384D-B347-07E17C456116}"/>
              </a:ext>
            </a:extLst>
          </p:cNvPr>
          <p:cNvSpPr/>
          <p:nvPr/>
        </p:nvSpPr>
        <p:spPr>
          <a:xfrm>
            <a:off x="635000" y="1701800"/>
            <a:ext cx="1778000" cy="330200"/>
          </a:xfrm>
          <a:prstGeom prst="rect">
            <a:avLst/>
          </a:prstGeom>
          <a:solidFill>
            <a:srgbClr val="18181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540484-AC50-3745-917A-9CCA0F62647E}"/>
              </a:ext>
            </a:extLst>
          </p:cNvPr>
          <p:cNvSpPr txBox="1"/>
          <p:nvPr/>
        </p:nvSpPr>
        <p:spPr>
          <a:xfrm>
            <a:off x="736600" y="1778000"/>
            <a:ext cx="15748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C8B89A"/>
                </a:solidFill>
                <a:latin typeface="Calibri"/>
                <a:cs typeface="Calibri"/>
              </a:rPr>
              <a:t>View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1CBAFF-EBE1-6B42-9E05-A987C020BECA}"/>
              </a:ext>
            </a:extLst>
          </p:cNvPr>
          <p:cNvSpPr/>
          <p:nvPr/>
        </p:nvSpPr>
        <p:spPr>
          <a:xfrm>
            <a:off x="2476500" y="1701800"/>
            <a:ext cx="4445000" cy="330200"/>
          </a:xfrm>
          <a:prstGeom prst="rect">
            <a:avLst/>
          </a:prstGeom>
          <a:solidFill>
            <a:srgbClr val="18181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88D1EF-C91F-AB49-B2B6-442156E3B455}"/>
              </a:ext>
            </a:extLst>
          </p:cNvPr>
          <p:cNvSpPr txBox="1"/>
          <p:nvPr/>
        </p:nvSpPr>
        <p:spPr>
          <a:xfrm>
            <a:off x="2578100" y="1778000"/>
            <a:ext cx="42418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C8B89A"/>
                </a:solidFill>
                <a:latin typeface="Calibri"/>
                <a:cs typeface="Calibri"/>
              </a:rPr>
              <a:t>What it does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DE037C-9938-B548-8D2A-C75302668C72}"/>
              </a:ext>
            </a:extLst>
          </p:cNvPr>
          <p:cNvSpPr/>
          <p:nvPr/>
        </p:nvSpPr>
        <p:spPr>
          <a:xfrm>
            <a:off x="6985000" y="1701800"/>
            <a:ext cx="4572000" cy="330200"/>
          </a:xfrm>
          <a:prstGeom prst="rect">
            <a:avLst/>
          </a:prstGeom>
          <a:solidFill>
            <a:srgbClr val="18181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3029B7-9B83-C343-8A89-4B406275D0BB}"/>
              </a:ext>
            </a:extLst>
          </p:cNvPr>
          <p:cNvSpPr txBox="1"/>
          <p:nvPr/>
        </p:nvSpPr>
        <p:spPr>
          <a:xfrm>
            <a:off x="7086600" y="1778000"/>
            <a:ext cx="43688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C8B89A"/>
                </a:solidFill>
                <a:latin typeface="Calibri"/>
                <a:cs typeface="Calibri"/>
              </a:rPr>
              <a:t>Why it matters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E8BF81-AF9A-8041-B0A8-C40DF3337284}"/>
              </a:ext>
            </a:extLst>
          </p:cNvPr>
          <p:cNvSpPr/>
          <p:nvPr/>
        </p:nvSpPr>
        <p:spPr>
          <a:xfrm>
            <a:off x="635000" y="2032000"/>
            <a:ext cx="1778000" cy="431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2BD410-75D4-3748-82CC-7952DF056180}"/>
              </a:ext>
            </a:extLst>
          </p:cNvPr>
          <p:cNvSpPr txBox="1"/>
          <p:nvPr/>
        </p:nvSpPr>
        <p:spPr>
          <a:xfrm>
            <a:off x="736600" y="2082800"/>
            <a:ext cx="1574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0F0F0"/>
                </a:solidFill>
                <a:latin typeface="Calibri"/>
                <a:cs typeface="Calibri"/>
              </a:rPr>
              <a:t>Fleet Overview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D58DBA4-E363-AB49-B8FA-2EB28292DFD4}"/>
              </a:ext>
            </a:extLst>
          </p:cNvPr>
          <p:cNvSpPr/>
          <p:nvPr/>
        </p:nvSpPr>
        <p:spPr>
          <a:xfrm>
            <a:off x="2476500" y="2032000"/>
            <a:ext cx="4445000" cy="431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6397BD-1C49-904F-99C6-BF76011DD9F1}"/>
              </a:ext>
            </a:extLst>
          </p:cNvPr>
          <p:cNvSpPr txBox="1"/>
          <p:nvPr/>
        </p:nvSpPr>
        <p:spPr>
          <a:xfrm>
            <a:off x="2578100" y="2082800"/>
            <a:ext cx="424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E8E0D0"/>
                </a:solidFill>
                <a:latin typeface="Calibri"/>
                <a:cs typeface="Calibri"/>
              </a:rPr>
              <a:t>Real-time status: in-flight, charging, maintenance, grounded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967FB0-726D-6744-BD44-D1EB501D4A3A}"/>
              </a:ext>
            </a:extLst>
          </p:cNvPr>
          <p:cNvSpPr/>
          <p:nvPr/>
        </p:nvSpPr>
        <p:spPr>
          <a:xfrm>
            <a:off x="6985000" y="2032000"/>
            <a:ext cx="4572000" cy="431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9537BD-BF28-9C45-89D8-253B6364ECC6}"/>
              </a:ext>
            </a:extLst>
          </p:cNvPr>
          <p:cNvSpPr txBox="1"/>
          <p:nvPr/>
        </p:nvSpPr>
        <p:spPr>
          <a:xfrm>
            <a:off x="7086600" y="2082800"/>
            <a:ext cx="4368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E8E0D0"/>
                </a:solidFill>
                <a:latin typeface="Calibri"/>
                <a:cs typeface="Calibri"/>
              </a:rPr>
              <a:t>Single source of truth for fleet state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7F26732-89E9-6F42-A9C5-A4D85EA7E374}"/>
              </a:ext>
            </a:extLst>
          </p:cNvPr>
          <p:cNvSpPr/>
          <p:nvPr/>
        </p:nvSpPr>
        <p:spPr>
          <a:xfrm>
            <a:off x="635000" y="2590800"/>
            <a:ext cx="1778000" cy="431800"/>
          </a:xfrm>
          <a:prstGeom prst="rect">
            <a:avLst/>
          </a:prstGeom>
          <a:solidFill>
            <a:srgbClr val="1616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5C2FCF-B9D4-9F43-8D8A-922D0DBD2B38}"/>
              </a:ext>
            </a:extLst>
          </p:cNvPr>
          <p:cNvSpPr txBox="1"/>
          <p:nvPr/>
        </p:nvSpPr>
        <p:spPr>
          <a:xfrm>
            <a:off x="736600" y="2641600"/>
            <a:ext cx="1574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0F0F0"/>
                </a:solidFill>
                <a:latin typeface="Calibri"/>
                <a:cs typeface="Calibri"/>
              </a:rPr>
              <a:t>Mission Dispatch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208B08-D4DD-5F40-82B0-C284B0A5DC2B}"/>
              </a:ext>
            </a:extLst>
          </p:cNvPr>
          <p:cNvSpPr/>
          <p:nvPr/>
        </p:nvSpPr>
        <p:spPr>
          <a:xfrm>
            <a:off x="2476500" y="2590800"/>
            <a:ext cx="4445000" cy="431800"/>
          </a:xfrm>
          <a:prstGeom prst="rect">
            <a:avLst/>
          </a:prstGeom>
          <a:solidFill>
            <a:srgbClr val="1616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0289B8-29DF-934E-8C1B-9A64882A0AA2}"/>
              </a:ext>
            </a:extLst>
          </p:cNvPr>
          <p:cNvSpPr txBox="1"/>
          <p:nvPr/>
        </p:nvSpPr>
        <p:spPr>
          <a:xfrm>
            <a:off x="2578100" y="2641600"/>
            <a:ext cx="424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E8E0D0"/>
                </a:solidFill>
                <a:latin typeface="Calibri"/>
                <a:cs typeface="Calibri"/>
              </a:rPr>
              <a:t>Assign aircraft to routes, deconflict, handle holds + re-routing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C9C98F-0DF7-3A42-8340-DA9A5C05D355}"/>
              </a:ext>
            </a:extLst>
          </p:cNvPr>
          <p:cNvSpPr/>
          <p:nvPr/>
        </p:nvSpPr>
        <p:spPr>
          <a:xfrm>
            <a:off x="6985000" y="2590800"/>
            <a:ext cx="4572000" cy="431800"/>
          </a:xfrm>
          <a:prstGeom prst="rect">
            <a:avLst/>
          </a:prstGeom>
          <a:solidFill>
            <a:srgbClr val="1616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610DEB-A908-3E42-A0DD-4B2FCD53CA6A}"/>
              </a:ext>
            </a:extLst>
          </p:cNvPr>
          <p:cNvSpPr txBox="1"/>
          <p:nvPr/>
        </p:nvSpPr>
        <p:spPr>
          <a:xfrm>
            <a:off x="7086600" y="2641600"/>
            <a:ext cx="4368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E8E0D0"/>
                </a:solidFill>
                <a:latin typeface="Calibri"/>
                <a:cs typeface="Calibri"/>
              </a:rPr>
              <a:t>Manual dispatch doesn't scale past ~5 aircraft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8FDA651-A820-364C-96CC-4AC6B3CBD9B8}"/>
              </a:ext>
            </a:extLst>
          </p:cNvPr>
          <p:cNvSpPr/>
          <p:nvPr/>
        </p:nvSpPr>
        <p:spPr>
          <a:xfrm>
            <a:off x="635000" y="3149600"/>
            <a:ext cx="1778000" cy="431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EFAB9C-FBD7-EC48-AAA8-594462DBEDD0}"/>
              </a:ext>
            </a:extLst>
          </p:cNvPr>
          <p:cNvSpPr txBox="1"/>
          <p:nvPr/>
        </p:nvSpPr>
        <p:spPr>
          <a:xfrm>
            <a:off x="736600" y="3200400"/>
            <a:ext cx="1574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0F0F0"/>
                </a:solidFill>
                <a:latin typeface="Calibri"/>
                <a:cs typeface="Calibri"/>
              </a:rPr>
              <a:t>Maintenance Tracker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2D0416E-86EC-AE49-993B-2E177A14D013}"/>
              </a:ext>
            </a:extLst>
          </p:cNvPr>
          <p:cNvSpPr/>
          <p:nvPr/>
        </p:nvSpPr>
        <p:spPr>
          <a:xfrm>
            <a:off x="2476500" y="3149600"/>
            <a:ext cx="4445000" cy="431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08B17FD-6C93-F849-8AF9-4F49A25B8645}"/>
              </a:ext>
            </a:extLst>
          </p:cNvPr>
          <p:cNvSpPr txBox="1"/>
          <p:nvPr/>
        </p:nvSpPr>
        <p:spPr>
          <a:xfrm>
            <a:off x="2578100" y="3200400"/>
            <a:ext cx="424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dirty="0">
                <a:solidFill>
                  <a:srgbClr val="E8E0D0"/>
                </a:solidFill>
                <a:latin typeface="Calibri"/>
                <a:cs typeface="Calibri"/>
              </a:rPr>
              <a:t>Flight hours, battery cycles, work orders, predictive alerts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7352718-1771-CD46-9A9B-9DA3360346D5}"/>
              </a:ext>
            </a:extLst>
          </p:cNvPr>
          <p:cNvSpPr/>
          <p:nvPr/>
        </p:nvSpPr>
        <p:spPr>
          <a:xfrm>
            <a:off x="6985000" y="3149600"/>
            <a:ext cx="4572000" cy="431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853814-2CB8-9543-BA21-8806F85F1D17}"/>
              </a:ext>
            </a:extLst>
          </p:cNvPr>
          <p:cNvSpPr txBox="1"/>
          <p:nvPr/>
        </p:nvSpPr>
        <p:spPr>
          <a:xfrm>
            <a:off x="7086600" y="3200400"/>
            <a:ext cx="4368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E8E0D0"/>
                </a:solidFill>
                <a:latin typeface="Calibri"/>
                <a:cs typeface="Calibri"/>
              </a:rPr>
              <a:t>Highest-value ops tool in aviation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635B565-AA58-C845-AF4A-4833158866AF}"/>
              </a:ext>
            </a:extLst>
          </p:cNvPr>
          <p:cNvSpPr/>
          <p:nvPr/>
        </p:nvSpPr>
        <p:spPr>
          <a:xfrm>
            <a:off x="635000" y="3708400"/>
            <a:ext cx="1778000" cy="431800"/>
          </a:xfrm>
          <a:prstGeom prst="rect">
            <a:avLst/>
          </a:prstGeom>
          <a:solidFill>
            <a:srgbClr val="1616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A012CB3-D2C9-474D-92B6-5651A14DD5CA}"/>
              </a:ext>
            </a:extLst>
          </p:cNvPr>
          <p:cNvSpPr txBox="1"/>
          <p:nvPr/>
        </p:nvSpPr>
        <p:spPr>
          <a:xfrm>
            <a:off x="736600" y="3759200"/>
            <a:ext cx="1574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0F0F0"/>
                </a:solidFill>
                <a:latin typeface="Calibri"/>
                <a:cs typeface="Calibri"/>
              </a:rPr>
              <a:t>Compliance Log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37939E-C004-EF48-B31E-F9A5002F51D9}"/>
              </a:ext>
            </a:extLst>
          </p:cNvPr>
          <p:cNvSpPr/>
          <p:nvPr/>
        </p:nvSpPr>
        <p:spPr>
          <a:xfrm>
            <a:off x="2476500" y="3708400"/>
            <a:ext cx="4445000" cy="431800"/>
          </a:xfrm>
          <a:prstGeom prst="rect">
            <a:avLst/>
          </a:prstGeom>
          <a:solidFill>
            <a:srgbClr val="1616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6DB2E46-E129-3442-8E44-3E644A1C1072}"/>
              </a:ext>
            </a:extLst>
          </p:cNvPr>
          <p:cNvSpPr txBox="1"/>
          <p:nvPr/>
        </p:nvSpPr>
        <p:spPr>
          <a:xfrm>
            <a:off x="2578100" y="3759200"/>
            <a:ext cx="424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E8E0D0"/>
                </a:solidFill>
                <a:latin typeface="Calibri"/>
                <a:cs typeface="Calibri"/>
              </a:rPr>
              <a:t>FAA Part 135/107, LAANC, incident logs, audit trail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2BC3583-695B-644D-9780-A7D6CAF0216C}"/>
              </a:ext>
            </a:extLst>
          </p:cNvPr>
          <p:cNvSpPr/>
          <p:nvPr/>
        </p:nvSpPr>
        <p:spPr>
          <a:xfrm>
            <a:off x="6985000" y="3708400"/>
            <a:ext cx="4572000" cy="431800"/>
          </a:xfrm>
          <a:prstGeom prst="rect">
            <a:avLst/>
          </a:prstGeom>
          <a:solidFill>
            <a:srgbClr val="1616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D084174-8D63-E64E-A559-0E3952C2F4BB}"/>
              </a:ext>
            </a:extLst>
          </p:cNvPr>
          <p:cNvSpPr txBox="1"/>
          <p:nvPr/>
        </p:nvSpPr>
        <p:spPr>
          <a:xfrm>
            <a:off x="7086600" y="3759200"/>
            <a:ext cx="4368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E8E0D0"/>
                </a:solidFill>
                <a:latin typeface="Calibri"/>
                <a:cs typeface="Calibri"/>
              </a:rPr>
              <a:t>Compliance built in from day one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D48ACA7-1A98-F542-9F86-5C91D1EBDB56}"/>
              </a:ext>
            </a:extLst>
          </p:cNvPr>
          <p:cNvSpPr/>
          <p:nvPr/>
        </p:nvSpPr>
        <p:spPr>
          <a:xfrm>
            <a:off x="635000" y="4267200"/>
            <a:ext cx="1778000" cy="431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EF610AE-F73F-1C4F-A191-F828965307A5}"/>
              </a:ext>
            </a:extLst>
          </p:cNvPr>
          <p:cNvSpPr txBox="1"/>
          <p:nvPr/>
        </p:nvSpPr>
        <p:spPr>
          <a:xfrm>
            <a:off x="736600" y="4318000"/>
            <a:ext cx="1574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0F0F0"/>
                </a:solidFill>
                <a:latin typeface="Calibri"/>
                <a:cs typeface="Calibri"/>
              </a:rPr>
              <a:t>Analytics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EEB6E10-33C9-1C41-878F-FFA5F92BD6CB}"/>
              </a:ext>
            </a:extLst>
          </p:cNvPr>
          <p:cNvSpPr/>
          <p:nvPr/>
        </p:nvSpPr>
        <p:spPr>
          <a:xfrm>
            <a:off x="2476500" y="4267200"/>
            <a:ext cx="4445000" cy="431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625F6A-018A-A745-B682-9642548F2F88}"/>
              </a:ext>
            </a:extLst>
          </p:cNvPr>
          <p:cNvSpPr txBox="1"/>
          <p:nvPr/>
        </p:nvSpPr>
        <p:spPr>
          <a:xfrm>
            <a:off x="2578100" y="4318000"/>
            <a:ext cx="424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E8E0D0"/>
                </a:solidFill>
                <a:latin typeface="Calibri"/>
                <a:cs typeface="Calibri"/>
              </a:rPr>
              <a:t>Cost per flight hour, utilization, downtime, revenue performance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9C48DC2-70D3-9445-BBD4-69B482A49FF2}"/>
              </a:ext>
            </a:extLst>
          </p:cNvPr>
          <p:cNvSpPr/>
          <p:nvPr/>
        </p:nvSpPr>
        <p:spPr>
          <a:xfrm>
            <a:off x="6985000" y="4267200"/>
            <a:ext cx="4572000" cy="431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6A3ABB-F90C-E445-8E91-BE8CB385FC8D}"/>
              </a:ext>
            </a:extLst>
          </p:cNvPr>
          <p:cNvSpPr txBox="1"/>
          <p:nvPr/>
        </p:nvSpPr>
        <p:spPr>
          <a:xfrm>
            <a:off x="7086600" y="4318000"/>
            <a:ext cx="4368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E8E0D0"/>
                </a:solidFill>
                <a:latin typeface="Calibri"/>
                <a:cs typeface="Calibri"/>
              </a:rPr>
              <a:t>Operators flying blind on unit economics won't survive scale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84EDC64-B894-F248-AE84-74C8E72BB002}"/>
              </a:ext>
            </a:extLst>
          </p:cNvPr>
          <p:cNvSpPr/>
          <p:nvPr/>
        </p:nvSpPr>
        <p:spPr>
          <a:xfrm>
            <a:off x="635000" y="5003800"/>
            <a:ext cx="10922000" cy="762000"/>
          </a:xfrm>
          <a:prstGeom prst="rect">
            <a:avLst/>
          </a:prstGeom>
          <a:solidFill>
            <a:srgbClr val="18181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DB78D14-BA06-0245-98B9-B12161DCC1EE}"/>
              </a:ext>
            </a:extLst>
          </p:cNvPr>
          <p:cNvSpPr/>
          <p:nvPr/>
        </p:nvSpPr>
        <p:spPr>
          <a:xfrm>
            <a:off x="635000" y="5003800"/>
            <a:ext cx="38100" cy="635000"/>
          </a:xfrm>
          <a:prstGeom prst="rect">
            <a:avLst/>
          </a:prstGeom>
          <a:solidFill>
            <a:srgbClr val="C8B89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FBED95-C876-EB43-A23B-3FB655629F58}"/>
              </a:ext>
            </a:extLst>
          </p:cNvPr>
          <p:cNvSpPr txBox="1"/>
          <p:nvPr/>
        </p:nvSpPr>
        <p:spPr>
          <a:xfrm>
            <a:off x="787400" y="5080000"/>
            <a:ext cx="10668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E8E0D0"/>
                </a:solidFill>
                <a:latin typeface="Calibri"/>
                <a:cs typeface="Calibri"/>
              </a:rPr>
              <a:t>Business model: $200–500 per aircraft / month SaaS. Basis: Samsara charges ~$100–150/vehicle/month for trucking. Aviation compliance liability justifies the premium. Hypothesis, not yet validated.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C4D95F3-E161-8BAD-1F06-1B24CB136890}"/>
              </a:ext>
            </a:extLst>
          </p:cNvPr>
          <p:cNvGrpSpPr/>
          <p:nvPr/>
        </p:nvGrpSpPr>
        <p:grpSpPr>
          <a:xfrm>
            <a:off x="635000" y="6477000"/>
            <a:ext cx="10922000" cy="343188"/>
            <a:chOff x="635000" y="6477000"/>
            <a:chExt cx="10922000" cy="343188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7DDA2AC-4B45-67E5-84FD-7563EAE7BB66}"/>
                </a:ext>
              </a:extLst>
            </p:cNvPr>
            <p:cNvSpPr/>
            <p:nvPr/>
          </p:nvSpPr>
          <p:spPr>
            <a:xfrm>
              <a:off x="635000" y="6477000"/>
              <a:ext cx="10922000" cy="12700"/>
            </a:xfrm>
            <a:prstGeom prst="rect">
              <a:avLst/>
            </a:prstGeom>
            <a:solidFill>
              <a:srgbClr val="333333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0435658-7354-3B0B-568B-1313CBAC7B5A}"/>
                </a:ext>
              </a:extLst>
            </p:cNvPr>
            <p:cNvSpPr txBox="1"/>
            <p:nvPr/>
          </p:nvSpPr>
          <p:spPr>
            <a:xfrm>
              <a:off x="635000" y="6527800"/>
              <a:ext cx="10922000" cy="29238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en-US" sz="1300" dirty="0">
                  <a:solidFill>
                    <a:srgbClr val="555555"/>
                  </a:solidFill>
                  <a:latin typeface="Calibri"/>
                  <a:cs typeface="Calibri"/>
                </a:rPr>
                <a:t>eVTOL Research Brief · UIUC 2026          CONFIDENTIAL · FOR DISCUSSION PURPOSES ONLY          05 / 09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4299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AF4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8D8B09-5709-3746-8B1B-1D42477542C4}"/>
              </a:ext>
            </a:extLst>
          </p:cNvPr>
          <p:cNvSpPr txBox="1"/>
          <p:nvPr/>
        </p:nvSpPr>
        <p:spPr>
          <a:xfrm>
            <a:off x="635000" y="355600"/>
            <a:ext cx="381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555555"/>
                </a:solidFill>
                <a:latin typeface="Calibri"/>
                <a:cs typeface="Calibri"/>
              </a:rPr>
              <a:t>THE TEAM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18BAEB-C99A-4141-9878-85FA8FC0165D}"/>
              </a:ext>
            </a:extLst>
          </p:cNvPr>
          <p:cNvSpPr txBox="1"/>
          <p:nvPr/>
        </p:nvSpPr>
        <p:spPr>
          <a:xfrm>
            <a:off x="635000" y="609600"/>
            <a:ext cx="10922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1A1A1A"/>
                </a:solidFill>
                <a:latin typeface="Georgia"/>
              </a:rPr>
              <a:t>Two UIUC engineers who understand both
the domain and the software problem.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7715EA-8DA3-32BD-CEAB-238F503A9550}"/>
              </a:ext>
            </a:extLst>
          </p:cNvPr>
          <p:cNvGrpSpPr/>
          <p:nvPr/>
        </p:nvGrpSpPr>
        <p:grpSpPr>
          <a:xfrm>
            <a:off x="635000" y="6477000"/>
            <a:ext cx="10922000" cy="343188"/>
            <a:chOff x="635000" y="6477000"/>
            <a:chExt cx="10922000" cy="343188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B6FFF54-0F6A-2D97-42A0-8D952EB6E62F}"/>
                </a:ext>
              </a:extLst>
            </p:cNvPr>
            <p:cNvSpPr/>
            <p:nvPr/>
          </p:nvSpPr>
          <p:spPr>
            <a:xfrm>
              <a:off x="635000" y="6477000"/>
              <a:ext cx="10922000" cy="12700"/>
            </a:xfrm>
            <a:prstGeom prst="rect">
              <a:avLst/>
            </a:prstGeom>
            <a:solidFill>
              <a:srgbClr val="333333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BBD364C-052A-2779-B567-D6E447781422}"/>
                </a:ext>
              </a:extLst>
            </p:cNvPr>
            <p:cNvSpPr txBox="1"/>
            <p:nvPr/>
          </p:nvSpPr>
          <p:spPr>
            <a:xfrm>
              <a:off x="635000" y="6527800"/>
              <a:ext cx="10922000" cy="29238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en-US" sz="1300" dirty="0">
                  <a:solidFill>
                    <a:srgbClr val="555555"/>
                  </a:solidFill>
                  <a:latin typeface="Calibri"/>
                  <a:cs typeface="Calibri"/>
                </a:rPr>
                <a:t>eVTOL Research Brief · UIUC 2026          CONFIDENTIAL · FOR DISCUSSION PURPOSES ONLY          06 / 09</a:t>
              </a:r>
            </a:p>
          </p:txBody>
        </p:sp>
      </p:grpSp>
      <p:sp>
        <p:nvSpPr>
          <p:cNvPr id="50" name="CenterLine"/>
          <p:cNvSpPr>
            <a:spLocks noGrp="1"/>
          </p:cNvSpPr>
          <p:nvPr/>
        </p:nvSpPr>
        <p:spPr>
          <a:xfrm>
            <a:off x="4195080" y="1714500"/>
            <a:ext cx="9144" cy="3937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AaravName"/>
          <p:cNvSpPr>
            <a:spLocks noGrp="1"/>
          </p:cNvSpPr>
          <p:nvPr/>
        </p:nvSpPr>
        <p:spPr>
          <a:xfrm>
            <a:off x="457200" y="1714500"/>
            <a:ext cx="3657600" cy="508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en-US" sz="3200" b="1" dirty="0">
                <a:solidFill>
                  <a:srgbClr val="1A1A1A"/>
                </a:solidFill>
                <a:latin typeface="Georgia"/>
              </a:rPr>
              <a:t>Aarav Verma</a:t>
            </a:r>
          </a:p>
        </p:txBody>
      </p:sp>
      <p:sp>
        <p:nvSpPr>
          <p:cNvPr id="52" name="AaravRole"/>
          <p:cNvSpPr>
            <a:spLocks noGrp="1"/>
          </p:cNvSpPr>
          <p:nvPr/>
        </p:nvSpPr>
        <p:spPr>
          <a:xfrm>
            <a:off x="457200" y="2260600"/>
            <a:ext cx="3657600" cy="279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sz="1400" b="1" dirty="0">
                <a:solidFill>
                  <a:srgbClr val="9A7D55"/>
                </a:solidFill>
                <a:latin typeface="Calibri"/>
              </a:rPr>
              <a:t>Aerospace Engineering · UIUC · Co-founder</a:t>
            </a:r>
          </a:p>
        </p:txBody>
      </p:sp>
      <p:sp>
        <p:nvSpPr>
          <p:cNvPr id="53" name="AaravRule"/>
          <p:cNvSpPr>
            <a:spLocks noGrp="1"/>
          </p:cNvSpPr>
          <p:nvPr/>
        </p:nvSpPr>
        <p:spPr>
          <a:xfrm>
            <a:off x="457200" y="2578100"/>
            <a:ext cx="3657600" cy="12700"/>
          </a:xfrm>
          <a:prstGeom prst="rect">
            <a:avLst/>
          </a:prstGeom>
          <a:solidFill>
            <a:srgbClr val="9A7D5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" name="AaravBio"/>
          <p:cNvSpPr>
            <a:spLocks noGrp="1"/>
          </p:cNvSpPr>
          <p:nvPr/>
        </p:nvSpPr>
        <p:spPr>
          <a:xfrm>
            <a:off x="457200" y="2641600"/>
            <a:ext cx="3657600" cy="29210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r>
              <a:rPr lang="en-US" sz="1500" dirty="0">
                <a:solidFill>
                  <a:srgbClr val="1A1A1A"/>
                </a:solidFill>
                <a:latin typeface="Calibri"/>
              </a:rPr>
              <a:t>Product vision, outreach, and pitch. Understands the FAA regulatory landscape, eVTOL certification timelines, and the operational differences between drone and eVTOL fleets.</a:t>
            </a:r>
          </a:p>
        </p:txBody>
      </p:sp>
      <p:sp>
        <p:nvSpPr>
          <p:cNvPr id="60" name="TharunName"/>
          <p:cNvSpPr>
            <a:spLocks noGrp="1"/>
          </p:cNvSpPr>
          <p:nvPr/>
        </p:nvSpPr>
        <p:spPr>
          <a:xfrm>
            <a:off x="4267200" y="1714500"/>
            <a:ext cx="3657600" cy="508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lang="en-US" sz="3200" b="1" dirty="0">
                <a:solidFill>
                  <a:srgbClr val="1A1A1A"/>
                </a:solidFill>
                <a:latin typeface="Georgia"/>
              </a:rPr>
              <a:t>Tharun</a:t>
            </a:r>
          </a:p>
        </p:txBody>
      </p:sp>
      <p:sp>
        <p:nvSpPr>
          <p:cNvPr id="61" name="TharunRole"/>
          <p:cNvSpPr>
            <a:spLocks noGrp="1"/>
          </p:cNvSpPr>
          <p:nvPr/>
        </p:nvSpPr>
        <p:spPr>
          <a:xfrm>
            <a:off x="4267200" y="2260600"/>
            <a:ext cx="3657600" cy="279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sz="1400" b="1" dirty="0">
                <a:solidFill>
                  <a:srgbClr val="9A7D55"/>
                </a:solidFill>
                <a:latin typeface="Calibri"/>
              </a:rPr>
              <a:t>Materials Science · UIUC · Co-founder</a:t>
            </a:r>
          </a:p>
        </p:txBody>
      </p:sp>
      <p:sp>
        <p:nvSpPr>
          <p:cNvPr id="62" name="TharunRule"/>
          <p:cNvSpPr>
            <a:spLocks noGrp="1"/>
          </p:cNvSpPr>
          <p:nvPr/>
        </p:nvSpPr>
        <p:spPr>
          <a:xfrm>
            <a:off x="4267200" y="2578100"/>
            <a:ext cx="3657600" cy="12700"/>
          </a:xfrm>
          <a:prstGeom prst="rect">
            <a:avLst/>
          </a:prstGeom>
          <a:solidFill>
            <a:srgbClr val="9A7D5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" name="TharunBio"/>
          <p:cNvSpPr>
            <a:spLocks noGrp="1"/>
          </p:cNvSpPr>
          <p:nvPr/>
        </p:nvSpPr>
        <p:spPr>
          <a:xfrm>
            <a:off x="4267200" y="2641600"/>
            <a:ext cx="3657600" cy="29210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r>
              <a:rPr lang="en-US" sz="1500" dirty="0">
                <a:solidFill>
                  <a:srgbClr val="1A1A1A"/>
                </a:solidFill>
                <a:latin typeface="Calibri"/>
              </a:rPr>
              <a:t>Battery degradation modeling and materials-level understanding of eVTOL hardware — directly applicable to SOC/SOH tracking and predictive maintenance algorithms.</a:t>
            </a:r>
          </a:p>
        </p:txBody>
      </p:sp>
      <p:sp>
        <p:nvSpPr>
          <p:cNvPr id="70" name="QuoteBar"/>
          <p:cNvSpPr>
            <a:spLocks noGrp="1"/>
          </p:cNvSpPr>
          <p:nvPr/>
        </p:nvSpPr>
        <p:spPr>
          <a:xfrm>
            <a:off x="457200" y="5715000"/>
            <a:ext cx="8229600" cy="12700"/>
          </a:xfrm>
          <a:prstGeom prst="rect">
            <a:avLst/>
          </a:prstGeom>
          <a:solidFill>
            <a:srgbClr val="9A7D5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1" name="QuoteText"/>
          <p:cNvSpPr>
            <a:spLocks noGrp="1"/>
          </p:cNvSpPr>
          <p:nvPr/>
        </p:nvSpPr>
        <p:spPr>
          <a:xfrm>
            <a:off x="457200" y="5791200"/>
            <a:ext cx="8229600" cy="5080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r>
              <a:rPr lang="en-US" sz="1300" i="1" dirty="0">
                <a:solidFill>
                  <a:srgbClr val="5A5A5A"/>
                </a:solidFill>
                <a:latin typeface="Georgia"/>
              </a:rPr>
              <a:t>“Why Archer specifically: You’re furthest along toward commercial operations. The fleet ops software decisions being made right now will shape how the whole industry approaches this problem.”</a:t>
            </a:r>
          </a:p>
        </p:txBody>
      </p:sp>
    </p:spTree>
    <p:extLst>
      <p:ext uri="{BB962C8B-B14F-4D97-AF65-F5344CB8AC3E}">
        <p14:creationId xmlns:p14="http://schemas.microsoft.com/office/powerpoint/2010/main" val="3132229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AF4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F7AAAE-B3C0-8D48-AFCC-A63935E7EA76}"/>
              </a:ext>
            </a:extLst>
          </p:cNvPr>
          <p:cNvSpPr txBox="1"/>
          <p:nvPr/>
        </p:nvSpPr>
        <p:spPr>
          <a:xfrm>
            <a:off x="635000" y="355600"/>
            <a:ext cx="508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555555"/>
                </a:solidFill>
                <a:latin typeface="Calibri"/>
                <a:cs typeface="Calibri"/>
              </a:rPr>
              <a:t>WHY WE’RE REACHING OUT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93D96-38BD-9445-B9D1-6602C3E39EDC}"/>
              </a:ext>
            </a:extLst>
          </p:cNvPr>
          <p:cNvSpPr txBox="1"/>
          <p:nvPr/>
        </p:nvSpPr>
        <p:spPr>
          <a:xfrm>
            <a:off x="635000" y="609600"/>
            <a:ext cx="1092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1A1A1A"/>
                </a:solidFill>
                <a:latin typeface="Georgia"/>
              </a:rPr>
              <a:t>Three questions — and an open door if any of this resonates.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E325263-D29B-0A3C-CD4F-4CFEA34A1ADB}"/>
              </a:ext>
            </a:extLst>
          </p:cNvPr>
          <p:cNvGrpSpPr/>
          <p:nvPr/>
        </p:nvGrpSpPr>
        <p:grpSpPr>
          <a:xfrm>
            <a:off x="635000" y="6477000"/>
            <a:ext cx="10922000" cy="343188"/>
            <a:chOff x="635000" y="6477000"/>
            <a:chExt cx="10922000" cy="343188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177CA41-8DC9-9C34-EEC3-1D9C9EF8041B}"/>
                </a:ext>
              </a:extLst>
            </p:cNvPr>
            <p:cNvSpPr/>
            <p:nvPr/>
          </p:nvSpPr>
          <p:spPr>
            <a:xfrm>
              <a:off x="635000" y="6477000"/>
              <a:ext cx="10922000" cy="12700"/>
            </a:xfrm>
            <a:prstGeom prst="rect">
              <a:avLst/>
            </a:prstGeom>
            <a:solidFill>
              <a:srgbClr val="333333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865BAF-B9E6-6F89-A6AF-375275D39885}"/>
                </a:ext>
              </a:extLst>
            </p:cNvPr>
            <p:cNvSpPr txBox="1"/>
            <p:nvPr/>
          </p:nvSpPr>
          <p:spPr>
            <a:xfrm>
              <a:off x="635000" y="6527800"/>
              <a:ext cx="10922000" cy="29238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en-US" sz="1300" dirty="0">
                  <a:solidFill>
                    <a:srgbClr val="555555"/>
                  </a:solidFill>
                  <a:latin typeface="Calibri"/>
                  <a:cs typeface="Calibri"/>
                </a:rPr>
                <a:t>eVTOL Research Brief · UIUC 2026          CONFIDENTIAL · FOR DISCUSSION PURPOSES ONLY          07 / 09</a:t>
              </a:r>
            </a:p>
          </p:txBody>
        </p:sp>
      </p:grpSp>
      <p:sp>
        <p:nvSpPr>
          <p:cNvPr id="20" name="Num0"/>
          <p:cNvSpPr>
            <a:spLocks noGrp="1"/>
          </p:cNvSpPr>
          <p:nvPr/>
        </p:nvSpPr>
        <p:spPr>
          <a:xfrm>
            <a:off x="457200" y="1689100"/>
            <a:ext cx="658368" cy="914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r>
              <a:rPr lang="en-US" sz="2800" b="1" dirty="0">
                <a:solidFill>
                  <a:srgbClr val="9A7D55"/>
                </a:solidFill>
                <a:latin typeface="Georgia"/>
              </a:rPr>
              <a:t>01</a:t>
            </a:r>
          </a:p>
        </p:txBody>
      </p:sp>
      <p:sp>
        <p:nvSpPr>
          <p:cNvPr id="21" name="VRule0"/>
          <p:cNvSpPr>
            <a:spLocks noGrp="1"/>
          </p:cNvSpPr>
          <p:nvPr/>
        </p:nvSpPr>
        <p:spPr>
          <a:xfrm>
            <a:off x="1225296" y="1689100"/>
            <a:ext cx="9144" cy="914400"/>
          </a:xfrm>
          <a:prstGeom prst="rect">
            <a:avLst/>
          </a:prstGeom>
          <a:solidFill>
            <a:srgbClr val="9A7D5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Q0"/>
          <p:cNvSpPr>
            <a:spLocks noGrp="1"/>
          </p:cNvSpPr>
          <p:nvPr/>
        </p:nvSpPr>
        <p:spPr>
          <a:xfrm>
            <a:off x="1280160" y="1638300"/>
            <a:ext cx="7040880" cy="10414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r>
              <a:rPr lang="en-US" sz="1500" dirty="0">
                <a:solidFill>
                  <a:srgbClr val="1A1A1A"/>
                </a:solidFill>
                <a:latin typeface="Calibri"/>
              </a:rPr>
              <a:t>Does Archer have — or plan to build — purpose-built fleet operations software? Specifically the fleet ops layer: dispatch, maintenance tracking, FAA compliance logging — not Palantir, NVIDIA, or SpaceX which cover autonomy and flight controls.</a:t>
            </a:r>
          </a:p>
        </p:txBody>
      </p:sp>
      <p:sp>
        <p:nvSpPr>
          <p:cNvPr id="23" name="HSep0"/>
          <p:cNvSpPr>
            <a:spLocks noGrp="1"/>
          </p:cNvSpPr>
          <p:nvPr/>
        </p:nvSpPr>
        <p:spPr>
          <a:xfrm>
            <a:off x="457200" y="2832100"/>
            <a:ext cx="7863840" cy="9144"/>
          </a:xfrm>
          <a:prstGeom prst="rect">
            <a:avLst/>
          </a:prstGeom>
          <a:solidFill>
            <a:srgbClr val="D8CFC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Num1"/>
          <p:cNvSpPr>
            <a:spLocks noGrp="1"/>
          </p:cNvSpPr>
          <p:nvPr/>
        </p:nvSpPr>
        <p:spPr>
          <a:xfrm>
            <a:off x="457200" y="3111500"/>
            <a:ext cx="658368" cy="914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r>
              <a:rPr lang="en-US" sz="2800" b="1" dirty="0">
                <a:solidFill>
                  <a:srgbClr val="9A7D55"/>
                </a:solidFill>
                <a:latin typeface="Georgia"/>
              </a:rPr>
              <a:t>02</a:t>
            </a:r>
          </a:p>
        </p:txBody>
      </p:sp>
      <p:sp>
        <p:nvSpPr>
          <p:cNvPr id="31" name="VRule1"/>
          <p:cNvSpPr>
            <a:spLocks noGrp="1"/>
          </p:cNvSpPr>
          <p:nvPr/>
        </p:nvSpPr>
        <p:spPr>
          <a:xfrm>
            <a:off x="1225296" y="3111500"/>
            <a:ext cx="9144" cy="914400"/>
          </a:xfrm>
          <a:prstGeom prst="rect">
            <a:avLst/>
          </a:prstGeom>
          <a:solidFill>
            <a:srgbClr val="9A7D5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" name="Q1"/>
          <p:cNvSpPr>
            <a:spLocks noGrp="1"/>
          </p:cNvSpPr>
          <p:nvPr/>
        </p:nvSpPr>
        <p:spPr>
          <a:xfrm>
            <a:off x="1280160" y="3060700"/>
            <a:ext cx="7040880" cy="10414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r>
              <a:rPr lang="en-US" sz="1500" dirty="0">
                <a:solidFill>
                  <a:srgbClr val="1A1A1A"/>
                </a:solidFill>
                <a:latin typeface="Calibri"/>
              </a:rPr>
              <a:t>If building in-house, is there appetite to work with an outside team on specific components — or pilot a third-party platform? We're not assuming yes. Genuinely asking.</a:t>
            </a:r>
          </a:p>
        </p:txBody>
      </p:sp>
      <p:sp>
        <p:nvSpPr>
          <p:cNvPr id="33" name="HSep1"/>
          <p:cNvSpPr>
            <a:spLocks noGrp="1"/>
          </p:cNvSpPr>
          <p:nvPr/>
        </p:nvSpPr>
        <p:spPr>
          <a:xfrm>
            <a:off x="457200" y="4254500"/>
            <a:ext cx="7863840" cy="9144"/>
          </a:xfrm>
          <a:prstGeom prst="rect">
            <a:avLst/>
          </a:prstGeom>
          <a:solidFill>
            <a:srgbClr val="D8CFC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Num2"/>
          <p:cNvSpPr>
            <a:spLocks noGrp="1"/>
          </p:cNvSpPr>
          <p:nvPr/>
        </p:nvSpPr>
        <p:spPr>
          <a:xfrm>
            <a:off x="457200" y="4533900"/>
            <a:ext cx="658368" cy="914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r>
              <a:rPr lang="en-US" sz="2800" b="1" dirty="0">
                <a:solidFill>
                  <a:srgbClr val="9A7D55"/>
                </a:solidFill>
                <a:latin typeface="Georgia"/>
              </a:rPr>
              <a:t>03</a:t>
            </a:r>
          </a:p>
        </p:txBody>
      </p:sp>
      <p:sp>
        <p:nvSpPr>
          <p:cNvPr id="41" name="VRule2"/>
          <p:cNvSpPr>
            <a:spLocks noGrp="1"/>
          </p:cNvSpPr>
          <p:nvPr/>
        </p:nvSpPr>
        <p:spPr>
          <a:xfrm>
            <a:off x="1225296" y="4533900"/>
            <a:ext cx="9144" cy="914400"/>
          </a:xfrm>
          <a:prstGeom prst="rect">
            <a:avLst/>
          </a:prstGeom>
          <a:solidFill>
            <a:srgbClr val="9A7D5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Q2"/>
          <p:cNvSpPr>
            <a:spLocks noGrp="1"/>
          </p:cNvSpPr>
          <p:nvPr/>
        </p:nvSpPr>
        <p:spPr>
          <a:xfrm>
            <a:off x="1280160" y="4483100"/>
            <a:ext cx="7040880" cy="10414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r>
              <a:rPr lang="en-US" sz="1500" dirty="0">
                <a:solidFill>
                  <a:srgbClr val="1A1A1A"/>
                </a:solidFill>
                <a:latin typeface="Calibri"/>
              </a:rPr>
              <a:t>Who at Archer is the right person to continue this conversation? Looking for whoever owns the fleet operations or digital technology roadmap.</a:t>
            </a:r>
          </a:p>
        </p:txBody>
      </p:sp>
      <p:sp>
        <p:nvSpPr>
          <p:cNvPr id="70" name="ContactRule"/>
          <p:cNvSpPr>
            <a:spLocks noGrp="1"/>
          </p:cNvSpPr>
          <p:nvPr/>
        </p:nvSpPr>
        <p:spPr>
          <a:xfrm>
            <a:off x="457200" y="5765800"/>
            <a:ext cx="7863840" cy="9144"/>
          </a:xfrm>
          <a:prstGeom prst="rect">
            <a:avLst/>
          </a:prstGeom>
          <a:solidFill>
            <a:srgbClr val="9A7D5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1" name="Contact"/>
          <p:cNvSpPr>
            <a:spLocks noGrp="1"/>
          </p:cNvSpPr>
          <p:nvPr/>
        </p:nvSpPr>
        <p:spPr>
          <a:xfrm>
            <a:off x="457200" y="5842000"/>
            <a:ext cx="7863840" cy="4318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r>
              <a:rPr lang="en-US" sz="1200" dirty="0">
                <a:solidFill>
                  <a:srgbClr val="5A5A5A"/>
                </a:solidFill>
                <a:latin typeface="Calibri"/>
              </a:rPr>
              <a:t>Aarav Verma  ·  vermaa0118@gmail.com  ·  [phone]  ·  Aerospace Engineering, UIUC</a:t>
            </a:r>
          </a:p>
        </p:txBody>
      </p:sp>
    </p:spTree>
    <p:extLst>
      <p:ext uri="{BB962C8B-B14F-4D97-AF65-F5344CB8AC3E}">
        <p14:creationId xmlns:p14="http://schemas.microsoft.com/office/powerpoint/2010/main" val="32922808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AF4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60F1C4-422A-6148-85D5-2459109D4D8D}"/>
              </a:ext>
            </a:extLst>
          </p:cNvPr>
          <p:cNvSpPr txBox="1"/>
          <p:nvPr/>
        </p:nvSpPr>
        <p:spPr>
          <a:xfrm>
            <a:off x="635000" y="355600"/>
            <a:ext cx="508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555555"/>
                </a:solidFill>
                <a:latin typeface="Calibri"/>
                <a:cs typeface="Calibri"/>
              </a:rPr>
              <a:t>COMPETITIVE LANDSCAPE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D62641-185B-5944-A20B-0642EB6A72A4}"/>
              </a:ext>
            </a:extLst>
          </p:cNvPr>
          <p:cNvSpPr txBox="1"/>
          <p:nvPr/>
        </p:nvSpPr>
        <p:spPr>
          <a:xfrm>
            <a:off x="635000" y="609600"/>
            <a:ext cx="1092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1A1A1A"/>
                </a:solidFill>
                <a:latin typeface="Georgia"/>
              </a:rPr>
              <a:t>No one has built the full stack for aviation fleet operations.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686B886-9853-4303-CC14-E31C8E560BAF}"/>
              </a:ext>
            </a:extLst>
          </p:cNvPr>
          <p:cNvGrpSpPr/>
          <p:nvPr/>
        </p:nvGrpSpPr>
        <p:grpSpPr>
          <a:xfrm>
            <a:off x="635000" y="6477000"/>
            <a:ext cx="10922000" cy="343188"/>
            <a:chOff x="635000" y="6477000"/>
            <a:chExt cx="10922000" cy="343188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FC7BA5D-0C9E-2564-E235-C5A286BD98DA}"/>
                </a:ext>
              </a:extLst>
            </p:cNvPr>
            <p:cNvSpPr/>
            <p:nvPr/>
          </p:nvSpPr>
          <p:spPr>
            <a:xfrm>
              <a:off x="635000" y="6477000"/>
              <a:ext cx="10922000" cy="12700"/>
            </a:xfrm>
            <a:prstGeom prst="rect">
              <a:avLst/>
            </a:prstGeom>
            <a:solidFill>
              <a:srgbClr val="333333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2215091-3EF1-9393-ADC5-ED1CED574AC3}"/>
                </a:ext>
              </a:extLst>
            </p:cNvPr>
            <p:cNvSpPr txBox="1"/>
            <p:nvPr/>
          </p:nvSpPr>
          <p:spPr>
            <a:xfrm>
              <a:off x="635000" y="6527800"/>
              <a:ext cx="10922000" cy="29238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en-US" sz="1300" dirty="0">
                  <a:solidFill>
                    <a:srgbClr val="555555"/>
                  </a:solidFill>
                  <a:latin typeface="Calibri"/>
                  <a:cs typeface="Calibri"/>
                </a:rPr>
                <a:t>eVTOL Research Brief · UIUC 2026          CONFIDENTIAL · FOR DISCUSSION PURPOSES ONLY          08 / 09</a:t>
              </a:r>
            </a:p>
          </p:txBody>
        </p:sp>
      </p:grpSp>
      <p:sp>
        <p:nvSpPr>
          <p:cNvPr id="40" name="HeaderBar"/>
          <p:cNvSpPr>
            <a:spLocks noGrp="1"/>
          </p:cNvSpPr>
          <p:nvPr/>
        </p:nvSpPr>
        <p:spPr>
          <a:xfrm>
            <a:off x="635000" y="1092200"/>
            <a:ext cx="10922000" cy="330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ColLabel1"/>
          <p:cNvSpPr>
            <a:spLocks noGrp="1"/>
          </p:cNvSpPr>
          <p:nvPr/>
        </p:nvSpPr>
        <p:spPr>
          <a:xfrm>
            <a:off x="736600" y="1117600"/>
            <a:ext cx="2794000" cy="2794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1300" b="1" dirty="0">
                <a:solidFill>
                  <a:srgbClr val="C8B89A"/>
                </a:solidFill>
                <a:latin typeface="Calibri"/>
              </a:rPr>
              <a:t>COMPETITOR</a:t>
            </a:r>
          </a:p>
        </p:txBody>
      </p:sp>
      <p:sp>
        <p:nvSpPr>
          <p:cNvPr id="42" name="ColLabel2"/>
          <p:cNvSpPr>
            <a:spLocks noGrp="1"/>
          </p:cNvSpPr>
          <p:nvPr/>
        </p:nvSpPr>
        <p:spPr>
          <a:xfrm>
            <a:off x="3784600" y="1117600"/>
            <a:ext cx="7670800" cy="2794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1300" b="1" dirty="0">
                <a:solidFill>
                  <a:srgbClr val="C8B89A"/>
                </a:solidFill>
                <a:latin typeface="Calibri"/>
              </a:rPr>
              <a:t>WHY IT FALLS SHORT</a:t>
            </a:r>
          </a:p>
        </p:txBody>
      </p:sp>
      <p:sp>
        <p:nvSpPr>
          <p:cNvPr id="43" name="ColDivider"/>
          <p:cNvSpPr>
            <a:spLocks noGrp="1"/>
          </p:cNvSpPr>
          <p:nvPr/>
        </p:nvSpPr>
        <p:spPr>
          <a:xfrm>
            <a:off x="3632200" y="1092200"/>
            <a:ext cx="12700" cy="330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" name="Row0"/>
          <p:cNvSpPr>
            <a:spLocks noGrp="1"/>
          </p:cNvSpPr>
          <p:nvPr/>
        </p:nvSpPr>
        <p:spPr>
          <a:xfrm>
            <a:off x="635000" y="1422400"/>
            <a:ext cx="10922000" cy="1016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RowDiv0"/>
          <p:cNvSpPr>
            <a:spLocks noGrp="1"/>
          </p:cNvSpPr>
          <p:nvPr/>
        </p:nvSpPr>
        <p:spPr>
          <a:xfrm>
            <a:off x="3632200" y="1422400"/>
            <a:ext cx="12700" cy="1016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Name0"/>
          <p:cNvSpPr>
            <a:spLocks noGrp="1"/>
          </p:cNvSpPr>
          <p:nvPr/>
        </p:nvSpPr>
        <p:spPr>
          <a:xfrm>
            <a:off x="736600" y="1549400"/>
            <a:ext cx="2794000" cy="7874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b="1" dirty="0">
                <a:solidFill>
                  <a:srgbClr val="FFFFFF"/>
                </a:solidFill>
                <a:latin typeface="Georgia"/>
              </a:rPr>
              <a:t>FlytBase</a:t>
            </a:r>
          </a:p>
        </p:txBody>
      </p:sp>
      <p:sp>
        <p:nvSpPr>
          <p:cNvPr id="53" name="Gap0"/>
          <p:cNvSpPr>
            <a:spLocks noGrp="1"/>
          </p:cNvSpPr>
          <p:nvPr/>
        </p:nvSpPr>
        <p:spPr>
          <a:xfrm>
            <a:off x="3784600" y="1549400"/>
            <a:ext cx="7670800" cy="787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sz="1300" dirty="0">
                <a:solidFill>
                  <a:srgbClr val="E8E0D0"/>
                </a:solidFill>
                <a:latin typeface="Calibri"/>
              </a:rPr>
              <a:t>Launched "FlytBase One" Feb 2026. Drone-only. No eVTOL support. Not architected for multi-operator commercial scale.</a:t>
            </a:r>
          </a:p>
        </p:txBody>
      </p:sp>
      <p:sp>
        <p:nvSpPr>
          <p:cNvPr id="55" name="Row1"/>
          <p:cNvSpPr>
            <a:spLocks noGrp="1"/>
          </p:cNvSpPr>
          <p:nvPr/>
        </p:nvSpPr>
        <p:spPr>
          <a:xfrm>
            <a:off x="635000" y="2501900"/>
            <a:ext cx="10922000" cy="10160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6" name="RowDiv1"/>
          <p:cNvSpPr>
            <a:spLocks noGrp="1"/>
          </p:cNvSpPr>
          <p:nvPr/>
        </p:nvSpPr>
        <p:spPr>
          <a:xfrm>
            <a:off x="3632200" y="2501900"/>
            <a:ext cx="12700" cy="1016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7" name="Name1"/>
          <p:cNvSpPr>
            <a:spLocks noGrp="1"/>
          </p:cNvSpPr>
          <p:nvPr/>
        </p:nvSpPr>
        <p:spPr>
          <a:xfrm>
            <a:off x="736600" y="2628900"/>
            <a:ext cx="2794000" cy="7874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b="1" dirty="0">
                <a:solidFill>
                  <a:srgbClr val="FFFFFF"/>
                </a:solidFill>
                <a:latin typeface="Georgia"/>
              </a:rPr>
              <a:t>AlarisPro</a:t>
            </a:r>
          </a:p>
        </p:txBody>
      </p:sp>
      <p:sp>
        <p:nvSpPr>
          <p:cNvPr id="58" name="Gap1"/>
          <p:cNvSpPr>
            <a:spLocks noGrp="1"/>
          </p:cNvSpPr>
          <p:nvPr/>
        </p:nvSpPr>
        <p:spPr>
          <a:xfrm>
            <a:off x="3784600" y="2628900"/>
            <a:ext cx="7670800" cy="787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sz="1300" dirty="0">
                <a:solidFill>
                  <a:srgbClr val="E8E0D0"/>
                </a:solidFill>
                <a:latin typeface="Calibri"/>
              </a:rPr>
              <a:t>Limited to smaller commercial operators. Not built for the compliance complexity of Part 135 passenger operations.</a:t>
            </a:r>
          </a:p>
        </p:txBody>
      </p:sp>
      <p:sp>
        <p:nvSpPr>
          <p:cNvPr id="60" name="Row2"/>
          <p:cNvSpPr>
            <a:spLocks noGrp="1"/>
          </p:cNvSpPr>
          <p:nvPr/>
        </p:nvSpPr>
        <p:spPr>
          <a:xfrm>
            <a:off x="635000" y="3581400"/>
            <a:ext cx="10922000" cy="1016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" name="RowDiv2"/>
          <p:cNvSpPr>
            <a:spLocks noGrp="1"/>
          </p:cNvSpPr>
          <p:nvPr/>
        </p:nvSpPr>
        <p:spPr>
          <a:xfrm>
            <a:off x="3632200" y="3581400"/>
            <a:ext cx="12700" cy="1016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" name="Name2"/>
          <p:cNvSpPr>
            <a:spLocks noGrp="1"/>
          </p:cNvSpPr>
          <p:nvPr/>
        </p:nvSpPr>
        <p:spPr>
          <a:xfrm>
            <a:off x="736600" y="3708400"/>
            <a:ext cx="2794000" cy="7874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b="1" dirty="0">
                <a:solidFill>
                  <a:srgbClr val="FFFFFF"/>
                </a:solidFill>
                <a:latin typeface="Georgia"/>
              </a:rPr>
              <a:t>AirData UAV</a:t>
            </a:r>
          </a:p>
        </p:txBody>
      </p:sp>
      <p:sp>
        <p:nvSpPr>
          <p:cNvPr id="63" name="Gap2"/>
          <p:cNvSpPr>
            <a:spLocks noGrp="1"/>
          </p:cNvSpPr>
          <p:nvPr/>
        </p:nvSpPr>
        <p:spPr>
          <a:xfrm>
            <a:off x="3784600" y="3708400"/>
            <a:ext cx="7670800" cy="787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sz="1300" dirty="0">
                <a:solidFill>
                  <a:srgbClr val="E8E0D0"/>
                </a:solidFill>
                <a:latin typeface="Calibri"/>
              </a:rPr>
              <a:t>Post-flight log ingestion and analytics. Not a real-time ops or dispatch platform. No maintenance workflow.</a:t>
            </a:r>
          </a:p>
        </p:txBody>
      </p:sp>
      <p:sp>
        <p:nvSpPr>
          <p:cNvPr id="65" name="Row3"/>
          <p:cNvSpPr>
            <a:spLocks noGrp="1"/>
          </p:cNvSpPr>
          <p:nvPr/>
        </p:nvSpPr>
        <p:spPr>
          <a:xfrm>
            <a:off x="635000" y="4660900"/>
            <a:ext cx="10922000" cy="10160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6" name="RowDiv3"/>
          <p:cNvSpPr>
            <a:spLocks noGrp="1"/>
          </p:cNvSpPr>
          <p:nvPr/>
        </p:nvSpPr>
        <p:spPr>
          <a:xfrm>
            <a:off x="3632200" y="4660900"/>
            <a:ext cx="12700" cy="1016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7" name="Name3"/>
          <p:cNvSpPr>
            <a:spLocks noGrp="1"/>
          </p:cNvSpPr>
          <p:nvPr/>
        </p:nvSpPr>
        <p:spPr>
          <a:xfrm>
            <a:off x="736600" y="4787900"/>
            <a:ext cx="2794000" cy="7874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b="1" dirty="0">
                <a:solidFill>
                  <a:srgbClr val="FFFFFF"/>
                </a:solidFill>
                <a:latin typeface="Georgia"/>
              </a:rPr>
              <a:t>Aloft</a:t>
            </a:r>
          </a:p>
        </p:txBody>
      </p:sp>
      <p:sp>
        <p:nvSpPr>
          <p:cNvPr id="68" name="Gap3"/>
          <p:cNvSpPr>
            <a:spLocks noGrp="1"/>
          </p:cNvSpPr>
          <p:nvPr/>
        </p:nvSpPr>
        <p:spPr>
          <a:xfrm>
            <a:off x="3784600" y="4787900"/>
            <a:ext cx="7670800" cy="787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sz="1300" dirty="0">
                <a:solidFill>
                  <a:srgbClr val="E8E0D0"/>
                </a:solidFill>
                <a:latin typeface="Calibri"/>
              </a:rPr>
              <a:t>Solves one piece: airspace authorization. Does not address fleet dispatch, maintenance, or compliance logging.</a:t>
            </a:r>
          </a:p>
        </p:txBody>
      </p:sp>
      <p:sp>
        <p:nvSpPr>
          <p:cNvPr id="80" name="Ribbon"/>
          <p:cNvSpPr>
            <a:spLocks noGrp="1"/>
          </p:cNvSpPr>
          <p:nvPr/>
        </p:nvSpPr>
        <p:spPr>
          <a:xfrm>
            <a:off x="635000" y="5740400"/>
            <a:ext cx="10922000" cy="533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RibbonAccent"/>
          <p:cNvSpPr>
            <a:spLocks noGrp="1"/>
          </p:cNvSpPr>
          <p:nvPr/>
        </p:nvSpPr>
        <p:spPr>
          <a:xfrm>
            <a:off x="635000" y="5740400"/>
            <a:ext cx="38100" cy="5334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2" name="RibbonText"/>
          <p:cNvSpPr>
            <a:spLocks noGrp="1"/>
          </p:cNvSpPr>
          <p:nvPr/>
        </p:nvSpPr>
        <p:spPr>
          <a:xfrm>
            <a:off x="736600" y="5791200"/>
            <a:ext cx="10718800" cy="381000"/>
          </a:xfrm>
          <a:prstGeom prst="rect">
            <a:avLst/>
          </a:prstGeom>
          <a:noFill/>
        </p:spPr>
        <p:txBody>
          <a:bodyPr wrap="square" anchor="ctr">
            <a:normAutofit fontScale="85000" lnSpcReduction="10000"/>
          </a:bodyPr>
          <a:lstStyle/>
          <a:p>
            <a:r>
              <a:rPr lang="en-US" sz="1300" dirty="0">
                <a:solidFill>
                  <a:srgbClr val="E8E0D0"/>
                </a:solidFill>
                <a:latin typeface="Calibri"/>
              </a:rPr>
              <a:t>“None are architected for both drone fleets today and eVTOL at commercial scale. The gap is deliberate — it requires aviation domain depth most software teams don’t have.”</a:t>
            </a:r>
          </a:p>
        </p:txBody>
      </p:sp>
    </p:spTree>
    <p:extLst>
      <p:ext uri="{BB962C8B-B14F-4D97-AF65-F5344CB8AC3E}">
        <p14:creationId xmlns:p14="http://schemas.microsoft.com/office/powerpoint/2010/main" val="7797477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2EF31F-7CFF-7E42-AFE1-75B1B43F20EA}"/>
              </a:ext>
            </a:extLst>
          </p:cNvPr>
          <p:cNvSpPr txBox="1"/>
          <p:nvPr/>
        </p:nvSpPr>
        <p:spPr>
          <a:xfrm>
            <a:off x="635000" y="355600"/>
            <a:ext cx="381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900">
                <a:solidFill>
                  <a:srgbClr val="666666"/>
                </a:solidFill>
                <a:latin typeface="Calibri"/>
                <a:cs typeface="Calibri"/>
              </a:rPr>
              <a:t>NEXT STEP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D5DACCA-BDF0-8C40-B86C-473C9971BC00}"/>
              </a:ext>
            </a:extLst>
          </p:cNvPr>
          <p:cNvSpPr/>
          <p:nvPr/>
        </p:nvSpPr>
        <p:spPr>
          <a:xfrm>
            <a:off x="457200" y="1117600"/>
            <a:ext cx="63500" cy="3810000"/>
          </a:xfrm>
          <a:prstGeom prst="rect">
            <a:avLst/>
          </a:prstGeom>
          <a:solidFill>
            <a:srgbClr val="C8B89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897B8-54BF-4644-BB2F-356AF7D5582D}"/>
              </a:ext>
            </a:extLst>
          </p:cNvPr>
          <p:cNvSpPr txBox="1"/>
          <p:nvPr/>
        </p:nvSpPr>
        <p:spPr>
          <a:xfrm>
            <a:off x="635000" y="1117600"/>
            <a:ext cx="10922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F0F0F0"/>
                </a:solidFill>
                <a:latin typeface="Georgia"/>
              </a:rPr>
              <a:t>20 minutes with the right person
changes what we build.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FF899E-9E26-B341-9AB6-50328377CB3A}"/>
              </a:ext>
            </a:extLst>
          </p:cNvPr>
          <p:cNvSpPr txBox="1"/>
          <p:nvPr/>
        </p:nvSpPr>
        <p:spPr>
          <a:xfrm>
            <a:off x="635000" y="2667000"/>
            <a:ext cx="1092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999999"/>
                </a:solidFill>
                <a:latin typeface="Calibri"/>
                <a:cs typeface="Calibri"/>
              </a:rPr>
              <a:t>We’re at the research and early-build stage. Getting in front of the right operators before everyone is flying at scale is the only way to build something actually useful.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A052D6-BB57-7C4E-A0E3-BC825A7AEFE8}"/>
              </a:ext>
            </a:extLst>
          </p:cNvPr>
          <p:cNvSpPr/>
          <p:nvPr/>
        </p:nvSpPr>
        <p:spPr>
          <a:xfrm>
            <a:off x="635000" y="3492500"/>
            <a:ext cx="10922000" cy="12700"/>
          </a:xfrm>
          <a:prstGeom prst="rect">
            <a:avLst/>
          </a:prstGeom>
          <a:solidFill>
            <a:srgbClr val="33333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8737924-6B28-5D4B-AA93-C8AB45C4E9C1}"/>
              </a:ext>
            </a:extLst>
          </p:cNvPr>
          <p:cNvSpPr/>
          <p:nvPr/>
        </p:nvSpPr>
        <p:spPr>
          <a:xfrm>
            <a:off x="1016000" y="3746500"/>
            <a:ext cx="49530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6ED566A-F401-CD41-8BE6-E5BF9D0D5335}"/>
              </a:ext>
            </a:extLst>
          </p:cNvPr>
          <p:cNvSpPr/>
          <p:nvPr/>
        </p:nvSpPr>
        <p:spPr>
          <a:xfrm>
            <a:off x="1016000" y="3746500"/>
            <a:ext cx="4953000" cy="38100"/>
          </a:xfrm>
          <a:prstGeom prst="rect">
            <a:avLst/>
          </a:prstGeom>
          <a:solidFill>
            <a:srgbClr val="C8B89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DDDE1A5-42B5-C849-87CB-28EEF578136B}"/>
              </a:ext>
            </a:extLst>
          </p:cNvPr>
          <p:cNvSpPr txBox="1"/>
          <p:nvPr/>
        </p:nvSpPr>
        <p:spPr>
          <a:xfrm>
            <a:off x="1270000" y="3949700"/>
            <a:ext cx="4445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F0F0F0"/>
                </a:solidFill>
                <a:latin typeface="Georgia"/>
              </a:rPr>
              <a:t>Aarav Verma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F64C76-68C1-1146-8863-974CA46959A8}"/>
              </a:ext>
            </a:extLst>
          </p:cNvPr>
          <p:cNvSpPr txBox="1"/>
          <p:nvPr/>
        </p:nvSpPr>
        <p:spPr>
          <a:xfrm>
            <a:off x="1270000" y="4330700"/>
            <a:ext cx="4445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C8B89A"/>
                </a:solidFill>
                <a:latin typeface="Calibri"/>
                <a:cs typeface="Calibri"/>
              </a:rPr>
              <a:t>Aerospace Engineering, UIUC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B842FE-40C0-0747-8698-9B508FC46235}"/>
              </a:ext>
            </a:extLst>
          </p:cNvPr>
          <p:cNvSpPr txBox="1"/>
          <p:nvPr/>
        </p:nvSpPr>
        <p:spPr>
          <a:xfrm>
            <a:off x="1270000" y="4635500"/>
            <a:ext cx="4445000" cy="190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999999"/>
                </a:solidFill>
                <a:latin typeface="Calibri"/>
                <a:cs typeface="Calibri"/>
              </a:rPr>
              <a:t>vermaa0118@gmail.com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2AE0BC-050E-AB4A-A19F-97E9FFBB598A}"/>
              </a:ext>
            </a:extLst>
          </p:cNvPr>
          <p:cNvSpPr txBox="1"/>
          <p:nvPr/>
        </p:nvSpPr>
        <p:spPr>
          <a:xfrm>
            <a:off x="1270000" y="4864100"/>
            <a:ext cx="4445000" cy="190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999999"/>
                </a:solidFill>
                <a:latin typeface="Calibri"/>
                <a:cs typeface="Calibri"/>
              </a:rPr>
              <a:t>[phone]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7AD49-7C86-B749-8086-9B22DBA17757}"/>
              </a:ext>
            </a:extLst>
          </p:cNvPr>
          <p:cNvSpPr/>
          <p:nvPr/>
        </p:nvSpPr>
        <p:spPr>
          <a:xfrm>
            <a:off x="6223000" y="3746500"/>
            <a:ext cx="49530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1594470-EAD1-9C4A-AD40-AC7F6B159A3A}"/>
              </a:ext>
            </a:extLst>
          </p:cNvPr>
          <p:cNvSpPr/>
          <p:nvPr/>
        </p:nvSpPr>
        <p:spPr>
          <a:xfrm>
            <a:off x="6223000" y="3746500"/>
            <a:ext cx="4953000" cy="38100"/>
          </a:xfrm>
          <a:prstGeom prst="rect">
            <a:avLst/>
          </a:prstGeom>
          <a:solidFill>
            <a:srgbClr val="C8B89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C581E4-18FE-944A-959B-83BD64F8345D}"/>
              </a:ext>
            </a:extLst>
          </p:cNvPr>
          <p:cNvSpPr txBox="1"/>
          <p:nvPr/>
        </p:nvSpPr>
        <p:spPr>
          <a:xfrm>
            <a:off x="6477000" y="3949700"/>
            <a:ext cx="4445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F0F0F0"/>
                </a:solidFill>
                <a:latin typeface="Georgia"/>
              </a:rPr>
              <a:t>Tharun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977AF0-8044-3946-BA85-3DA81314C36A}"/>
              </a:ext>
            </a:extLst>
          </p:cNvPr>
          <p:cNvSpPr txBox="1"/>
          <p:nvPr/>
        </p:nvSpPr>
        <p:spPr>
          <a:xfrm>
            <a:off x="6477000" y="4330700"/>
            <a:ext cx="4445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C8B89A"/>
                </a:solidFill>
                <a:latin typeface="Calibri"/>
                <a:cs typeface="Calibri"/>
              </a:rPr>
              <a:t>Materials Science, UIUC · Co-founder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C3AFA7F-3CD9-8C4A-B192-360524244CCD}"/>
              </a:ext>
            </a:extLst>
          </p:cNvPr>
          <p:cNvSpPr txBox="1"/>
          <p:nvPr/>
        </p:nvSpPr>
        <p:spPr>
          <a:xfrm>
            <a:off x="6477000" y="4635500"/>
            <a:ext cx="4445000" cy="190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999999"/>
                </a:solidFill>
                <a:latin typeface="Calibri"/>
                <a:cs typeface="Calibri"/>
              </a:rPr>
              <a:t>[email]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60D175-D4F0-0444-8D48-7C8FAA26D57C}"/>
              </a:ext>
            </a:extLst>
          </p:cNvPr>
          <p:cNvSpPr txBox="1"/>
          <p:nvPr/>
        </p:nvSpPr>
        <p:spPr>
          <a:xfrm>
            <a:off x="635000" y="5829300"/>
            <a:ext cx="1092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666666"/>
                </a:solidFill>
                <a:latin typeface="Calibri"/>
                <a:cs typeface="Calibri"/>
              </a:rPr>
              <a:t>University of Illinois Urbana-Champaign — April 2026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73C581A-3DD3-70B7-7E5D-F8991350AC60}"/>
              </a:ext>
            </a:extLst>
          </p:cNvPr>
          <p:cNvGrpSpPr/>
          <p:nvPr/>
        </p:nvGrpSpPr>
        <p:grpSpPr>
          <a:xfrm>
            <a:off x="635000" y="6477000"/>
            <a:ext cx="10922000" cy="343188"/>
            <a:chOff x="635000" y="6477000"/>
            <a:chExt cx="10922000" cy="34318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76AE7E5-E305-3057-42FD-D270CCD2E37A}"/>
                </a:ext>
              </a:extLst>
            </p:cNvPr>
            <p:cNvSpPr/>
            <p:nvPr/>
          </p:nvSpPr>
          <p:spPr>
            <a:xfrm>
              <a:off x="635000" y="6477000"/>
              <a:ext cx="10922000" cy="12700"/>
            </a:xfrm>
            <a:prstGeom prst="rect">
              <a:avLst/>
            </a:prstGeom>
            <a:solidFill>
              <a:srgbClr val="333333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8C97B4-C7EF-1CD6-99DB-FFF15E08EE3D}"/>
                </a:ext>
              </a:extLst>
            </p:cNvPr>
            <p:cNvSpPr txBox="1"/>
            <p:nvPr/>
          </p:nvSpPr>
          <p:spPr>
            <a:xfrm>
              <a:off x="635000" y="6527800"/>
              <a:ext cx="10922000" cy="292388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en-US" sz="1300" dirty="0">
                  <a:solidFill>
                    <a:srgbClr val="555555"/>
                  </a:solidFill>
                  <a:latin typeface="Calibri"/>
                  <a:cs typeface="Calibri"/>
                </a:rPr>
                <a:t>eVTOL Research Brief · UIUC 2026          CONFIDENTIAL · FOR DISCUSSION PURPOSES ONLY          09 / 09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24553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 [1776098439909]">
  <a:themeElements>
    <a:clrScheme name="Office">
      <a:dk1>
        <a:srgbClr val="1A1A1A"/>
      </a:dk1>
      <a:lt1>
        <a:srgbClr val="F5F2EC"/>
      </a:lt1>
      <a:dk2>
        <a:srgbClr val="141414"/>
      </a:dk2>
      <a:lt2>
        <a:srgbClr val="F0EDE6"/>
      </a:lt2>
      <a:accent1>
        <a:srgbClr val="C8B89A"/>
      </a:accent1>
      <a:accent2>
        <a:srgbClr val="1E1E1E"/>
      </a:accent2>
      <a:accent3>
        <a:srgbClr val="7A7060"/>
      </a:accent3>
      <a:accent4>
        <a:srgbClr val="8A8070"/>
      </a:accent4>
      <a:accent5>
        <a:srgbClr val="D8D4CC"/>
      </a:accent5>
      <a:accent6>
        <a:srgbClr val="2E2E2E"/>
      </a:accent6>
      <a:hlink>
        <a:srgbClr val="467886"/>
      </a:hlink>
      <a:folHlink>
        <a:srgbClr val="96607D"/>
      </a:folHlink>
    </a:clrScheme>
    <a:fontScheme name="Office">
      <a:majorFont>
        <a:latin typeface="Trebuchet MS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 [1776663570658]">
  <a:themeElements>
    <a:clrScheme name="Office">
      <a:dk1>
        <a:srgbClr val="F0F0F0"/>
      </a:dk1>
      <a:lt1>
        <a:srgbClr val="0F0F0F"/>
      </a:lt1>
      <a:dk2>
        <a:srgbClr val="999999"/>
      </a:dk2>
      <a:lt2>
        <a:srgbClr val="1E1E1E"/>
      </a:lt2>
      <a:accent1>
        <a:srgbClr val="2F7EF5"/>
      </a:accent1>
      <a:accent2>
        <a:srgbClr val="555555"/>
      </a:accent2>
      <a:accent3>
        <a:srgbClr val="777777"/>
      </a:accent3>
      <a:accent4>
        <a:srgbClr val="333333"/>
      </a:accent4>
      <a:accent5>
        <a:srgbClr val="666666"/>
      </a:accent5>
      <a:accent6>
        <a:srgbClr val="444444"/>
      </a:accent6>
      <a:hlink>
        <a:srgbClr val="467886"/>
      </a:hlink>
      <a:folHlink>
        <a:srgbClr val="96607D"/>
      </a:folHlink>
    </a:clrScheme>
    <a:fontScheme name="Office">
      <a:majorFont>
        <a:latin typeface="Georgia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A7603F4-9E49-5C49-BDA7-A585D5C3EC4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769bf467-fb7a-4bb2-8c53-7358a0887bc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4450</TotalTime>
  <Words>1236</Words>
  <Application>Microsoft Macintosh PowerPoint</Application>
  <PresentationFormat>Widescreen</PresentationFormat>
  <Paragraphs>135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Georgia</vt:lpstr>
      <vt:lpstr>Trebuchet MS</vt:lpstr>
      <vt:lpstr>Office Theme</vt:lpstr>
      <vt:lpstr>Office Theme [1776098439909]</vt:lpstr>
      <vt:lpstr>Office Theme</vt:lpstr>
      <vt:lpstr>Office Theme [1776663570658]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Verma, Aarav</dc:creator>
  <cp:lastModifiedBy>Verma, Aarav</cp:lastModifiedBy>
  <cp:revision>8</cp:revision>
  <dcterms:created xsi:type="dcterms:W3CDTF">2026-04-13T16:07:30Z</dcterms:created>
  <dcterms:modified xsi:type="dcterms:W3CDTF">2026-04-22T07:34:36Z</dcterms:modified>
</cp:coreProperties>
</file>