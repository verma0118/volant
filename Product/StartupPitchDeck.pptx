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webextensions/taskpanes.xml" ContentType="application/vnd.ms-office.webextensiontaskpanes+xml"/>
  <Override PartName="/ppt/webextensions/webextension1.xml" ContentType="application/vnd.ms-office.webextens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theme/theme3.xml" ContentType="application/vnd.openxmlformats-officedocument.theme+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theme/theme4.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thumbnail" Target="docProps/thumbnail.jpeg"/><Relationship Id="rId2" Type="http://schemas.openxmlformats.org/officeDocument/2006/relationships/officeDocument" Target="ppt/presentation.xml"/><Relationship Id="rId1" Type="http://schemas.microsoft.com/office/2011/relationships/webextensiontaskpanes" Target="ppt/webextensions/taskpanes.xml"/><Relationship Id="rId5" Type="http://schemas.openxmlformats.org/officeDocument/2006/relationships/extended-properties" Target="docProps/app.xml"/><Relationship Id="rId4" Type="http://schemas.openxmlformats.org/package/2006/relationships/metadata/core-properties" Target="docProps/core.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 id="2147483660" r:id="rId2"/>
    <p:sldMasterId id="2147483672" r:id="rId3"/>
    <p:sldMasterId id="2147483684" r:id="rId4"/>
  </p:sldMasterIdLst>
  <p:sldIdLst>
    <p:sldId id="307" r:id="rId5"/>
    <p:sldId id="348" r:id="rId6"/>
    <p:sldId id="349" r:id="rId7"/>
    <p:sldId id="347" r:id="rId8"/>
    <p:sldId id="354" r:id="rId9"/>
    <p:sldId id="351" r:id="rId10"/>
    <p:sldId id="352" r:id="rId11"/>
    <p:sldId id="353" r:id="rId12"/>
    <p:sldId id="299" r:id="rId1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E8DFC8"/>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31951"/>
    <p:restoredTop sz="94668"/>
  </p:normalViewPr>
  <p:slideViewPr>
    <p:cSldViewPr snapToGrid="0">
      <p:cViewPr varScale="1">
        <p:scale>
          <a:sx n="102" d="100"/>
          <a:sy n="102" d="100"/>
        </p:scale>
        <p:origin x="208" y="72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3" Type="http://schemas.openxmlformats.org/officeDocument/2006/relationships/slideMaster" Target="slideMasters/slideMaster3.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tableStyles" Target="tableStyles.xml"/><Relationship Id="rId2" Type="http://schemas.openxmlformats.org/officeDocument/2006/relationships/slideMaster" Target="slideMasters/slideMaster2.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viewProps" Target="viewProps.xml"/><Relationship Id="rId10" Type="http://schemas.openxmlformats.org/officeDocument/2006/relationships/slide" Target="slides/slide6.xml"/><Relationship Id="rId4" Type="http://schemas.openxmlformats.org/officeDocument/2006/relationships/slideMaster" Target="slideMasters/slideMaster4.xml"/><Relationship Id="rId9" Type="http://schemas.openxmlformats.org/officeDocument/2006/relationships/slide" Target="slides/slide5.xml"/><Relationship Id="rId14"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9B9DDD-1052-5A70-99E0-7BA03F4BDC13}"/>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2298B4AA-A83A-0B9D-AEBA-ED3F7FE4E3F4}"/>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C2636475-7331-2647-2A9C-0953168C503C}"/>
              </a:ext>
            </a:extLst>
          </p:cNvPr>
          <p:cNvSpPr>
            <a:spLocks noGrp="1"/>
          </p:cNvSpPr>
          <p:nvPr>
            <p:ph type="dt" sz="half" idx="10"/>
          </p:nvPr>
        </p:nvSpPr>
        <p:spPr/>
        <p:txBody>
          <a:bodyPr/>
          <a:lstStyle/>
          <a:p>
            <a:fld id="{E4DE2F0E-3115-794A-A56E-BA3D171BBBC1}" type="datetimeFigureOut">
              <a:rPr lang="en-US" smtClean="0"/>
              <a:t>4/20/26</a:t>
            </a:fld>
            <a:endParaRPr lang="en-US"/>
          </a:p>
        </p:txBody>
      </p:sp>
      <p:sp>
        <p:nvSpPr>
          <p:cNvPr id="5" name="Footer Placeholder 4">
            <a:extLst>
              <a:ext uri="{FF2B5EF4-FFF2-40B4-BE49-F238E27FC236}">
                <a16:creationId xmlns:a16="http://schemas.microsoft.com/office/drawing/2014/main" id="{A2B66401-EB16-E5D3-A32C-E014DC803BE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BE51E5C-FB3F-477A-BFB7-108A72304A91}"/>
              </a:ext>
            </a:extLst>
          </p:cNvPr>
          <p:cNvSpPr>
            <a:spLocks noGrp="1"/>
          </p:cNvSpPr>
          <p:nvPr>
            <p:ph type="sldNum" sz="quarter" idx="12"/>
          </p:nvPr>
        </p:nvSpPr>
        <p:spPr/>
        <p:txBody>
          <a:bodyPr/>
          <a:lstStyle/>
          <a:p>
            <a:fld id="{D3752960-BB8B-F043-A11D-3CB31AF53645}" type="slidenum">
              <a:rPr lang="en-US" smtClean="0"/>
              <a:t>‹#›</a:t>
            </a:fld>
            <a:endParaRPr lang="en-US"/>
          </a:p>
        </p:txBody>
      </p:sp>
    </p:spTree>
    <p:extLst>
      <p:ext uri="{BB962C8B-B14F-4D97-AF65-F5344CB8AC3E}">
        <p14:creationId xmlns:p14="http://schemas.microsoft.com/office/powerpoint/2010/main" val="385150251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DA91A8-5111-3456-9367-3FCD7FBF7C2C}"/>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A0B2ABDC-53A6-ED69-458B-3B70957E4865}"/>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1179114-0D7B-0B6E-0F05-DE90DE4D92DD}"/>
              </a:ext>
            </a:extLst>
          </p:cNvPr>
          <p:cNvSpPr>
            <a:spLocks noGrp="1"/>
          </p:cNvSpPr>
          <p:nvPr>
            <p:ph type="dt" sz="half" idx="10"/>
          </p:nvPr>
        </p:nvSpPr>
        <p:spPr/>
        <p:txBody>
          <a:bodyPr/>
          <a:lstStyle/>
          <a:p>
            <a:fld id="{E4DE2F0E-3115-794A-A56E-BA3D171BBBC1}" type="datetimeFigureOut">
              <a:rPr lang="en-US" smtClean="0"/>
              <a:t>4/20/26</a:t>
            </a:fld>
            <a:endParaRPr lang="en-US"/>
          </a:p>
        </p:txBody>
      </p:sp>
      <p:sp>
        <p:nvSpPr>
          <p:cNvPr id="5" name="Footer Placeholder 4">
            <a:extLst>
              <a:ext uri="{FF2B5EF4-FFF2-40B4-BE49-F238E27FC236}">
                <a16:creationId xmlns:a16="http://schemas.microsoft.com/office/drawing/2014/main" id="{945338FE-AD8B-2BD1-072C-3008C93B5E4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5012D92-4743-F930-0CCC-F7A3CE2EC543}"/>
              </a:ext>
            </a:extLst>
          </p:cNvPr>
          <p:cNvSpPr>
            <a:spLocks noGrp="1"/>
          </p:cNvSpPr>
          <p:nvPr>
            <p:ph type="sldNum" sz="quarter" idx="12"/>
          </p:nvPr>
        </p:nvSpPr>
        <p:spPr/>
        <p:txBody>
          <a:bodyPr/>
          <a:lstStyle/>
          <a:p>
            <a:fld id="{D3752960-BB8B-F043-A11D-3CB31AF53645}" type="slidenum">
              <a:rPr lang="en-US" smtClean="0"/>
              <a:t>‹#›</a:t>
            </a:fld>
            <a:endParaRPr lang="en-US"/>
          </a:p>
        </p:txBody>
      </p:sp>
    </p:spTree>
    <p:extLst>
      <p:ext uri="{BB962C8B-B14F-4D97-AF65-F5344CB8AC3E}">
        <p14:creationId xmlns:p14="http://schemas.microsoft.com/office/powerpoint/2010/main" val="397487419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46A5CC-9E93-272A-4184-30CD7C186D59}"/>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E18EF4AE-0FA9-1269-0C54-CDE5F4FA4CBA}"/>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601F54EB-0188-CBC3-3C63-6766AD09F5D9}"/>
              </a:ext>
            </a:extLst>
          </p:cNvPr>
          <p:cNvSpPr>
            <a:spLocks noGrp="1"/>
          </p:cNvSpPr>
          <p:nvPr>
            <p:ph type="dt" sz="half" idx="10"/>
          </p:nvPr>
        </p:nvSpPr>
        <p:spPr/>
        <p:txBody>
          <a:bodyPr/>
          <a:lstStyle/>
          <a:p>
            <a:fld id="{E4DE2F0E-3115-794A-A56E-BA3D171BBBC1}" type="datetimeFigureOut">
              <a:rPr lang="en-US" smtClean="0"/>
              <a:t>4/20/26</a:t>
            </a:fld>
            <a:endParaRPr lang="en-US"/>
          </a:p>
        </p:txBody>
      </p:sp>
      <p:sp>
        <p:nvSpPr>
          <p:cNvPr id="5" name="Footer Placeholder 4">
            <a:extLst>
              <a:ext uri="{FF2B5EF4-FFF2-40B4-BE49-F238E27FC236}">
                <a16:creationId xmlns:a16="http://schemas.microsoft.com/office/drawing/2014/main" id="{A439A6A7-F273-ACA1-A416-818E3348049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17FAC63-A371-726C-CE6E-490E84C475ED}"/>
              </a:ext>
            </a:extLst>
          </p:cNvPr>
          <p:cNvSpPr>
            <a:spLocks noGrp="1"/>
          </p:cNvSpPr>
          <p:nvPr>
            <p:ph type="sldNum" sz="quarter" idx="12"/>
          </p:nvPr>
        </p:nvSpPr>
        <p:spPr/>
        <p:txBody>
          <a:bodyPr/>
          <a:lstStyle/>
          <a:p>
            <a:fld id="{D3752960-BB8B-F043-A11D-3CB31AF53645}" type="slidenum">
              <a:rPr lang="en-US" smtClean="0"/>
              <a:t>‹#›</a:t>
            </a:fld>
            <a:endParaRPr lang="en-US"/>
          </a:p>
        </p:txBody>
      </p:sp>
    </p:spTree>
    <p:extLst>
      <p:ext uri="{BB962C8B-B14F-4D97-AF65-F5344CB8AC3E}">
        <p14:creationId xmlns:p14="http://schemas.microsoft.com/office/powerpoint/2010/main" val="29778232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331D14-3F70-6B95-BA0C-B5CC9E600546}"/>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36180A43-9876-0AB1-89ED-25E41AA41A56}"/>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557A1292-C5F3-AB67-5890-08B931556069}"/>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4B7BB68B-667D-EBE7-7C39-C179BD5DF0A6}"/>
              </a:ext>
            </a:extLst>
          </p:cNvPr>
          <p:cNvSpPr>
            <a:spLocks noGrp="1"/>
          </p:cNvSpPr>
          <p:nvPr>
            <p:ph type="dt" sz="half" idx="10"/>
          </p:nvPr>
        </p:nvSpPr>
        <p:spPr/>
        <p:txBody>
          <a:bodyPr/>
          <a:lstStyle/>
          <a:p>
            <a:fld id="{E4DE2F0E-3115-794A-A56E-BA3D171BBBC1}" type="datetimeFigureOut">
              <a:rPr lang="en-US" smtClean="0"/>
              <a:t>4/20/26</a:t>
            </a:fld>
            <a:endParaRPr lang="en-US"/>
          </a:p>
        </p:txBody>
      </p:sp>
      <p:sp>
        <p:nvSpPr>
          <p:cNvPr id="6" name="Footer Placeholder 5">
            <a:extLst>
              <a:ext uri="{FF2B5EF4-FFF2-40B4-BE49-F238E27FC236}">
                <a16:creationId xmlns:a16="http://schemas.microsoft.com/office/drawing/2014/main" id="{DF4E69F8-4BE8-4400-BBA6-0DC4A9E5A9AA}"/>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FD57FADD-BCD2-51F9-89A8-E5EDC8D7C905}"/>
              </a:ext>
            </a:extLst>
          </p:cNvPr>
          <p:cNvSpPr>
            <a:spLocks noGrp="1"/>
          </p:cNvSpPr>
          <p:nvPr>
            <p:ph type="sldNum" sz="quarter" idx="12"/>
          </p:nvPr>
        </p:nvSpPr>
        <p:spPr/>
        <p:txBody>
          <a:bodyPr/>
          <a:lstStyle/>
          <a:p>
            <a:fld id="{D3752960-BB8B-F043-A11D-3CB31AF53645}" type="slidenum">
              <a:rPr lang="en-US" smtClean="0"/>
              <a:t>‹#›</a:t>
            </a:fld>
            <a:endParaRPr lang="en-US"/>
          </a:p>
        </p:txBody>
      </p:sp>
    </p:spTree>
    <p:extLst>
      <p:ext uri="{BB962C8B-B14F-4D97-AF65-F5344CB8AC3E}">
        <p14:creationId xmlns:p14="http://schemas.microsoft.com/office/powerpoint/2010/main" val="1462520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574BE5-5310-87F2-C8EF-13E7DF5571F9}"/>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483822F0-D12F-924A-BF73-2B121810B619}"/>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B4DDAB01-1933-2564-38CB-C920D2A04D88}"/>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A4C5929D-46AD-D600-32C0-3E28EC98B2B0}"/>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E755E89A-7B93-6128-D251-45464DA8C083}"/>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BD870D1E-56D4-E155-5226-5A12A20E2562}"/>
              </a:ext>
            </a:extLst>
          </p:cNvPr>
          <p:cNvSpPr>
            <a:spLocks noGrp="1"/>
          </p:cNvSpPr>
          <p:nvPr>
            <p:ph type="dt" sz="half" idx="10"/>
          </p:nvPr>
        </p:nvSpPr>
        <p:spPr/>
        <p:txBody>
          <a:bodyPr/>
          <a:lstStyle/>
          <a:p>
            <a:fld id="{E4DE2F0E-3115-794A-A56E-BA3D171BBBC1}" type="datetimeFigureOut">
              <a:rPr lang="en-US" smtClean="0"/>
              <a:t>4/20/26</a:t>
            </a:fld>
            <a:endParaRPr lang="en-US"/>
          </a:p>
        </p:txBody>
      </p:sp>
      <p:sp>
        <p:nvSpPr>
          <p:cNvPr id="8" name="Footer Placeholder 7">
            <a:extLst>
              <a:ext uri="{FF2B5EF4-FFF2-40B4-BE49-F238E27FC236}">
                <a16:creationId xmlns:a16="http://schemas.microsoft.com/office/drawing/2014/main" id="{18B7CD5C-F254-B178-B565-0D0575524874}"/>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046796D3-2BB3-414A-2389-B4C10E3CFD35}"/>
              </a:ext>
            </a:extLst>
          </p:cNvPr>
          <p:cNvSpPr>
            <a:spLocks noGrp="1"/>
          </p:cNvSpPr>
          <p:nvPr>
            <p:ph type="sldNum" sz="quarter" idx="12"/>
          </p:nvPr>
        </p:nvSpPr>
        <p:spPr/>
        <p:txBody>
          <a:bodyPr/>
          <a:lstStyle/>
          <a:p>
            <a:fld id="{D3752960-BB8B-F043-A11D-3CB31AF53645}" type="slidenum">
              <a:rPr lang="en-US" smtClean="0"/>
              <a:t>‹#›</a:t>
            </a:fld>
            <a:endParaRPr lang="en-US"/>
          </a:p>
        </p:txBody>
      </p:sp>
    </p:spTree>
    <p:extLst>
      <p:ext uri="{BB962C8B-B14F-4D97-AF65-F5344CB8AC3E}">
        <p14:creationId xmlns:p14="http://schemas.microsoft.com/office/powerpoint/2010/main" val="92667713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A3648A-1E1F-F7FA-F673-32ED43969FED}"/>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D4B71B77-0202-A7D2-DF1F-79B71AC7F3C1}"/>
              </a:ext>
            </a:extLst>
          </p:cNvPr>
          <p:cNvSpPr>
            <a:spLocks noGrp="1"/>
          </p:cNvSpPr>
          <p:nvPr>
            <p:ph type="dt" sz="half" idx="10"/>
          </p:nvPr>
        </p:nvSpPr>
        <p:spPr/>
        <p:txBody>
          <a:bodyPr/>
          <a:lstStyle/>
          <a:p>
            <a:fld id="{E4DE2F0E-3115-794A-A56E-BA3D171BBBC1}" type="datetimeFigureOut">
              <a:rPr lang="en-US" smtClean="0"/>
              <a:t>4/20/26</a:t>
            </a:fld>
            <a:endParaRPr lang="en-US"/>
          </a:p>
        </p:txBody>
      </p:sp>
      <p:sp>
        <p:nvSpPr>
          <p:cNvPr id="4" name="Footer Placeholder 3">
            <a:extLst>
              <a:ext uri="{FF2B5EF4-FFF2-40B4-BE49-F238E27FC236}">
                <a16:creationId xmlns:a16="http://schemas.microsoft.com/office/drawing/2014/main" id="{E9068E51-B73E-DBE1-C0FD-AC7029D33DDA}"/>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B3AB9FC2-CFAB-8784-EB26-76950F3AE283}"/>
              </a:ext>
            </a:extLst>
          </p:cNvPr>
          <p:cNvSpPr>
            <a:spLocks noGrp="1"/>
          </p:cNvSpPr>
          <p:nvPr>
            <p:ph type="sldNum" sz="quarter" idx="12"/>
          </p:nvPr>
        </p:nvSpPr>
        <p:spPr/>
        <p:txBody>
          <a:bodyPr/>
          <a:lstStyle/>
          <a:p>
            <a:fld id="{D3752960-BB8B-F043-A11D-3CB31AF53645}" type="slidenum">
              <a:rPr lang="en-US" smtClean="0"/>
              <a:t>‹#›</a:t>
            </a:fld>
            <a:endParaRPr lang="en-US"/>
          </a:p>
        </p:txBody>
      </p:sp>
    </p:spTree>
    <p:extLst>
      <p:ext uri="{BB962C8B-B14F-4D97-AF65-F5344CB8AC3E}">
        <p14:creationId xmlns:p14="http://schemas.microsoft.com/office/powerpoint/2010/main" val="323695487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8ED5B27D-8278-4464-7AFB-13615DA5CCAC}"/>
              </a:ext>
            </a:extLst>
          </p:cNvPr>
          <p:cNvSpPr>
            <a:spLocks noGrp="1"/>
          </p:cNvSpPr>
          <p:nvPr>
            <p:ph type="dt" sz="half" idx="10"/>
          </p:nvPr>
        </p:nvSpPr>
        <p:spPr/>
        <p:txBody>
          <a:bodyPr/>
          <a:lstStyle/>
          <a:p>
            <a:fld id="{E4DE2F0E-3115-794A-A56E-BA3D171BBBC1}" type="datetimeFigureOut">
              <a:rPr lang="en-US" smtClean="0"/>
              <a:t>4/20/26</a:t>
            </a:fld>
            <a:endParaRPr lang="en-US"/>
          </a:p>
        </p:txBody>
      </p:sp>
      <p:sp>
        <p:nvSpPr>
          <p:cNvPr id="3" name="Footer Placeholder 2">
            <a:extLst>
              <a:ext uri="{FF2B5EF4-FFF2-40B4-BE49-F238E27FC236}">
                <a16:creationId xmlns:a16="http://schemas.microsoft.com/office/drawing/2014/main" id="{609DE766-B306-5448-E82B-682273CF8D28}"/>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A7830339-F2B4-7120-EC28-7AA9D1863BE0}"/>
              </a:ext>
            </a:extLst>
          </p:cNvPr>
          <p:cNvSpPr>
            <a:spLocks noGrp="1"/>
          </p:cNvSpPr>
          <p:nvPr>
            <p:ph type="sldNum" sz="quarter" idx="12"/>
          </p:nvPr>
        </p:nvSpPr>
        <p:spPr/>
        <p:txBody>
          <a:bodyPr/>
          <a:lstStyle/>
          <a:p>
            <a:fld id="{D3752960-BB8B-F043-A11D-3CB31AF53645}" type="slidenum">
              <a:rPr lang="en-US" smtClean="0"/>
              <a:t>‹#›</a:t>
            </a:fld>
            <a:endParaRPr lang="en-US"/>
          </a:p>
        </p:txBody>
      </p:sp>
    </p:spTree>
    <p:extLst>
      <p:ext uri="{BB962C8B-B14F-4D97-AF65-F5344CB8AC3E}">
        <p14:creationId xmlns:p14="http://schemas.microsoft.com/office/powerpoint/2010/main" val="293007561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1F48DF-6D47-FF3C-7B5E-4633B1E65BD0}"/>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D149ADCF-3A22-6DBF-462F-817F0064DB77}"/>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22F9A9DC-48AD-D474-01FD-0B38A832E40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40A1743C-4BE7-2BDC-15DB-3724A83EBAB8}"/>
              </a:ext>
            </a:extLst>
          </p:cNvPr>
          <p:cNvSpPr>
            <a:spLocks noGrp="1"/>
          </p:cNvSpPr>
          <p:nvPr>
            <p:ph type="dt" sz="half" idx="10"/>
          </p:nvPr>
        </p:nvSpPr>
        <p:spPr/>
        <p:txBody>
          <a:bodyPr/>
          <a:lstStyle/>
          <a:p>
            <a:fld id="{E4DE2F0E-3115-794A-A56E-BA3D171BBBC1}" type="datetimeFigureOut">
              <a:rPr lang="en-US" smtClean="0"/>
              <a:t>4/20/26</a:t>
            </a:fld>
            <a:endParaRPr lang="en-US"/>
          </a:p>
        </p:txBody>
      </p:sp>
      <p:sp>
        <p:nvSpPr>
          <p:cNvPr id="6" name="Footer Placeholder 5">
            <a:extLst>
              <a:ext uri="{FF2B5EF4-FFF2-40B4-BE49-F238E27FC236}">
                <a16:creationId xmlns:a16="http://schemas.microsoft.com/office/drawing/2014/main" id="{8B28066E-85DC-0135-7513-8FFB5B474682}"/>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FEA371E4-2565-B309-AE64-7A872A0F7DCF}"/>
              </a:ext>
            </a:extLst>
          </p:cNvPr>
          <p:cNvSpPr>
            <a:spLocks noGrp="1"/>
          </p:cNvSpPr>
          <p:nvPr>
            <p:ph type="sldNum" sz="quarter" idx="12"/>
          </p:nvPr>
        </p:nvSpPr>
        <p:spPr/>
        <p:txBody>
          <a:bodyPr/>
          <a:lstStyle/>
          <a:p>
            <a:fld id="{D3752960-BB8B-F043-A11D-3CB31AF53645}" type="slidenum">
              <a:rPr lang="en-US" smtClean="0"/>
              <a:t>‹#›</a:t>
            </a:fld>
            <a:endParaRPr lang="en-US"/>
          </a:p>
        </p:txBody>
      </p:sp>
    </p:spTree>
    <p:extLst>
      <p:ext uri="{BB962C8B-B14F-4D97-AF65-F5344CB8AC3E}">
        <p14:creationId xmlns:p14="http://schemas.microsoft.com/office/powerpoint/2010/main" val="238309885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630461-03D2-050E-A5F8-F4722EF65102}"/>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B8C8854A-A0D4-1A65-659C-C8C0E60E3B96}"/>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CCABDC88-D030-BC37-B8A4-CA706592718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B4B9955-ECD8-3E71-2C67-9DB0EF52C98D}"/>
              </a:ext>
            </a:extLst>
          </p:cNvPr>
          <p:cNvSpPr>
            <a:spLocks noGrp="1"/>
          </p:cNvSpPr>
          <p:nvPr>
            <p:ph type="dt" sz="half" idx="10"/>
          </p:nvPr>
        </p:nvSpPr>
        <p:spPr/>
        <p:txBody>
          <a:bodyPr/>
          <a:lstStyle/>
          <a:p>
            <a:fld id="{E4DE2F0E-3115-794A-A56E-BA3D171BBBC1}" type="datetimeFigureOut">
              <a:rPr lang="en-US" smtClean="0"/>
              <a:t>4/20/26</a:t>
            </a:fld>
            <a:endParaRPr lang="en-US"/>
          </a:p>
        </p:txBody>
      </p:sp>
      <p:sp>
        <p:nvSpPr>
          <p:cNvPr id="6" name="Footer Placeholder 5">
            <a:extLst>
              <a:ext uri="{FF2B5EF4-FFF2-40B4-BE49-F238E27FC236}">
                <a16:creationId xmlns:a16="http://schemas.microsoft.com/office/drawing/2014/main" id="{BEBB1D6B-35E3-E816-60C9-EA5283442F74}"/>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CCFE3E9B-E2D7-8BAF-DE68-89F773006A8A}"/>
              </a:ext>
            </a:extLst>
          </p:cNvPr>
          <p:cNvSpPr>
            <a:spLocks noGrp="1"/>
          </p:cNvSpPr>
          <p:nvPr>
            <p:ph type="sldNum" sz="quarter" idx="12"/>
          </p:nvPr>
        </p:nvSpPr>
        <p:spPr/>
        <p:txBody>
          <a:bodyPr/>
          <a:lstStyle/>
          <a:p>
            <a:fld id="{D3752960-BB8B-F043-A11D-3CB31AF53645}" type="slidenum">
              <a:rPr lang="en-US" smtClean="0"/>
              <a:t>‹#›</a:t>
            </a:fld>
            <a:endParaRPr lang="en-US"/>
          </a:p>
        </p:txBody>
      </p:sp>
    </p:spTree>
    <p:extLst>
      <p:ext uri="{BB962C8B-B14F-4D97-AF65-F5344CB8AC3E}">
        <p14:creationId xmlns:p14="http://schemas.microsoft.com/office/powerpoint/2010/main" val="358515219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4003D3-7D15-20BA-DE47-AE8644FB0219}"/>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A3CB1034-4C3C-2065-84B3-B66BF7B9F826}"/>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291A21F-2BB3-B051-A72B-485AC210567E}"/>
              </a:ext>
            </a:extLst>
          </p:cNvPr>
          <p:cNvSpPr>
            <a:spLocks noGrp="1"/>
          </p:cNvSpPr>
          <p:nvPr>
            <p:ph type="dt" sz="half" idx="10"/>
          </p:nvPr>
        </p:nvSpPr>
        <p:spPr/>
        <p:txBody>
          <a:bodyPr/>
          <a:lstStyle/>
          <a:p>
            <a:fld id="{E4DE2F0E-3115-794A-A56E-BA3D171BBBC1}" type="datetimeFigureOut">
              <a:rPr lang="en-US" smtClean="0"/>
              <a:t>4/20/26</a:t>
            </a:fld>
            <a:endParaRPr lang="en-US"/>
          </a:p>
        </p:txBody>
      </p:sp>
      <p:sp>
        <p:nvSpPr>
          <p:cNvPr id="5" name="Footer Placeholder 4">
            <a:extLst>
              <a:ext uri="{FF2B5EF4-FFF2-40B4-BE49-F238E27FC236}">
                <a16:creationId xmlns:a16="http://schemas.microsoft.com/office/drawing/2014/main" id="{0E22EC22-161C-AD50-0266-5BC08489E54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E185CBF-70ED-5F75-3ECC-CA5054CD5311}"/>
              </a:ext>
            </a:extLst>
          </p:cNvPr>
          <p:cNvSpPr>
            <a:spLocks noGrp="1"/>
          </p:cNvSpPr>
          <p:nvPr>
            <p:ph type="sldNum" sz="quarter" idx="12"/>
          </p:nvPr>
        </p:nvSpPr>
        <p:spPr/>
        <p:txBody>
          <a:bodyPr/>
          <a:lstStyle/>
          <a:p>
            <a:fld id="{D3752960-BB8B-F043-A11D-3CB31AF53645}" type="slidenum">
              <a:rPr lang="en-US" smtClean="0"/>
              <a:t>‹#›</a:t>
            </a:fld>
            <a:endParaRPr lang="en-US"/>
          </a:p>
        </p:txBody>
      </p:sp>
    </p:spTree>
    <p:extLst>
      <p:ext uri="{BB962C8B-B14F-4D97-AF65-F5344CB8AC3E}">
        <p14:creationId xmlns:p14="http://schemas.microsoft.com/office/powerpoint/2010/main" val="428313743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E1FFFDD4-267F-0554-EBD2-9CB782BF58AA}"/>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8289760F-BA78-3D93-C9FE-29A5C6B1450A}"/>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74DC626-90A3-EFAD-396A-F0CEB1EA2AB6}"/>
              </a:ext>
            </a:extLst>
          </p:cNvPr>
          <p:cNvSpPr>
            <a:spLocks noGrp="1"/>
          </p:cNvSpPr>
          <p:nvPr>
            <p:ph type="dt" sz="half" idx="10"/>
          </p:nvPr>
        </p:nvSpPr>
        <p:spPr/>
        <p:txBody>
          <a:bodyPr/>
          <a:lstStyle/>
          <a:p>
            <a:fld id="{E4DE2F0E-3115-794A-A56E-BA3D171BBBC1}" type="datetimeFigureOut">
              <a:rPr lang="en-US" smtClean="0"/>
              <a:t>4/20/26</a:t>
            </a:fld>
            <a:endParaRPr lang="en-US"/>
          </a:p>
        </p:txBody>
      </p:sp>
      <p:sp>
        <p:nvSpPr>
          <p:cNvPr id="5" name="Footer Placeholder 4">
            <a:extLst>
              <a:ext uri="{FF2B5EF4-FFF2-40B4-BE49-F238E27FC236}">
                <a16:creationId xmlns:a16="http://schemas.microsoft.com/office/drawing/2014/main" id="{E9342F6C-6F22-0280-D7CA-114F64F6B34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FF58CAE-B43C-CF19-B34F-33C88AA9417C}"/>
              </a:ext>
            </a:extLst>
          </p:cNvPr>
          <p:cNvSpPr>
            <a:spLocks noGrp="1"/>
          </p:cNvSpPr>
          <p:nvPr>
            <p:ph type="sldNum" sz="quarter" idx="12"/>
          </p:nvPr>
        </p:nvSpPr>
        <p:spPr/>
        <p:txBody>
          <a:bodyPr/>
          <a:lstStyle/>
          <a:p>
            <a:fld id="{D3752960-BB8B-F043-A11D-3CB31AF53645}" type="slidenum">
              <a:rPr lang="en-US" smtClean="0"/>
              <a:t>‹#›</a:t>
            </a:fld>
            <a:endParaRPr lang="en-US"/>
          </a:p>
        </p:txBody>
      </p:sp>
    </p:spTree>
    <p:extLst>
      <p:ext uri="{BB962C8B-B14F-4D97-AF65-F5344CB8AC3E}">
        <p14:creationId xmlns:p14="http://schemas.microsoft.com/office/powerpoint/2010/main" val="86350347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9B9DDD-1052-5A70-99E0-7BA03F4BDC13}"/>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2298B4AA-A83A-0B9D-AEBA-ED3F7FE4E3F4}"/>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C2636475-7331-2647-2A9C-0953168C503C}"/>
              </a:ext>
            </a:extLst>
          </p:cNvPr>
          <p:cNvSpPr>
            <a:spLocks noGrp="1"/>
          </p:cNvSpPr>
          <p:nvPr>
            <p:ph type="dt" sz="half" idx="10"/>
          </p:nvPr>
        </p:nvSpPr>
        <p:spPr/>
        <p:txBody>
          <a:bodyPr/>
          <a:lstStyle/>
          <a:p>
            <a:fld id="{E4DE2F0E-3115-794A-A56E-BA3D171BBBC1}" type="datetimeFigureOut">
              <a:rPr lang="en-US" smtClean="0"/>
              <a:t>4/20/26</a:t>
            </a:fld>
            <a:endParaRPr lang="en-US"/>
          </a:p>
        </p:txBody>
      </p:sp>
      <p:sp>
        <p:nvSpPr>
          <p:cNvPr id="5" name="Footer Placeholder 4">
            <a:extLst>
              <a:ext uri="{FF2B5EF4-FFF2-40B4-BE49-F238E27FC236}">
                <a16:creationId xmlns:a16="http://schemas.microsoft.com/office/drawing/2014/main" id="{A2B66401-EB16-E5D3-A32C-E014DC803BE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BE51E5C-FB3F-477A-BFB7-108A72304A91}"/>
              </a:ext>
            </a:extLst>
          </p:cNvPr>
          <p:cNvSpPr>
            <a:spLocks noGrp="1"/>
          </p:cNvSpPr>
          <p:nvPr>
            <p:ph type="sldNum" sz="quarter" idx="12"/>
          </p:nvPr>
        </p:nvSpPr>
        <p:spPr/>
        <p:txBody>
          <a:bodyPr/>
          <a:lstStyle/>
          <a:p>
            <a:fld id="{D3752960-BB8B-F043-A11D-3CB31AF53645}" type="slidenum">
              <a:rPr lang="en-US" smtClean="0"/>
              <a:t>‹#›</a:t>
            </a:fld>
            <a:endParaRPr lang="en-US"/>
          </a:p>
        </p:txBody>
      </p:sp>
    </p:spTree>
    <p:extLst>
      <p:ext uri="{BB962C8B-B14F-4D97-AF65-F5344CB8AC3E}">
        <p14:creationId xmlns:p14="http://schemas.microsoft.com/office/powerpoint/2010/main" val="385150251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DA91A8-5111-3456-9367-3FCD7FBF7C2C}"/>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A0B2ABDC-53A6-ED69-458B-3B70957E4865}"/>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1179114-0D7B-0B6E-0F05-DE90DE4D92DD}"/>
              </a:ext>
            </a:extLst>
          </p:cNvPr>
          <p:cNvSpPr>
            <a:spLocks noGrp="1"/>
          </p:cNvSpPr>
          <p:nvPr>
            <p:ph type="dt" sz="half" idx="10"/>
          </p:nvPr>
        </p:nvSpPr>
        <p:spPr/>
        <p:txBody>
          <a:bodyPr/>
          <a:lstStyle/>
          <a:p>
            <a:fld id="{E4DE2F0E-3115-794A-A56E-BA3D171BBBC1}" type="datetimeFigureOut">
              <a:rPr lang="en-US" smtClean="0"/>
              <a:t>4/20/26</a:t>
            </a:fld>
            <a:endParaRPr lang="en-US"/>
          </a:p>
        </p:txBody>
      </p:sp>
      <p:sp>
        <p:nvSpPr>
          <p:cNvPr id="5" name="Footer Placeholder 4">
            <a:extLst>
              <a:ext uri="{FF2B5EF4-FFF2-40B4-BE49-F238E27FC236}">
                <a16:creationId xmlns:a16="http://schemas.microsoft.com/office/drawing/2014/main" id="{945338FE-AD8B-2BD1-072C-3008C93B5E4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5012D92-4743-F930-0CCC-F7A3CE2EC543}"/>
              </a:ext>
            </a:extLst>
          </p:cNvPr>
          <p:cNvSpPr>
            <a:spLocks noGrp="1"/>
          </p:cNvSpPr>
          <p:nvPr>
            <p:ph type="sldNum" sz="quarter" idx="12"/>
          </p:nvPr>
        </p:nvSpPr>
        <p:spPr/>
        <p:txBody>
          <a:bodyPr/>
          <a:lstStyle/>
          <a:p>
            <a:fld id="{D3752960-BB8B-F043-A11D-3CB31AF53645}" type="slidenum">
              <a:rPr lang="en-US" smtClean="0"/>
              <a:t>‹#›</a:t>
            </a:fld>
            <a:endParaRPr lang="en-US"/>
          </a:p>
        </p:txBody>
      </p:sp>
    </p:spTree>
    <p:extLst>
      <p:ext uri="{BB962C8B-B14F-4D97-AF65-F5344CB8AC3E}">
        <p14:creationId xmlns:p14="http://schemas.microsoft.com/office/powerpoint/2010/main" val="3974874198"/>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46A5CC-9E93-272A-4184-30CD7C186D59}"/>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E18EF4AE-0FA9-1269-0C54-CDE5F4FA4CBA}"/>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601F54EB-0188-CBC3-3C63-6766AD09F5D9}"/>
              </a:ext>
            </a:extLst>
          </p:cNvPr>
          <p:cNvSpPr>
            <a:spLocks noGrp="1"/>
          </p:cNvSpPr>
          <p:nvPr>
            <p:ph type="dt" sz="half" idx="10"/>
          </p:nvPr>
        </p:nvSpPr>
        <p:spPr/>
        <p:txBody>
          <a:bodyPr/>
          <a:lstStyle/>
          <a:p>
            <a:fld id="{E4DE2F0E-3115-794A-A56E-BA3D171BBBC1}" type="datetimeFigureOut">
              <a:rPr lang="en-US" smtClean="0"/>
              <a:t>4/20/26</a:t>
            </a:fld>
            <a:endParaRPr lang="en-US"/>
          </a:p>
        </p:txBody>
      </p:sp>
      <p:sp>
        <p:nvSpPr>
          <p:cNvPr id="5" name="Footer Placeholder 4">
            <a:extLst>
              <a:ext uri="{FF2B5EF4-FFF2-40B4-BE49-F238E27FC236}">
                <a16:creationId xmlns:a16="http://schemas.microsoft.com/office/drawing/2014/main" id="{A439A6A7-F273-ACA1-A416-818E3348049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17FAC63-A371-726C-CE6E-490E84C475ED}"/>
              </a:ext>
            </a:extLst>
          </p:cNvPr>
          <p:cNvSpPr>
            <a:spLocks noGrp="1"/>
          </p:cNvSpPr>
          <p:nvPr>
            <p:ph type="sldNum" sz="quarter" idx="12"/>
          </p:nvPr>
        </p:nvSpPr>
        <p:spPr/>
        <p:txBody>
          <a:bodyPr/>
          <a:lstStyle/>
          <a:p>
            <a:fld id="{D3752960-BB8B-F043-A11D-3CB31AF53645}" type="slidenum">
              <a:rPr lang="en-US" smtClean="0"/>
              <a:t>‹#›</a:t>
            </a:fld>
            <a:endParaRPr lang="en-US"/>
          </a:p>
        </p:txBody>
      </p:sp>
    </p:spTree>
    <p:extLst>
      <p:ext uri="{BB962C8B-B14F-4D97-AF65-F5344CB8AC3E}">
        <p14:creationId xmlns:p14="http://schemas.microsoft.com/office/powerpoint/2010/main" val="297782324"/>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331D14-3F70-6B95-BA0C-B5CC9E600546}"/>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36180A43-9876-0AB1-89ED-25E41AA41A56}"/>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557A1292-C5F3-AB67-5890-08B931556069}"/>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4B7BB68B-667D-EBE7-7C39-C179BD5DF0A6}"/>
              </a:ext>
            </a:extLst>
          </p:cNvPr>
          <p:cNvSpPr>
            <a:spLocks noGrp="1"/>
          </p:cNvSpPr>
          <p:nvPr>
            <p:ph type="dt" sz="half" idx="10"/>
          </p:nvPr>
        </p:nvSpPr>
        <p:spPr/>
        <p:txBody>
          <a:bodyPr/>
          <a:lstStyle/>
          <a:p>
            <a:fld id="{E4DE2F0E-3115-794A-A56E-BA3D171BBBC1}" type="datetimeFigureOut">
              <a:rPr lang="en-US" smtClean="0"/>
              <a:t>4/20/26</a:t>
            </a:fld>
            <a:endParaRPr lang="en-US"/>
          </a:p>
        </p:txBody>
      </p:sp>
      <p:sp>
        <p:nvSpPr>
          <p:cNvPr id="6" name="Footer Placeholder 5">
            <a:extLst>
              <a:ext uri="{FF2B5EF4-FFF2-40B4-BE49-F238E27FC236}">
                <a16:creationId xmlns:a16="http://schemas.microsoft.com/office/drawing/2014/main" id="{DF4E69F8-4BE8-4400-BBA6-0DC4A9E5A9AA}"/>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FD57FADD-BCD2-51F9-89A8-E5EDC8D7C905}"/>
              </a:ext>
            </a:extLst>
          </p:cNvPr>
          <p:cNvSpPr>
            <a:spLocks noGrp="1"/>
          </p:cNvSpPr>
          <p:nvPr>
            <p:ph type="sldNum" sz="quarter" idx="12"/>
          </p:nvPr>
        </p:nvSpPr>
        <p:spPr/>
        <p:txBody>
          <a:bodyPr/>
          <a:lstStyle/>
          <a:p>
            <a:fld id="{D3752960-BB8B-F043-A11D-3CB31AF53645}" type="slidenum">
              <a:rPr lang="en-US" smtClean="0"/>
              <a:t>‹#›</a:t>
            </a:fld>
            <a:endParaRPr lang="en-US"/>
          </a:p>
        </p:txBody>
      </p:sp>
    </p:spTree>
    <p:extLst>
      <p:ext uri="{BB962C8B-B14F-4D97-AF65-F5344CB8AC3E}">
        <p14:creationId xmlns:p14="http://schemas.microsoft.com/office/powerpoint/2010/main" val="14625204"/>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574BE5-5310-87F2-C8EF-13E7DF5571F9}"/>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483822F0-D12F-924A-BF73-2B121810B619}"/>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B4DDAB01-1933-2564-38CB-C920D2A04D88}"/>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A4C5929D-46AD-D600-32C0-3E28EC98B2B0}"/>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E755E89A-7B93-6128-D251-45464DA8C083}"/>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BD870D1E-56D4-E155-5226-5A12A20E2562}"/>
              </a:ext>
            </a:extLst>
          </p:cNvPr>
          <p:cNvSpPr>
            <a:spLocks noGrp="1"/>
          </p:cNvSpPr>
          <p:nvPr>
            <p:ph type="dt" sz="half" idx="10"/>
          </p:nvPr>
        </p:nvSpPr>
        <p:spPr/>
        <p:txBody>
          <a:bodyPr/>
          <a:lstStyle/>
          <a:p>
            <a:fld id="{E4DE2F0E-3115-794A-A56E-BA3D171BBBC1}" type="datetimeFigureOut">
              <a:rPr lang="en-US" smtClean="0"/>
              <a:t>4/20/26</a:t>
            </a:fld>
            <a:endParaRPr lang="en-US"/>
          </a:p>
        </p:txBody>
      </p:sp>
      <p:sp>
        <p:nvSpPr>
          <p:cNvPr id="8" name="Footer Placeholder 7">
            <a:extLst>
              <a:ext uri="{FF2B5EF4-FFF2-40B4-BE49-F238E27FC236}">
                <a16:creationId xmlns:a16="http://schemas.microsoft.com/office/drawing/2014/main" id="{18B7CD5C-F254-B178-B565-0D0575524874}"/>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046796D3-2BB3-414A-2389-B4C10E3CFD35}"/>
              </a:ext>
            </a:extLst>
          </p:cNvPr>
          <p:cNvSpPr>
            <a:spLocks noGrp="1"/>
          </p:cNvSpPr>
          <p:nvPr>
            <p:ph type="sldNum" sz="quarter" idx="12"/>
          </p:nvPr>
        </p:nvSpPr>
        <p:spPr/>
        <p:txBody>
          <a:bodyPr/>
          <a:lstStyle/>
          <a:p>
            <a:fld id="{D3752960-BB8B-F043-A11D-3CB31AF53645}" type="slidenum">
              <a:rPr lang="en-US" smtClean="0"/>
              <a:t>‹#›</a:t>
            </a:fld>
            <a:endParaRPr lang="en-US"/>
          </a:p>
        </p:txBody>
      </p:sp>
    </p:spTree>
    <p:extLst>
      <p:ext uri="{BB962C8B-B14F-4D97-AF65-F5344CB8AC3E}">
        <p14:creationId xmlns:p14="http://schemas.microsoft.com/office/powerpoint/2010/main" val="926677139"/>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A3648A-1E1F-F7FA-F673-32ED43969FED}"/>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D4B71B77-0202-A7D2-DF1F-79B71AC7F3C1}"/>
              </a:ext>
            </a:extLst>
          </p:cNvPr>
          <p:cNvSpPr>
            <a:spLocks noGrp="1"/>
          </p:cNvSpPr>
          <p:nvPr>
            <p:ph type="dt" sz="half" idx="10"/>
          </p:nvPr>
        </p:nvSpPr>
        <p:spPr/>
        <p:txBody>
          <a:bodyPr/>
          <a:lstStyle/>
          <a:p>
            <a:fld id="{E4DE2F0E-3115-794A-A56E-BA3D171BBBC1}" type="datetimeFigureOut">
              <a:rPr lang="en-US" smtClean="0"/>
              <a:t>4/20/26</a:t>
            </a:fld>
            <a:endParaRPr lang="en-US"/>
          </a:p>
        </p:txBody>
      </p:sp>
      <p:sp>
        <p:nvSpPr>
          <p:cNvPr id="4" name="Footer Placeholder 3">
            <a:extLst>
              <a:ext uri="{FF2B5EF4-FFF2-40B4-BE49-F238E27FC236}">
                <a16:creationId xmlns:a16="http://schemas.microsoft.com/office/drawing/2014/main" id="{E9068E51-B73E-DBE1-C0FD-AC7029D33DDA}"/>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B3AB9FC2-CFAB-8784-EB26-76950F3AE283}"/>
              </a:ext>
            </a:extLst>
          </p:cNvPr>
          <p:cNvSpPr>
            <a:spLocks noGrp="1"/>
          </p:cNvSpPr>
          <p:nvPr>
            <p:ph type="sldNum" sz="quarter" idx="12"/>
          </p:nvPr>
        </p:nvSpPr>
        <p:spPr/>
        <p:txBody>
          <a:bodyPr/>
          <a:lstStyle/>
          <a:p>
            <a:fld id="{D3752960-BB8B-F043-A11D-3CB31AF53645}" type="slidenum">
              <a:rPr lang="en-US" smtClean="0"/>
              <a:t>‹#›</a:t>
            </a:fld>
            <a:endParaRPr lang="en-US"/>
          </a:p>
        </p:txBody>
      </p:sp>
    </p:spTree>
    <p:extLst>
      <p:ext uri="{BB962C8B-B14F-4D97-AF65-F5344CB8AC3E}">
        <p14:creationId xmlns:p14="http://schemas.microsoft.com/office/powerpoint/2010/main" val="3236954873"/>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8ED5B27D-8278-4464-7AFB-13615DA5CCAC}"/>
              </a:ext>
            </a:extLst>
          </p:cNvPr>
          <p:cNvSpPr>
            <a:spLocks noGrp="1"/>
          </p:cNvSpPr>
          <p:nvPr>
            <p:ph type="dt" sz="half" idx="10"/>
          </p:nvPr>
        </p:nvSpPr>
        <p:spPr/>
        <p:txBody>
          <a:bodyPr/>
          <a:lstStyle/>
          <a:p>
            <a:fld id="{E4DE2F0E-3115-794A-A56E-BA3D171BBBC1}" type="datetimeFigureOut">
              <a:rPr lang="en-US" smtClean="0"/>
              <a:t>4/20/26</a:t>
            </a:fld>
            <a:endParaRPr lang="en-US"/>
          </a:p>
        </p:txBody>
      </p:sp>
      <p:sp>
        <p:nvSpPr>
          <p:cNvPr id="3" name="Footer Placeholder 2">
            <a:extLst>
              <a:ext uri="{FF2B5EF4-FFF2-40B4-BE49-F238E27FC236}">
                <a16:creationId xmlns:a16="http://schemas.microsoft.com/office/drawing/2014/main" id="{609DE766-B306-5448-E82B-682273CF8D28}"/>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A7830339-F2B4-7120-EC28-7AA9D1863BE0}"/>
              </a:ext>
            </a:extLst>
          </p:cNvPr>
          <p:cNvSpPr>
            <a:spLocks noGrp="1"/>
          </p:cNvSpPr>
          <p:nvPr>
            <p:ph type="sldNum" sz="quarter" idx="12"/>
          </p:nvPr>
        </p:nvSpPr>
        <p:spPr/>
        <p:txBody>
          <a:bodyPr/>
          <a:lstStyle/>
          <a:p>
            <a:fld id="{D3752960-BB8B-F043-A11D-3CB31AF53645}" type="slidenum">
              <a:rPr lang="en-US" smtClean="0"/>
              <a:t>‹#›</a:t>
            </a:fld>
            <a:endParaRPr lang="en-US"/>
          </a:p>
        </p:txBody>
      </p:sp>
    </p:spTree>
    <p:extLst>
      <p:ext uri="{BB962C8B-B14F-4D97-AF65-F5344CB8AC3E}">
        <p14:creationId xmlns:p14="http://schemas.microsoft.com/office/powerpoint/2010/main" val="2930075619"/>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1F48DF-6D47-FF3C-7B5E-4633B1E65BD0}"/>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D149ADCF-3A22-6DBF-462F-817F0064DB77}"/>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22F9A9DC-48AD-D474-01FD-0B38A832E40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40A1743C-4BE7-2BDC-15DB-3724A83EBAB8}"/>
              </a:ext>
            </a:extLst>
          </p:cNvPr>
          <p:cNvSpPr>
            <a:spLocks noGrp="1"/>
          </p:cNvSpPr>
          <p:nvPr>
            <p:ph type="dt" sz="half" idx="10"/>
          </p:nvPr>
        </p:nvSpPr>
        <p:spPr/>
        <p:txBody>
          <a:bodyPr/>
          <a:lstStyle/>
          <a:p>
            <a:fld id="{E4DE2F0E-3115-794A-A56E-BA3D171BBBC1}" type="datetimeFigureOut">
              <a:rPr lang="en-US" smtClean="0"/>
              <a:t>4/20/26</a:t>
            </a:fld>
            <a:endParaRPr lang="en-US"/>
          </a:p>
        </p:txBody>
      </p:sp>
      <p:sp>
        <p:nvSpPr>
          <p:cNvPr id="6" name="Footer Placeholder 5">
            <a:extLst>
              <a:ext uri="{FF2B5EF4-FFF2-40B4-BE49-F238E27FC236}">
                <a16:creationId xmlns:a16="http://schemas.microsoft.com/office/drawing/2014/main" id="{8B28066E-85DC-0135-7513-8FFB5B474682}"/>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FEA371E4-2565-B309-AE64-7A872A0F7DCF}"/>
              </a:ext>
            </a:extLst>
          </p:cNvPr>
          <p:cNvSpPr>
            <a:spLocks noGrp="1"/>
          </p:cNvSpPr>
          <p:nvPr>
            <p:ph type="sldNum" sz="quarter" idx="12"/>
          </p:nvPr>
        </p:nvSpPr>
        <p:spPr/>
        <p:txBody>
          <a:bodyPr/>
          <a:lstStyle/>
          <a:p>
            <a:fld id="{D3752960-BB8B-F043-A11D-3CB31AF53645}" type="slidenum">
              <a:rPr lang="en-US" smtClean="0"/>
              <a:t>‹#›</a:t>
            </a:fld>
            <a:endParaRPr lang="en-US"/>
          </a:p>
        </p:txBody>
      </p:sp>
    </p:spTree>
    <p:extLst>
      <p:ext uri="{BB962C8B-B14F-4D97-AF65-F5344CB8AC3E}">
        <p14:creationId xmlns:p14="http://schemas.microsoft.com/office/powerpoint/2010/main" val="2383098856"/>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630461-03D2-050E-A5F8-F4722EF65102}"/>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B8C8854A-A0D4-1A65-659C-C8C0E60E3B96}"/>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CCABDC88-D030-BC37-B8A4-CA706592718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B4B9955-ECD8-3E71-2C67-9DB0EF52C98D}"/>
              </a:ext>
            </a:extLst>
          </p:cNvPr>
          <p:cNvSpPr>
            <a:spLocks noGrp="1"/>
          </p:cNvSpPr>
          <p:nvPr>
            <p:ph type="dt" sz="half" idx="10"/>
          </p:nvPr>
        </p:nvSpPr>
        <p:spPr/>
        <p:txBody>
          <a:bodyPr/>
          <a:lstStyle/>
          <a:p>
            <a:fld id="{E4DE2F0E-3115-794A-A56E-BA3D171BBBC1}" type="datetimeFigureOut">
              <a:rPr lang="en-US" smtClean="0"/>
              <a:t>4/20/26</a:t>
            </a:fld>
            <a:endParaRPr lang="en-US"/>
          </a:p>
        </p:txBody>
      </p:sp>
      <p:sp>
        <p:nvSpPr>
          <p:cNvPr id="6" name="Footer Placeholder 5">
            <a:extLst>
              <a:ext uri="{FF2B5EF4-FFF2-40B4-BE49-F238E27FC236}">
                <a16:creationId xmlns:a16="http://schemas.microsoft.com/office/drawing/2014/main" id="{BEBB1D6B-35E3-E816-60C9-EA5283442F74}"/>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CCFE3E9B-E2D7-8BAF-DE68-89F773006A8A}"/>
              </a:ext>
            </a:extLst>
          </p:cNvPr>
          <p:cNvSpPr>
            <a:spLocks noGrp="1"/>
          </p:cNvSpPr>
          <p:nvPr>
            <p:ph type="sldNum" sz="quarter" idx="12"/>
          </p:nvPr>
        </p:nvSpPr>
        <p:spPr/>
        <p:txBody>
          <a:bodyPr/>
          <a:lstStyle/>
          <a:p>
            <a:fld id="{D3752960-BB8B-F043-A11D-3CB31AF53645}" type="slidenum">
              <a:rPr lang="en-US" smtClean="0"/>
              <a:t>‹#›</a:t>
            </a:fld>
            <a:endParaRPr lang="en-US"/>
          </a:p>
        </p:txBody>
      </p:sp>
    </p:spTree>
    <p:extLst>
      <p:ext uri="{BB962C8B-B14F-4D97-AF65-F5344CB8AC3E}">
        <p14:creationId xmlns:p14="http://schemas.microsoft.com/office/powerpoint/2010/main" val="3585152195"/>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4003D3-7D15-20BA-DE47-AE8644FB0219}"/>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A3CB1034-4C3C-2065-84B3-B66BF7B9F826}"/>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291A21F-2BB3-B051-A72B-485AC210567E}"/>
              </a:ext>
            </a:extLst>
          </p:cNvPr>
          <p:cNvSpPr>
            <a:spLocks noGrp="1"/>
          </p:cNvSpPr>
          <p:nvPr>
            <p:ph type="dt" sz="half" idx="10"/>
          </p:nvPr>
        </p:nvSpPr>
        <p:spPr/>
        <p:txBody>
          <a:bodyPr/>
          <a:lstStyle/>
          <a:p>
            <a:fld id="{E4DE2F0E-3115-794A-A56E-BA3D171BBBC1}" type="datetimeFigureOut">
              <a:rPr lang="en-US" smtClean="0"/>
              <a:t>4/20/26</a:t>
            </a:fld>
            <a:endParaRPr lang="en-US"/>
          </a:p>
        </p:txBody>
      </p:sp>
      <p:sp>
        <p:nvSpPr>
          <p:cNvPr id="5" name="Footer Placeholder 4">
            <a:extLst>
              <a:ext uri="{FF2B5EF4-FFF2-40B4-BE49-F238E27FC236}">
                <a16:creationId xmlns:a16="http://schemas.microsoft.com/office/drawing/2014/main" id="{0E22EC22-161C-AD50-0266-5BC08489E54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E185CBF-70ED-5F75-3ECC-CA5054CD5311}"/>
              </a:ext>
            </a:extLst>
          </p:cNvPr>
          <p:cNvSpPr>
            <a:spLocks noGrp="1"/>
          </p:cNvSpPr>
          <p:nvPr>
            <p:ph type="sldNum" sz="quarter" idx="12"/>
          </p:nvPr>
        </p:nvSpPr>
        <p:spPr/>
        <p:txBody>
          <a:bodyPr/>
          <a:lstStyle/>
          <a:p>
            <a:fld id="{D3752960-BB8B-F043-A11D-3CB31AF53645}" type="slidenum">
              <a:rPr lang="en-US" smtClean="0"/>
              <a:t>‹#›</a:t>
            </a:fld>
            <a:endParaRPr lang="en-US"/>
          </a:p>
        </p:txBody>
      </p:sp>
    </p:spTree>
    <p:extLst>
      <p:ext uri="{BB962C8B-B14F-4D97-AF65-F5344CB8AC3E}">
        <p14:creationId xmlns:p14="http://schemas.microsoft.com/office/powerpoint/2010/main" val="4283137431"/>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E1FFFDD4-267F-0554-EBD2-9CB782BF58AA}"/>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8289760F-BA78-3D93-C9FE-29A5C6B1450A}"/>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74DC626-90A3-EFAD-396A-F0CEB1EA2AB6}"/>
              </a:ext>
            </a:extLst>
          </p:cNvPr>
          <p:cNvSpPr>
            <a:spLocks noGrp="1"/>
          </p:cNvSpPr>
          <p:nvPr>
            <p:ph type="dt" sz="half" idx="10"/>
          </p:nvPr>
        </p:nvSpPr>
        <p:spPr/>
        <p:txBody>
          <a:bodyPr/>
          <a:lstStyle/>
          <a:p>
            <a:fld id="{E4DE2F0E-3115-794A-A56E-BA3D171BBBC1}" type="datetimeFigureOut">
              <a:rPr lang="en-US" smtClean="0"/>
              <a:t>4/20/26</a:t>
            </a:fld>
            <a:endParaRPr lang="en-US"/>
          </a:p>
        </p:txBody>
      </p:sp>
      <p:sp>
        <p:nvSpPr>
          <p:cNvPr id="5" name="Footer Placeholder 4">
            <a:extLst>
              <a:ext uri="{FF2B5EF4-FFF2-40B4-BE49-F238E27FC236}">
                <a16:creationId xmlns:a16="http://schemas.microsoft.com/office/drawing/2014/main" id="{E9342F6C-6F22-0280-D7CA-114F64F6B34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FF58CAE-B43C-CF19-B34F-33C88AA9417C}"/>
              </a:ext>
            </a:extLst>
          </p:cNvPr>
          <p:cNvSpPr>
            <a:spLocks noGrp="1"/>
          </p:cNvSpPr>
          <p:nvPr>
            <p:ph type="sldNum" sz="quarter" idx="12"/>
          </p:nvPr>
        </p:nvSpPr>
        <p:spPr/>
        <p:txBody>
          <a:bodyPr/>
          <a:lstStyle/>
          <a:p>
            <a:fld id="{D3752960-BB8B-F043-A11D-3CB31AF53645}" type="slidenum">
              <a:rPr lang="en-US" smtClean="0"/>
              <a:t>‹#›</a:t>
            </a:fld>
            <a:endParaRPr lang="en-US"/>
          </a:p>
        </p:txBody>
      </p:sp>
    </p:spTree>
    <p:extLst>
      <p:ext uri="{BB962C8B-B14F-4D97-AF65-F5344CB8AC3E}">
        <p14:creationId xmlns:p14="http://schemas.microsoft.com/office/powerpoint/2010/main" val="863503472"/>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9B9DDD-1052-5A70-99E0-7BA03F4BDC13}"/>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2298B4AA-A83A-0B9D-AEBA-ED3F7FE4E3F4}"/>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C2636475-7331-2647-2A9C-0953168C503C}"/>
              </a:ext>
            </a:extLst>
          </p:cNvPr>
          <p:cNvSpPr>
            <a:spLocks noGrp="1"/>
          </p:cNvSpPr>
          <p:nvPr>
            <p:ph type="dt" sz="half" idx="10"/>
          </p:nvPr>
        </p:nvSpPr>
        <p:spPr/>
        <p:txBody>
          <a:bodyPr/>
          <a:lstStyle/>
          <a:p>
            <a:fld id="{E4DE2F0E-3115-794A-A56E-BA3D171BBBC1}" type="datetimeFigureOut">
              <a:rPr lang="en-US" smtClean="0"/>
              <a:t>4/20/26</a:t>
            </a:fld>
            <a:endParaRPr lang="en-US"/>
          </a:p>
        </p:txBody>
      </p:sp>
      <p:sp>
        <p:nvSpPr>
          <p:cNvPr id="5" name="Footer Placeholder 4">
            <a:extLst>
              <a:ext uri="{FF2B5EF4-FFF2-40B4-BE49-F238E27FC236}">
                <a16:creationId xmlns:a16="http://schemas.microsoft.com/office/drawing/2014/main" id="{A2B66401-EB16-E5D3-A32C-E014DC803BE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BE51E5C-FB3F-477A-BFB7-108A72304A91}"/>
              </a:ext>
            </a:extLst>
          </p:cNvPr>
          <p:cNvSpPr>
            <a:spLocks noGrp="1"/>
          </p:cNvSpPr>
          <p:nvPr>
            <p:ph type="sldNum" sz="quarter" idx="12"/>
          </p:nvPr>
        </p:nvSpPr>
        <p:spPr/>
        <p:txBody>
          <a:bodyPr/>
          <a:lstStyle/>
          <a:p>
            <a:fld id="{D3752960-BB8B-F043-A11D-3CB31AF53645}" type="slidenum">
              <a:rPr lang="en-US" smtClean="0"/>
              <a:t>‹#›</a:t>
            </a:fld>
            <a:endParaRPr lang="en-US"/>
          </a:p>
        </p:txBody>
      </p:sp>
    </p:spTree>
    <p:extLst>
      <p:ext uri="{BB962C8B-B14F-4D97-AF65-F5344CB8AC3E}">
        <p14:creationId xmlns:p14="http://schemas.microsoft.com/office/powerpoint/2010/main" val="3851502513"/>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DA91A8-5111-3456-9367-3FCD7FBF7C2C}"/>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A0B2ABDC-53A6-ED69-458B-3B70957E4865}"/>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1179114-0D7B-0B6E-0F05-DE90DE4D92DD}"/>
              </a:ext>
            </a:extLst>
          </p:cNvPr>
          <p:cNvSpPr>
            <a:spLocks noGrp="1"/>
          </p:cNvSpPr>
          <p:nvPr>
            <p:ph type="dt" sz="half" idx="10"/>
          </p:nvPr>
        </p:nvSpPr>
        <p:spPr/>
        <p:txBody>
          <a:bodyPr/>
          <a:lstStyle/>
          <a:p>
            <a:fld id="{E4DE2F0E-3115-794A-A56E-BA3D171BBBC1}" type="datetimeFigureOut">
              <a:rPr lang="en-US" smtClean="0"/>
              <a:t>4/20/26</a:t>
            </a:fld>
            <a:endParaRPr lang="en-US"/>
          </a:p>
        </p:txBody>
      </p:sp>
      <p:sp>
        <p:nvSpPr>
          <p:cNvPr id="5" name="Footer Placeholder 4">
            <a:extLst>
              <a:ext uri="{FF2B5EF4-FFF2-40B4-BE49-F238E27FC236}">
                <a16:creationId xmlns:a16="http://schemas.microsoft.com/office/drawing/2014/main" id="{945338FE-AD8B-2BD1-072C-3008C93B5E4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5012D92-4743-F930-0CCC-F7A3CE2EC543}"/>
              </a:ext>
            </a:extLst>
          </p:cNvPr>
          <p:cNvSpPr>
            <a:spLocks noGrp="1"/>
          </p:cNvSpPr>
          <p:nvPr>
            <p:ph type="sldNum" sz="quarter" idx="12"/>
          </p:nvPr>
        </p:nvSpPr>
        <p:spPr/>
        <p:txBody>
          <a:bodyPr/>
          <a:lstStyle/>
          <a:p>
            <a:fld id="{D3752960-BB8B-F043-A11D-3CB31AF53645}" type="slidenum">
              <a:rPr lang="en-US" smtClean="0"/>
              <a:t>‹#›</a:t>
            </a:fld>
            <a:endParaRPr lang="en-US"/>
          </a:p>
        </p:txBody>
      </p:sp>
    </p:spTree>
    <p:extLst>
      <p:ext uri="{BB962C8B-B14F-4D97-AF65-F5344CB8AC3E}">
        <p14:creationId xmlns:p14="http://schemas.microsoft.com/office/powerpoint/2010/main" val="3974874198"/>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46A5CC-9E93-272A-4184-30CD7C186D59}"/>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E18EF4AE-0FA9-1269-0C54-CDE5F4FA4CBA}"/>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601F54EB-0188-CBC3-3C63-6766AD09F5D9}"/>
              </a:ext>
            </a:extLst>
          </p:cNvPr>
          <p:cNvSpPr>
            <a:spLocks noGrp="1"/>
          </p:cNvSpPr>
          <p:nvPr>
            <p:ph type="dt" sz="half" idx="10"/>
          </p:nvPr>
        </p:nvSpPr>
        <p:spPr/>
        <p:txBody>
          <a:bodyPr/>
          <a:lstStyle/>
          <a:p>
            <a:fld id="{E4DE2F0E-3115-794A-A56E-BA3D171BBBC1}" type="datetimeFigureOut">
              <a:rPr lang="en-US" smtClean="0"/>
              <a:t>4/20/26</a:t>
            </a:fld>
            <a:endParaRPr lang="en-US"/>
          </a:p>
        </p:txBody>
      </p:sp>
      <p:sp>
        <p:nvSpPr>
          <p:cNvPr id="5" name="Footer Placeholder 4">
            <a:extLst>
              <a:ext uri="{FF2B5EF4-FFF2-40B4-BE49-F238E27FC236}">
                <a16:creationId xmlns:a16="http://schemas.microsoft.com/office/drawing/2014/main" id="{A439A6A7-F273-ACA1-A416-818E3348049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17FAC63-A371-726C-CE6E-490E84C475ED}"/>
              </a:ext>
            </a:extLst>
          </p:cNvPr>
          <p:cNvSpPr>
            <a:spLocks noGrp="1"/>
          </p:cNvSpPr>
          <p:nvPr>
            <p:ph type="sldNum" sz="quarter" idx="12"/>
          </p:nvPr>
        </p:nvSpPr>
        <p:spPr/>
        <p:txBody>
          <a:bodyPr/>
          <a:lstStyle/>
          <a:p>
            <a:fld id="{D3752960-BB8B-F043-A11D-3CB31AF53645}" type="slidenum">
              <a:rPr lang="en-US" smtClean="0"/>
              <a:t>‹#›</a:t>
            </a:fld>
            <a:endParaRPr lang="en-US"/>
          </a:p>
        </p:txBody>
      </p:sp>
    </p:spTree>
    <p:extLst>
      <p:ext uri="{BB962C8B-B14F-4D97-AF65-F5344CB8AC3E}">
        <p14:creationId xmlns:p14="http://schemas.microsoft.com/office/powerpoint/2010/main" val="297782324"/>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331D14-3F70-6B95-BA0C-B5CC9E600546}"/>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36180A43-9876-0AB1-89ED-25E41AA41A56}"/>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557A1292-C5F3-AB67-5890-08B931556069}"/>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4B7BB68B-667D-EBE7-7C39-C179BD5DF0A6}"/>
              </a:ext>
            </a:extLst>
          </p:cNvPr>
          <p:cNvSpPr>
            <a:spLocks noGrp="1"/>
          </p:cNvSpPr>
          <p:nvPr>
            <p:ph type="dt" sz="half" idx="10"/>
          </p:nvPr>
        </p:nvSpPr>
        <p:spPr/>
        <p:txBody>
          <a:bodyPr/>
          <a:lstStyle/>
          <a:p>
            <a:fld id="{E4DE2F0E-3115-794A-A56E-BA3D171BBBC1}" type="datetimeFigureOut">
              <a:rPr lang="en-US" smtClean="0"/>
              <a:t>4/20/26</a:t>
            </a:fld>
            <a:endParaRPr lang="en-US"/>
          </a:p>
        </p:txBody>
      </p:sp>
      <p:sp>
        <p:nvSpPr>
          <p:cNvPr id="6" name="Footer Placeholder 5">
            <a:extLst>
              <a:ext uri="{FF2B5EF4-FFF2-40B4-BE49-F238E27FC236}">
                <a16:creationId xmlns:a16="http://schemas.microsoft.com/office/drawing/2014/main" id="{DF4E69F8-4BE8-4400-BBA6-0DC4A9E5A9AA}"/>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FD57FADD-BCD2-51F9-89A8-E5EDC8D7C905}"/>
              </a:ext>
            </a:extLst>
          </p:cNvPr>
          <p:cNvSpPr>
            <a:spLocks noGrp="1"/>
          </p:cNvSpPr>
          <p:nvPr>
            <p:ph type="sldNum" sz="quarter" idx="12"/>
          </p:nvPr>
        </p:nvSpPr>
        <p:spPr/>
        <p:txBody>
          <a:bodyPr/>
          <a:lstStyle/>
          <a:p>
            <a:fld id="{D3752960-BB8B-F043-A11D-3CB31AF53645}" type="slidenum">
              <a:rPr lang="en-US" smtClean="0"/>
              <a:t>‹#›</a:t>
            </a:fld>
            <a:endParaRPr lang="en-US"/>
          </a:p>
        </p:txBody>
      </p:sp>
    </p:spTree>
    <p:extLst>
      <p:ext uri="{BB962C8B-B14F-4D97-AF65-F5344CB8AC3E}">
        <p14:creationId xmlns:p14="http://schemas.microsoft.com/office/powerpoint/2010/main" val="14625204"/>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574BE5-5310-87F2-C8EF-13E7DF5571F9}"/>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483822F0-D12F-924A-BF73-2B121810B619}"/>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B4DDAB01-1933-2564-38CB-C920D2A04D88}"/>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A4C5929D-46AD-D600-32C0-3E28EC98B2B0}"/>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E755E89A-7B93-6128-D251-45464DA8C083}"/>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BD870D1E-56D4-E155-5226-5A12A20E2562}"/>
              </a:ext>
            </a:extLst>
          </p:cNvPr>
          <p:cNvSpPr>
            <a:spLocks noGrp="1"/>
          </p:cNvSpPr>
          <p:nvPr>
            <p:ph type="dt" sz="half" idx="10"/>
          </p:nvPr>
        </p:nvSpPr>
        <p:spPr/>
        <p:txBody>
          <a:bodyPr/>
          <a:lstStyle/>
          <a:p>
            <a:fld id="{E4DE2F0E-3115-794A-A56E-BA3D171BBBC1}" type="datetimeFigureOut">
              <a:rPr lang="en-US" smtClean="0"/>
              <a:t>4/20/26</a:t>
            </a:fld>
            <a:endParaRPr lang="en-US"/>
          </a:p>
        </p:txBody>
      </p:sp>
      <p:sp>
        <p:nvSpPr>
          <p:cNvPr id="8" name="Footer Placeholder 7">
            <a:extLst>
              <a:ext uri="{FF2B5EF4-FFF2-40B4-BE49-F238E27FC236}">
                <a16:creationId xmlns:a16="http://schemas.microsoft.com/office/drawing/2014/main" id="{18B7CD5C-F254-B178-B565-0D0575524874}"/>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046796D3-2BB3-414A-2389-B4C10E3CFD35}"/>
              </a:ext>
            </a:extLst>
          </p:cNvPr>
          <p:cNvSpPr>
            <a:spLocks noGrp="1"/>
          </p:cNvSpPr>
          <p:nvPr>
            <p:ph type="sldNum" sz="quarter" idx="12"/>
          </p:nvPr>
        </p:nvSpPr>
        <p:spPr/>
        <p:txBody>
          <a:bodyPr/>
          <a:lstStyle/>
          <a:p>
            <a:fld id="{D3752960-BB8B-F043-A11D-3CB31AF53645}" type="slidenum">
              <a:rPr lang="en-US" smtClean="0"/>
              <a:t>‹#›</a:t>
            </a:fld>
            <a:endParaRPr lang="en-US"/>
          </a:p>
        </p:txBody>
      </p:sp>
    </p:spTree>
    <p:extLst>
      <p:ext uri="{BB962C8B-B14F-4D97-AF65-F5344CB8AC3E}">
        <p14:creationId xmlns:p14="http://schemas.microsoft.com/office/powerpoint/2010/main" val="926677139"/>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A3648A-1E1F-F7FA-F673-32ED43969FED}"/>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D4B71B77-0202-A7D2-DF1F-79B71AC7F3C1}"/>
              </a:ext>
            </a:extLst>
          </p:cNvPr>
          <p:cNvSpPr>
            <a:spLocks noGrp="1"/>
          </p:cNvSpPr>
          <p:nvPr>
            <p:ph type="dt" sz="half" idx="10"/>
          </p:nvPr>
        </p:nvSpPr>
        <p:spPr/>
        <p:txBody>
          <a:bodyPr/>
          <a:lstStyle/>
          <a:p>
            <a:fld id="{E4DE2F0E-3115-794A-A56E-BA3D171BBBC1}" type="datetimeFigureOut">
              <a:rPr lang="en-US" smtClean="0"/>
              <a:t>4/20/26</a:t>
            </a:fld>
            <a:endParaRPr lang="en-US"/>
          </a:p>
        </p:txBody>
      </p:sp>
      <p:sp>
        <p:nvSpPr>
          <p:cNvPr id="4" name="Footer Placeholder 3">
            <a:extLst>
              <a:ext uri="{FF2B5EF4-FFF2-40B4-BE49-F238E27FC236}">
                <a16:creationId xmlns:a16="http://schemas.microsoft.com/office/drawing/2014/main" id="{E9068E51-B73E-DBE1-C0FD-AC7029D33DDA}"/>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B3AB9FC2-CFAB-8784-EB26-76950F3AE283}"/>
              </a:ext>
            </a:extLst>
          </p:cNvPr>
          <p:cNvSpPr>
            <a:spLocks noGrp="1"/>
          </p:cNvSpPr>
          <p:nvPr>
            <p:ph type="sldNum" sz="quarter" idx="12"/>
          </p:nvPr>
        </p:nvSpPr>
        <p:spPr/>
        <p:txBody>
          <a:bodyPr/>
          <a:lstStyle/>
          <a:p>
            <a:fld id="{D3752960-BB8B-F043-A11D-3CB31AF53645}" type="slidenum">
              <a:rPr lang="en-US" smtClean="0"/>
              <a:t>‹#›</a:t>
            </a:fld>
            <a:endParaRPr lang="en-US"/>
          </a:p>
        </p:txBody>
      </p:sp>
    </p:spTree>
    <p:extLst>
      <p:ext uri="{BB962C8B-B14F-4D97-AF65-F5344CB8AC3E}">
        <p14:creationId xmlns:p14="http://schemas.microsoft.com/office/powerpoint/2010/main" val="3236954873"/>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8ED5B27D-8278-4464-7AFB-13615DA5CCAC}"/>
              </a:ext>
            </a:extLst>
          </p:cNvPr>
          <p:cNvSpPr>
            <a:spLocks noGrp="1"/>
          </p:cNvSpPr>
          <p:nvPr>
            <p:ph type="dt" sz="half" idx="10"/>
          </p:nvPr>
        </p:nvSpPr>
        <p:spPr/>
        <p:txBody>
          <a:bodyPr/>
          <a:lstStyle/>
          <a:p>
            <a:fld id="{E4DE2F0E-3115-794A-A56E-BA3D171BBBC1}" type="datetimeFigureOut">
              <a:rPr lang="en-US" smtClean="0"/>
              <a:t>4/20/26</a:t>
            </a:fld>
            <a:endParaRPr lang="en-US"/>
          </a:p>
        </p:txBody>
      </p:sp>
      <p:sp>
        <p:nvSpPr>
          <p:cNvPr id="3" name="Footer Placeholder 2">
            <a:extLst>
              <a:ext uri="{FF2B5EF4-FFF2-40B4-BE49-F238E27FC236}">
                <a16:creationId xmlns:a16="http://schemas.microsoft.com/office/drawing/2014/main" id="{609DE766-B306-5448-E82B-682273CF8D28}"/>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A7830339-F2B4-7120-EC28-7AA9D1863BE0}"/>
              </a:ext>
            </a:extLst>
          </p:cNvPr>
          <p:cNvSpPr>
            <a:spLocks noGrp="1"/>
          </p:cNvSpPr>
          <p:nvPr>
            <p:ph type="sldNum" sz="quarter" idx="12"/>
          </p:nvPr>
        </p:nvSpPr>
        <p:spPr/>
        <p:txBody>
          <a:bodyPr/>
          <a:lstStyle/>
          <a:p>
            <a:fld id="{D3752960-BB8B-F043-A11D-3CB31AF53645}" type="slidenum">
              <a:rPr lang="en-US" smtClean="0"/>
              <a:t>‹#›</a:t>
            </a:fld>
            <a:endParaRPr lang="en-US"/>
          </a:p>
        </p:txBody>
      </p:sp>
    </p:spTree>
    <p:extLst>
      <p:ext uri="{BB962C8B-B14F-4D97-AF65-F5344CB8AC3E}">
        <p14:creationId xmlns:p14="http://schemas.microsoft.com/office/powerpoint/2010/main" val="2930075619"/>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1F48DF-6D47-FF3C-7B5E-4633B1E65BD0}"/>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D149ADCF-3A22-6DBF-462F-817F0064DB77}"/>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22F9A9DC-48AD-D474-01FD-0B38A832E40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40A1743C-4BE7-2BDC-15DB-3724A83EBAB8}"/>
              </a:ext>
            </a:extLst>
          </p:cNvPr>
          <p:cNvSpPr>
            <a:spLocks noGrp="1"/>
          </p:cNvSpPr>
          <p:nvPr>
            <p:ph type="dt" sz="half" idx="10"/>
          </p:nvPr>
        </p:nvSpPr>
        <p:spPr/>
        <p:txBody>
          <a:bodyPr/>
          <a:lstStyle/>
          <a:p>
            <a:fld id="{E4DE2F0E-3115-794A-A56E-BA3D171BBBC1}" type="datetimeFigureOut">
              <a:rPr lang="en-US" smtClean="0"/>
              <a:t>4/20/26</a:t>
            </a:fld>
            <a:endParaRPr lang="en-US"/>
          </a:p>
        </p:txBody>
      </p:sp>
      <p:sp>
        <p:nvSpPr>
          <p:cNvPr id="6" name="Footer Placeholder 5">
            <a:extLst>
              <a:ext uri="{FF2B5EF4-FFF2-40B4-BE49-F238E27FC236}">
                <a16:creationId xmlns:a16="http://schemas.microsoft.com/office/drawing/2014/main" id="{8B28066E-85DC-0135-7513-8FFB5B474682}"/>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FEA371E4-2565-B309-AE64-7A872A0F7DCF}"/>
              </a:ext>
            </a:extLst>
          </p:cNvPr>
          <p:cNvSpPr>
            <a:spLocks noGrp="1"/>
          </p:cNvSpPr>
          <p:nvPr>
            <p:ph type="sldNum" sz="quarter" idx="12"/>
          </p:nvPr>
        </p:nvSpPr>
        <p:spPr/>
        <p:txBody>
          <a:bodyPr/>
          <a:lstStyle/>
          <a:p>
            <a:fld id="{D3752960-BB8B-F043-A11D-3CB31AF53645}" type="slidenum">
              <a:rPr lang="en-US" smtClean="0"/>
              <a:t>‹#›</a:t>
            </a:fld>
            <a:endParaRPr lang="en-US"/>
          </a:p>
        </p:txBody>
      </p:sp>
    </p:spTree>
    <p:extLst>
      <p:ext uri="{BB962C8B-B14F-4D97-AF65-F5344CB8AC3E}">
        <p14:creationId xmlns:p14="http://schemas.microsoft.com/office/powerpoint/2010/main" val="2383098856"/>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630461-03D2-050E-A5F8-F4722EF65102}"/>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B8C8854A-A0D4-1A65-659C-C8C0E60E3B96}"/>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CCABDC88-D030-BC37-B8A4-CA706592718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B4B9955-ECD8-3E71-2C67-9DB0EF52C98D}"/>
              </a:ext>
            </a:extLst>
          </p:cNvPr>
          <p:cNvSpPr>
            <a:spLocks noGrp="1"/>
          </p:cNvSpPr>
          <p:nvPr>
            <p:ph type="dt" sz="half" idx="10"/>
          </p:nvPr>
        </p:nvSpPr>
        <p:spPr/>
        <p:txBody>
          <a:bodyPr/>
          <a:lstStyle/>
          <a:p>
            <a:fld id="{E4DE2F0E-3115-794A-A56E-BA3D171BBBC1}" type="datetimeFigureOut">
              <a:rPr lang="en-US" smtClean="0"/>
              <a:t>4/20/26</a:t>
            </a:fld>
            <a:endParaRPr lang="en-US"/>
          </a:p>
        </p:txBody>
      </p:sp>
      <p:sp>
        <p:nvSpPr>
          <p:cNvPr id="6" name="Footer Placeholder 5">
            <a:extLst>
              <a:ext uri="{FF2B5EF4-FFF2-40B4-BE49-F238E27FC236}">
                <a16:creationId xmlns:a16="http://schemas.microsoft.com/office/drawing/2014/main" id="{BEBB1D6B-35E3-E816-60C9-EA5283442F74}"/>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CCFE3E9B-E2D7-8BAF-DE68-89F773006A8A}"/>
              </a:ext>
            </a:extLst>
          </p:cNvPr>
          <p:cNvSpPr>
            <a:spLocks noGrp="1"/>
          </p:cNvSpPr>
          <p:nvPr>
            <p:ph type="sldNum" sz="quarter" idx="12"/>
          </p:nvPr>
        </p:nvSpPr>
        <p:spPr/>
        <p:txBody>
          <a:bodyPr/>
          <a:lstStyle/>
          <a:p>
            <a:fld id="{D3752960-BB8B-F043-A11D-3CB31AF53645}" type="slidenum">
              <a:rPr lang="en-US" smtClean="0"/>
              <a:t>‹#›</a:t>
            </a:fld>
            <a:endParaRPr lang="en-US"/>
          </a:p>
        </p:txBody>
      </p:sp>
    </p:spTree>
    <p:extLst>
      <p:ext uri="{BB962C8B-B14F-4D97-AF65-F5344CB8AC3E}">
        <p14:creationId xmlns:p14="http://schemas.microsoft.com/office/powerpoint/2010/main" val="3585152195"/>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4003D3-7D15-20BA-DE47-AE8644FB0219}"/>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A3CB1034-4C3C-2065-84B3-B66BF7B9F826}"/>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291A21F-2BB3-B051-A72B-485AC210567E}"/>
              </a:ext>
            </a:extLst>
          </p:cNvPr>
          <p:cNvSpPr>
            <a:spLocks noGrp="1"/>
          </p:cNvSpPr>
          <p:nvPr>
            <p:ph type="dt" sz="half" idx="10"/>
          </p:nvPr>
        </p:nvSpPr>
        <p:spPr/>
        <p:txBody>
          <a:bodyPr/>
          <a:lstStyle/>
          <a:p>
            <a:fld id="{E4DE2F0E-3115-794A-A56E-BA3D171BBBC1}" type="datetimeFigureOut">
              <a:rPr lang="en-US" smtClean="0"/>
              <a:t>4/20/26</a:t>
            </a:fld>
            <a:endParaRPr lang="en-US"/>
          </a:p>
        </p:txBody>
      </p:sp>
      <p:sp>
        <p:nvSpPr>
          <p:cNvPr id="5" name="Footer Placeholder 4">
            <a:extLst>
              <a:ext uri="{FF2B5EF4-FFF2-40B4-BE49-F238E27FC236}">
                <a16:creationId xmlns:a16="http://schemas.microsoft.com/office/drawing/2014/main" id="{0E22EC22-161C-AD50-0266-5BC08489E54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E185CBF-70ED-5F75-3ECC-CA5054CD5311}"/>
              </a:ext>
            </a:extLst>
          </p:cNvPr>
          <p:cNvSpPr>
            <a:spLocks noGrp="1"/>
          </p:cNvSpPr>
          <p:nvPr>
            <p:ph type="sldNum" sz="quarter" idx="12"/>
          </p:nvPr>
        </p:nvSpPr>
        <p:spPr/>
        <p:txBody>
          <a:bodyPr/>
          <a:lstStyle/>
          <a:p>
            <a:fld id="{D3752960-BB8B-F043-A11D-3CB31AF53645}" type="slidenum">
              <a:rPr lang="en-US" smtClean="0"/>
              <a:t>‹#›</a:t>
            </a:fld>
            <a:endParaRPr lang="en-US"/>
          </a:p>
        </p:txBody>
      </p:sp>
    </p:spTree>
    <p:extLst>
      <p:ext uri="{BB962C8B-B14F-4D97-AF65-F5344CB8AC3E}">
        <p14:creationId xmlns:p14="http://schemas.microsoft.com/office/powerpoint/2010/main" val="4283137431"/>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E1FFFDD4-267F-0554-EBD2-9CB782BF58AA}"/>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8289760F-BA78-3D93-C9FE-29A5C6B1450A}"/>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74DC626-90A3-EFAD-396A-F0CEB1EA2AB6}"/>
              </a:ext>
            </a:extLst>
          </p:cNvPr>
          <p:cNvSpPr>
            <a:spLocks noGrp="1"/>
          </p:cNvSpPr>
          <p:nvPr>
            <p:ph type="dt" sz="half" idx="10"/>
          </p:nvPr>
        </p:nvSpPr>
        <p:spPr/>
        <p:txBody>
          <a:bodyPr/>
          <a:lstStyle/>
          <a:p>
            <a:fld id="{E4DE2F0E-3115-794A-A56E-BA3D171BBBC1}" type="datetimeFigureOut">
              <a:rPr lang="en-US" smtClean="0"/>
              <a:t>4/20/26</a:t>
            </a:fld>
            <a:endParaRPr lang="en-US"/>
          </a:p>
        </p:txBody>
      </p:sp>
      <p:sp>
        <p:nvSpPr>
          <p:cNvPr id="5" name="Footer Placeholder 4">
            <a:extLst>
              <a:ext uri="{FF2B5EF4-FFF2-40B4-BE49-F238E27FC236}">
                <a16:creationId xmlns:a16="http://schemas.microsoft.com/office/drawing/2014/main" id="{E9342F6C-6F22-0280-D7CA-114F64F6B34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FF58CAE-B43C-CF19-B34F-33C88AA9417C}"/>
              </a:ext>
            </a:extLst>
          </p:cNvPr>
          <p:cNvSpPr>
            <a:spLocks noGrp="1"/>
          </p:cNvSpPr>
          <p:nvPr>
            <p:ph type="sldNum" sz="quarter" idx="12"/>
          </p:nvPr>
        </p:nvSpPr>
        <p:spPr/>
        <p:txBody>
          <a:bodyPr/>
          <a:lstStyle/>
          <a:p>
            <a:fld id="{D3752960-BB8B-F043-A11D-3CB31AF53645}" type="slidenum">
              <a:rPr lang="en-US" smtClean="0"/>
              <a:t>‹#›</a:t>
            </a:fld>
            <a:endParaRPr lang="en-US"/>
          </a:p>
        </p:txBody>
      </p:sp>
    </p:spTree>
    <p:extLst>
      <p:ext uri="{BB962C8B-B14F-4D97-AF65-F5344CB8AC3E}">
        <p14:creationId xmlns:p14="http://schemas.microsoft.com/office/powerpoint/2010/main" val="863503472"/>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9B9DDD-1052-5A70-99E0-7BA03F4BDC13}"/>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2298B4AA-A83A-0B9D-AEBA-ED3F7FE4E3F4}"/>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C2636475-7331-2647-2A9C-0953168C503C}"/>
              </a:ext>
            </a:extLst>
          </p:cNvPr>
          <p:cNvSpPr>
            <a:spLocks noGrp="1"/>
          </p:cNvSpPr>
          <p:nvPr>
            <p:ph type="dt" sz="half" idx="10"/>
          </p:nvPr>
        </p:nvSpPr>
        <p:spPr/>
        <p:txBody>
          <a:bodyPr/>
          <a:lstStyle/>
          <a:p>
            <a:fld id="{E4DE2F0E-3115-794A-A56E-BA3D171BBBC1}" type="datetimeFigureOut">
              <a:rPr lang="en-US" smtClean="0"/>
              <a:t>4/20/26</a:t>
            </a:fld>
            <a:endParaRPr lang="en-US"/>
          </a:p>
        </p:txBody>
      </p:sp>
      <p:sp>
        <p:nvSpPr>
          <p:cNvPr id="5" name="Footer Placeholder 4">
            <a:extLst>
              <a:ext uri="{FF2B5EF4-FFF2-40B4-BE49-F238E27FC236}">
                <a16:creationId xmlns:a16="http://schemas.microsoft.com/office/drawing/2014/main" id="{A2B66401-EB16-E5D3-A32C-E014DC803BE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BE51E5C-FB3F-477A-BFB7-108A72304A91}"/>
              </a:ext>
            </a:extLst>
          </p:cNvPr>
          <p:cNvSpPr>
            <a:spLocks noGrp="1"/>
          </p:cNvSpPr>
          <p:nvPr>
            <p:ph type="sldNum" sz="quarter" idx="12"/>
          </p:nvPr>
        </p:nvSpPr>
        <p:spPr/>
        <p:txBody>
          <a:bodyPr/>
          <a:lstStyle/>
          <a:p>
            <a:fld id="{D3752960-BB8B-F043-A11D-3CB31AF53645}" type="slidenum">
              <a:rPr lang="en-US" smtClean="0"/>
              <a:t>‹#›</a:t>
            </a:fld>
            <a:endParaRPr lang="en-US"/>
          </a:p>
        </p:txBody>
      </p:sp>
    </p:spTree>
    <p:extLst>
      <p:ext uri="{BB962C8B-B14F-4D97-AF65-F5344CB8AC3E}">
        <p14:creationId xmlns:p14="http://schemas.microsoft.com/office/powerpoint/2010/main" val="3851502513"/>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DA91A8-5111-3456-9367-3FCD7FBF7C2C}"/>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A0B2ABDC-53A6-ED69-458B-3B70957E4865}"/>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1179114-0D7B-0B6E-0F05-DE90DE4D92DD}"/>
              </a:ext>
            </a:extLst>
          </p:cNvPr>
          <p:cNvSpPr>
            <a:spLocks noGrp="1"/>
          </p:cNvSpPr>
          <p:nvPr>
            <p:ph type="dt" sz="half" idx="10"/>
          </p:nvPr>
        </p:nvSpPr>
        <p:spPr/>
        <p:txBody>
          <a:bodyPr/>
          <a:lstStyle/>
          <a:p>
            <a:fld id="{E4DE2F0E-3115-794A-A56E-BA3D171BBBC1}" type="datetimeFigureOut">
              <a:rPr lang="en-US" smtClean="0"/>
              <a:t>4/20/26</a:t>
            </a:fld>
            <a:endParaRPr lang="en-US"/>
          </a:p>
        </p:txBody>
      </p:sp>
      <p:sp>
        <p:nvSpPr>
          <p:cNvPr id="5" name="Footer Placeholder 4">
            <a:extLst>
              <a:ext uri="{FF2B5EF4-FFF2-40B4-BE49-F238E27FC236}">
                <a16:creationId xmlns:a16="http://schemas.microsoft.com/office/drawing/2014/main" id="{945338FE-AD8B-2BD1-072C-3008C93B5E4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5012D92-4743-F930-0CCC-F7A3CE2EC543}"/>
              </a:ext>
            </a:extLst>
          </p:cNvPr>
          <p:cNvSpPr>
            <a:spLocks noGrp="1"/>
          </p:cNvSpPr>
          <p:nvPr>
            <p:ph type="sldNum" sz="quarter" idx="12"/>
          </p:nvPr>
        </p:nvSpPr>
        <p:spPr/>
        <p:txBody>
          <a:bodyPr/>
          <a:lstStyle/>
          <a:p>
            <a:fld id="{D3752960-BB8B-F043-A11D-3CB31AF53645}" type="slidenum">
              <a:rPr lang="en-US" smtClean="0"/>
              <a:t>‹#›</a:t>
            </a:fld>
            <a:endParaRPr lang="en-US"/>
          </a:p>
        </p:txBody>
      </p:sp>
    </p:spTree>
    <p:extLst>
      <p:ext uri="{BB962C8B-B14F-4D97-AF65-F5344CB8AC3E}">
        <p14:creationId xmlns:p14="http://schemas.microsoft.com/office/powerpoint/2010/main" val="3974874198"/>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46A5CC-9E93-272A-4184-30CD7C186D59}"/>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E18EF4AE-0FA9-1269-0C54-CDE5F4FA4CBA}"/>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601F54EB-0188-CBC3-3C63-6766AD09F5D9}"/>
              </a:ext>
            </a:extLst>
          </p:cNvPr>
          <p:cNvSpPr>
            <a:spLocks noGrp="1"/>
          </p:cNvSpPr>
          <p:nvPr>
            <p:ph type="dt" sz="half" idx="10"/>
          </p:nvPr>
        </p:nvSpPr>
        <p:spPr/>
        <p:txBody>
          <a:bodyPr/>
          <a:lstStyle/>
          <a:p>
            <a:fld id="{E4DE2F0E-3115-794A-A56E-BA3D171BBBC1}" type="datetimeFigureOut">
              <a:rPr lang="en-US" smtClean="0"/>
              <a:t>4/20/26</a:t>
            </a:fld>
            <a:endParaRPr lang="en-US"/>
          </a:p>
        </p:txBody>
      </p:sp>
      <p:sp>
        <p:nvSpPr>
          <p:cNvPr id="5" name="Footer Placeholder 4">
            <a:extLst>
              <a:ext uri="{FF2B5EF4-FFF2-40B4-BE49-F238E27FC236}">
                <a16:creationId xmlns:a16="http://schemas.microsoft.com/office/drawing/2014/main" id="{A439A6A7-F273-ACA1-A416-818E3348049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17FAC63-A371-726C-CE6E-490E84C475ED}"/>
              </a:ext>
            </a:extLst>
          </p:cNvPr>
          <p:cNvSpPr>
            <a:spLocks noGrp="1"/>
          </p:cNvSpPr>
          <p:nvPr>
            <p:ph type="sldNum" sz="quarter" idx="12"/>
          </p:nvPr>
        </p:nvSpPr>
        <p:spPr/>
        <p:txBody>
          <a:bodyPr/>
          <a:lstStyle/>
          <a:p>
            <a:fld id="{D3752960-BB8B-F043-A11D-3CB31AF53645}" type="slidenum">
              <a:rPr lang="en-US" smtClean="0"/>
              <a:t>‹#›</a:t>
            </a:fld>
            <a:endParaRPr lang="en-US"/>
          </a:p>
        </p:txBody>
      </p:sp>
    </p:spTree>
    <p:extLst>
      <p:ext uri="{BB962C8B-B14F-4D97-AF65-F5344CB8AC3E}">
        <p14:creationId xmlns:p14="http://schemas.microsoft.com/office/powerpoint/2010/main" val="297782324"/>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331D14-3F70-6B95-BA0C-B5CC9E600546}"/>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36180A43-9876-0AB1-89ED-25E41AA41A56}"/>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557A1292-C5F3-AB67-5890-08B931556069}"/>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4B7BB68B-667D-EBE7-7C39-C179BD5DF0A6}"/>
              </a:ext>
            </a:extLst>
          </p:cNvPr>
          <p:cNvSpPr>
            <a:spLocks noGrp="1"/>
          </p:cNvSpPr>
          <p:nvPr>
            <p:ph type="dt" sz="half" idx="10"/>
          </p:nvPr>
        </p:nvSpPr>
        <p:spPr/>
        <p:txBody>
          <a:bodyPr/>
          <a:lstStyle/>
          <a:p>
            <a:fld id="{E4DE2F0E-3115-794A-A56E-BA3D171BBBC1}" type="datetimeFigureOut">
              <a:rPr lang="en-US" smtClean="0"/>
              <a:t>4/20/26</a:t>
            </a:fld>
            <a:endParaRPr lang="en-US"/>
          </a:p>
        </p:txBody>
      </p:sp>
      <p:sp>
        <p:nvSpPr>
          <p:cNvPr id="6" name="Footer Placeholder 5">
            <a:extLst>
              <a:ext uri="{FF2B5EF4-FFF2-40B4-BE49-F238E27FC236}">
                <a16:creationId xmlns:a16="http://schemas.microsoft.com/office/drawing/2014/main" id="{DF4E69F8-4BE8-4400-BBA6-0DC4A9E5A9AA}"/>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FD57FADD-BCD2-51F9-89A8-E5EDC8D7C905}"/>
              </a:ext>
            </a:extLst>
          </p:cNvPr>
          <p:cNvSpPr>
            <a:spLocks noGrp="1"/>
          </p:cNvSpPr>
          <p:nvPr>
            <p:ph type="sldNum" sz="quarter" idx="12"/>
          </p:nvPr>
        </p:nvSpPr>
        <p:spPr/>
        <p:txBody>
          <a:bodyPr/>
          <a:lstStyle/>
          <a:p>
            <a:fld id="{D3752960-BB8B-F043-A11D-3CB31AF53645}" type="slidenum">
              <a:rPr lang="en-US" smtClean="0"/>
              <a:t>‹#›</a:t>
            </a:fld>
            <a:endParaRPr lang="en-US"/>
          </a:p>
        </p:txBody>
      </p:sp>
    </p:spTree>
    <p:extLst>
      <p:ext uri="{BB962C8B-B14F-4D97-AF65-F5344CB8AC3E}">
        <p14:creationId xmlns:p14="http://schemas.microsoft.com/office/powerpoint/2010/main" val="14625204"/>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574BE5-5310-87F2-C8EF-13E7DF5571F9}"/>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483822F0-D12F-924A-BF73-2B121810B619}"/>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B4DDAB01-1933-2564-38CB-C920D2A04D88}"/>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A4C5929D-46AD-D600-32C0-3E28EC98B2B0}"/>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E755E89A-7B93-6128-D251-45464DA8C083}"/>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BD870D1E-56D4-E155-5226-5A12A20E2562}"/>
              </a:ext>
            </a:extLst>
          </p:cNvPr>
          <p:cNvSpPr>
            <a:spLocks noGrp="1"/>
          </p:cNvSpPr>
          <p:nvPr>
            <p:ph type="dt" sz="half" idx="10"/>
          </p:nvPr>
        </p:nvSpPr>
        <p:spPr/>
        <p:txBody>
          <a:bodyPr/>
          <a:lstStyle/>
          <a:p>
            <a:fld id="{E4DE2F0E-3115-794A-A56E-BA3D171BBBC1}" type="datetimeFigureOut">
              <a:rPr lang="en-US" smtClean="0"/>
              <a:t>4/20/26</a:t>
            </a:fld>
            <a:endParaRPr lang="en-US"/>
          </a:p>
        </p:txBody>
      </p:sp>
      <p:sp>
        <p:nvSpPr>
          <p:cNvPr id="8" name="Footer Placeholder 7">
            <a:extLst>
              <a:ext uri="{FF2B5EF4-FFF2-40B4-BE49-F238E27FC236}">
                <a16:creationId xmlns:a16="http://schemas.microsoft.com/office/drawing/2014/main" id="{18B7CD5C-F254-B178-B565-0D0575524874}"/>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046796D3-2BB3-414A-2389-B4C10E3CFD35}"/>
              </a:ext>
            </a:extLst>
          </p:cNvPr>
          <p:cNvSpPr>
            <a:spLocks noGrp="1"/>
          </p:cNvSpPr>
          <p:nvPr>
            <p:ph type="sldNum" sz="quarter" idx="12"/>
          </p:nvPr>
        </p:nvSpPr>
        <p:spPr/>
        <p:txBody>
          <a:bodyPr/>
          <a:lstStyle/>
          <a:p>
            <a:fld id="{D3752960-BB8B-F043-A11D-3CB31AF53645}" type="slidenum">
              <a:rPr lang="en-US" smtClean="0"/>
              <a:t>‹#›</a:t>
            </a:fld>
            <a:endParaRPr lang="en-US"/>
          </a:p>
        </p:txBody>
      </p:sp>
    </p:spTree>
    <p:extLst>
      <p:ext uri="{BB962C8B-B14F-4D97-AF65-F5344CB8AC3E}">
        <p14:creationId xmlns:p14="http://schemas.microsoft.com/office/powerpoint/2010/main" val="926677139"/>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A3648A-1E1F-F7FA-F673-32ED43969FED}"/>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D4B71B77-0202-A7D2-DF1F-79B71AC7F3C1}"/>
              </a:ext>
            </a:extLst>
          </p:cNvPr>
          <p:cNvSpPr>
            <a:spLocks noGrp="1"/>
          </p:cNvSpPr>
          <p:nvPr>
            <p:ph type="dt" sz="half" idx="10"/>
          </p:nvPr>
        </p:nvSpPr>
        <p:spPr/>
        <p:txBody>
          <a:bodyPr/>
          <a:lstStyle/>
          <a:p>
            <a:fld id="{E4DE2F0E-3115-794A-A56E-BA3D171BBBC1}" type="datetimeFigureOut">
              <a:rPr lang="en-US" smtClean="0"/>
              <a:t>4/20/26</a:t>
            </a:fld>
            <a:endParaRPr lang="en-US"/>
          </a:p>
        </p:txBody>
      </p:sp>
      <p:sp>
        <p:nvSpPr>
          <p:cNvPr id="4" name="Footer Placeholder 3">
            <a:extLst>
              <a:ext uri="{FF2B5EF4-FFF2-40B4-BE49-F238E27FC236}">
                <a16:creationId xmlns:a16="http://schemas.microsoft.com/office/drawing/2014/main" id="{E9068E51-B73E-DBE1-C0FD-AC7029D33DDA}"/>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B3AB9FC2-CFAB-8784-EB26-76950F3AE283}"/>
              </a:ext>
            </a:extLst>
          </p:cNvPr>
          <p:cNvSpPr>
            <a:spLocks noGrp="1"/>
          </p:cNvSpPr>
          <p:nvPr>
            <p:ph type="sldNum" sz="quarter" idx="12"/>
          </p:nvPr>
        </p:nvSpPr>
        <p:spPr/>
        <p:txBody>
          <a:bodyPr/>
          <a:lstStyle/>
          <a:p>
            <a:fld id="{D3752960-BB8B-F043-A11D-3CB31AF53645}" type="slidenum">
              <a:rPr lang="en-US" smtClean="0"/>
              <a:t>‹#›</a:t>
            </a:fld>
            <a:endParaRPr lang="en-US"/>
          </a:p>
        </p:txBody>
      </p:sp>
    </p:spTree>
    <p:extLst>
      <p:ext uri="{BB962C8B-B14F-4D97-AF65-F5344CB8AC3E}">
        <p14:creationId xmlns:p14="http://schemas.microsoft.com/office/powerpoint/2010/main" val="3236954873"/>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8ED5B27D-8278-4464-7AFB-13615DA5CCAC}"/>
              </a:ext>
            </a:extLst>
          </p:cNvPr>
          <p:cNvSpPr>
            <a:spLocks noGrp="1"/>
          </p:cNvSpPr>
          <p:nvPr>
            <p:ph type="dt" sz="half" idx="10"/>
          </p:nvPr>
        </p:nvSpPr>
        <p:spPr/>
        <p:txBody>
          <a:bodyPr/>
          <a:lstStyle/>
          <a:p>
            <a:fld id="{E4DE2F0E-3115-794A-A56E-BA3D171BBBC1}" type="datetimeFigureOut">
              <a:rPr lang="en-US" smtClean="0"/>
              <a:t>4/20/26</a:t>
            </a:fld>
            <a:endParaRPr lang="en-US"/>
          </a:p>
        </p:txBody>
      </p:sp>
      <p:sp>
        <p:nvSpPr>
          <p:cNvPr id="3" name="Footer Placeholder 2">
            <a:extLst>
              <a:ext uri="{FF2B5EF4-FFF2-40B4-BE49-F238E27FC236}">
                <a16:creationId xmlns:a16="http://schemas.microsoft.com/office/drawing/2014/main" id="{609DE766-B306-5448-E82B-682273CF8D28}"/>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A7830339-F2B4-7120-EC28-7AA9D1863BE0}"/>
              </a:ext>
            </a:extLst>
          </p:cNvPr>
          <p:cNvSpPr>
            <a:spLocks noGrp="1"/>
          </p:cNvSpPr>
          <p:nvPr>
            <p:ph type="sldNum" sz="quarter" idx="12"/>
          </p:nvPr>
        </p:nvSpPr>
        <p:spPr/>
        <p:txBody>
          <a:bodyPr/>
          <a:lstStyle/>
          <a:p>
            <a:fld id="{D3752960-BB8B-F043-A11D-3CB31AF53645}" type="slidenum">
              <a:rPr lang="en-US" smtClean="0"/>
              <a:t>‹#›</a:t>
            </a:fld>
            <a:endParaRPr lang="en-US"/>
          </a:p>
        </p:txBody>
      </p:sp>
    </p:spTree>
    <p:extLst>
      <p:ext uri="{BB962C8B-B14F-4D97-AF65-F5344CB8AC3E}">
        <p14:creationId xmlns:p14="http://schemas.microsoft.com/office/powerpoint/2010/main" val="2930075619"/>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1F48DF-6D47-FF3C-7B5E-4633B1E65BD0}"/>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D149ADCF-3A22-6DBF-462F-817F0064DB77}"/>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22F9A9DC-48AD-D474-01FD-0B38A832E40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40A1743C-4BE7-2BDC-15DB-3724A83EBAB8}"/>
              </a:ext>
            </a:extLst>
          </p:cNvPr>
          <p:cNvSpPr>
            <a:spLocks noGrp="1"/>
          </p:cNvSpPr>
          <p:nvPr>
            <p:ph type="dt" sz="half" idx="10"/>
          </p:nvPr>
        </p:nvSpPr>
        <p:spPr/>
        <p:txBody>
          <a:bodyPr/>
          <a:lstStyle/>
          <a:p>
            <a:fld id="{E4DE2F0E-3115-794A-A56E-BA3D171BBBC1}" type="datetimeFigureOut">
              <a:rPr lang="en-US" smtClean="0"/>
              <a:t>4/20/26</a:t>
            </a:fld>
            <a:endParaRPr lang="en-US"/>
          </a:p>
        </p:txBody>
      </p:sp>
      <p:sp>
        <p:nvSpPr>
          <p:cNvPr id="6" name="Footer Placeholder 5">
            <a:extLst>
              <a:ext uri="{FF2B5EF4-FFF2-40B4-BE49-F238E27FC236}">
                <a16:creationId xmlns:a16="http://schemas.microsoft.com/office/drawing/2014/main" id="{8B28066E-85DC-0135-7513-8FFB5B474682}"/>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FEA371E4-2565-B309-AE64-7A872A0F7DCF}"/>
              </a:ext>
            </a:extLst>
          </p:cNvPr>
          <p:cNvSpPr>
            <a:spLocks noGrp="1"/>
          </p:cNvSpPr>
          <p:nvPr>
            <p:ph type="sldNum" sz="quarter" idx="12"/>
          </p:nvPr>
        </p:nvSpPr>
        <p:spPr/>
        <p:txBody>
          <a:bodyPr/>
          <a:lstStyle/>
          <a:p>
            <a:fld id="{D3752960-BB8B-F043-A11D-3CB31AF53645}" type="slidenum">
              <a:rPr lang="en-US" smtClean="0"/>
              <a:t>‹#›</a:t>
            </a:fld>
            <a:endParaRPr lang="en-US"/>
          </a:p>
        </p:txBody>
      </p:sp>
    </p:spTree>
    <p:extLst>
      <p:ext uri="{BB962C8B-B14F-4D97-AF65-F5344CB8AC3E}">
        <p14:creationId xmlns:p14="http://schemas.microsoft.com/office/powerpoint/2010/main" val="2383098856"/>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630461-03D2-050E-A5F8-F4722EF65102}"/>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B8C8854A-A0D4-1A65-659C-C8C0E60E3B96}"/>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CCABDC88-D030-BC37-B8A4-CA706592718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B4B9955-ECD8-3E71-2C67-9DB0EF52C98D}"/>
              </a:ext>
            </a:extLst>
          </p:cNvPr>
          <p:cNvSpPr>
            <a:spLocks noGrp="1"/>
          </p:cNvSpPr>
          <p:nvPr>
            <p:ph type="dt" sz="half" idx="10"/>
          </p:nvPr>
        </p:nvSpPr>
        <p:spPr/>
        <p:txBody>
          <a:bodyPr/>
          <a:lstStyle/>
          <a:p>
            <a:fld id="{E4DE2F0E-3115-794A-A56E-BA3D171BBBC1}" type="datetimeFigureOut">
              <a:rPr lang="en-US" smtClean="0"/>
              <a:t>4/20/26</a:t>
            </a:fld>
            <a:endParaRPr lang="en-US"/>
          </a:p>
        </p:txBody>
      </p:sp>
      <p:sp>
        <p:nvSpPr>
          <p:cNvPr id="6" name="Footer Placeholder 5">
            <a:extLst>
              <a:ext uri="{FF2B5EF4-FFF2-40B4-BE49-F238E27FC236}">
                <a16:creationId xmlns:a16="http://schemas.microsoft.com/office/drawing/2014/main" id="{BEBB1D6B-35E3-E816-60C9-EA5283442F74}"/>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CCFE3E9B-E2D7-8BAF-DE68-89F773006A8A}"/>
              </a:ext>
            </a:extLst>
          </p:cNvPr>
          <p:cNvSpPr>
            <a:spLocks noGrp="1"/>
          </p:cNvSpPr>
          <p:nvPr>
            <p:ph type="sldNum" sz="quarter" idx="12"/>
          </p:nvPr>
        </p:nvSpPr>
        <p:spPr/>
        <p:txBody>
          <a:bodyPr/>
          <a:lstStyle/>
          <a:p>
            <a:fld id="{D3752960-BB8B-F043-A11D-3CB31AF53645}" type="slidenum">
              <a:rPr lang="en-US" smtClean="0"/>
              <a:t>‹#›</a:t>
            </a:fld>
            <a:endParaRPr lang="en-US"/>
          </a:p>
        </p:txBody>
      </p:sp>
    </p:spTree>
    <p:extLst>
      <p:ext uri="{BB962C8B-B14F-4D97-AF65-F5344CB8AC3E}">
        <p14:creationId xmlns:p14="http://schemas.microsoft.com/office/powerpoint/2010/main" val="3585152195"/>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4003D3-7D15-20BA-DE47-AE8644FB0219}"/>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A3CB1034-4C3C-2065-84B3-B66BF7B9F826}"/>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291A21F-2BB3-B051-A72B-485AC210567E}"/>
              </a:ext>
            </a:extLst>
          </p:cNvPr>
          <p:cNvSpPr>
            <a:spLocks noGrp="1"/>
          </p:cNvSpPr>
          <p:nvPr>
            <p:ph type="dt" sz="half" idx="10"/>
          </p:nvPr>
        </p:nvSpPr>
        <p:spPr/>
        <p:txBody>
          <a:bodyPr/>
          <a:lstStyle/>
          <a:p>
            <a:fld id="{E4DE2F0E-3115-794A-A56E-BA3D171BBBC1}" type="datetimeFigureOut">
              <a:rPr lang="en-US" smtClean="0"/>
              <a:t>4/20/26</a:t>
            </a:fld>
            <a:endParaRPr lang="en-US"/>
          </a:p>
        </p:txBody>
      </p:sp>
      <p:sp>
        <p:nvSpPr>
          <p:cNvPr id="5" name="Footer Placeholder 4">
            <a:extLst>
              <a:ext uri="{FF2B5EF4-FFF2-40B4-BE49-F238E27FC236}">
                <a16:creationId xmlns:a16="http://schemas.microsoft.com/office/drawing/2014/main" id="{0E22EC22-161C-AD50-0266-5BC08489E54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E185CBF-70ED-5F75-3ECC-CA5054CD5311}"/>
              </a:ext>
            </a:extLst>
          </p:cNvPr>
          <p:cNvSpPr>
            <a:spLocks noGrp="1"/>
          </p:cNvSpPr>
          <p:nvPr>
            <p:ph type="sldNum" sz="quarter" idx="12"/>
          </p:nvPr>
        </p:nvSpPr>
        <p:spPr/>
        <p:txBody>
          <a:bodyPr/>
          <a:lstStyle/>
          <a:p>
            <a:fld id="{D3752960-BB8B-F043-A11D-3CB31AF53645}" type="slidenum">
              <a:rPr lang="en-US" smtClean="0"/>
              <a:t>‹#›</a:t>
            </a:fld>
            <a:endParaRPr lang="en-US"/>
          </a:p>
        </p:txBody>
      </p:sp>
    </p:spTree>
    <p:extLst>
      <p:ext uri="{BB962C8B-B14F-4D97-AF65-F5344CB8AC3E}">
        <p14:creationId xmlns:p14="http://schemas.microsoft.com/office/powerpoint/2010/main" val="4283137431"/>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E1FFFDD4-267F-0554-EBD2-9CB782BF58AA}"/>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8289760F-BA78-3D93-C9FE-29A5C6B1450A}"/>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74DC626-90A3-EFAD-396A-F0CEB1EA2AB6}"/>
              </a:ext>
            </a:extLst>
          </p:cNvPr>
          <p:cNvSpPr>
            <a:spLocks noGrp="1"/>
          </p:cNvSpPr>
          <p:nvPr>
            <p:ph type="dt" sz="half" idx="10"/>
          </p:nvPr>
        </p:nvSpPr>
        <p:spPr/>
        <p:txBody>
          <a:bodyPr/>
          <a:lstStyle/>
          <a:p>
            <a:fld id="{E4DE2F0E-3115-794A-A56E-BA3D171BBBC1}" type="datetimeFigureOut">
              <a:rPr lang="en-US" smtClean="0"/>
              <a:t>4/20/26</a:t>
            </a:fld>
            <a:endParaRPr lang="en-US"/>
          </a:p>
        </p:txBody>
      </p:sp>
      <p:sp>
        <p:nvSpPr>
          <p:cNvPr id="5" name="Footer Placeholder 4">
            <a:extLst>
              <a:ext uri="{FF2B5EF4-FFF2-40B4-BE49-F238E27FC236}">
                <a16:creationId xmlns:a16="http://schemas.microsoft.com/office/drawing/2014/main" id="{E9342F6C-6F22-0280-D7CA-114F64F6B34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FF58CAE-B43C-CF19-B34F-33C88AA9417C}"/>
              </a:ext>
            </a:extLst>
          </p:cNvPr>
          <p:cNvSpPr>
            <a:spLocks noGrp="1"/>
          </p:cNvSpPr>
          <p:nvPr>
            <p:ph type="sldNum" sz="quarter" idx="12"/>
          </p:nvPr>
        </p:nvSpPr>
        <p:spPr/>
        <p:txBody>
          <a:bodyPr/>
          <a:lstStyle/>
          <a:p>
            <a:fld id="{D3752960-BB8B-F043-A11D-3CB31AF53645}" type="slidenum">
              <a:rPr lang="en-US" smtClean="0"/>
              <a:t>‹#›</a:t>
            </a:fld>
            <a:endParaRPr lang="en-US"/>
          </a:p>
        </p:txBody>
      </p:sp>
    </p:spTree>
    <p:extLst>
      <p:ext uri="{BB962C8B-B14F-4D97-AF65-F5344CB8AC3E}">
        <p14:creationId xmlns:p14="http://schemas.microsoft.com/office/powerpoint/2010/main" val="86350347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0.xml"/><Relationship Id="rId3" Type="http://schemas.openxmlformats.org/officeDocument/2006/relationships/slideLayout" Target="../slideLayouts/slideLayout25.xml"/><Relationship Id="rId7" Type="http://schemas.openxmlformats.org/officeDocument/2006/relationships/slideLayout" Target="../slideLayouts/slideLayout29.xml"/><Relationship Id="rId12" Type="http://schemas.openxmlformats.org/officeDocument/2006/relationships/theme" Target="../theme/theme3.xml"/><Relationship Id="rId2" Type="http://schemas.openxmlformats.org/officeDocument/2006/relationships/slideLayout" Target="../slideLayouts/slideLayout24.xml"/><Relationship Id="rId1" Type="http://schemas.openxmlformats.org/officeDocument/2006/relationships/slideLayout" Target="../slideLayouts/slideLayout23.xml"/><Relationship Id="rId6" Type="http://schemas.openxmlformats.org/officeDocument/2006/relationships/slideLayout" Target="../slideLayouts/slideLayout28.xml"/><Relationship Id="rId11" Type="http://schemas.openxmlformats.org/officeDocument/2006/relationships/slideLayout" Target="../slideLayouts/slideLayout33.xml"/><Relationship Id="rId5" Type="http://schemas.openxmlformats.org/officeDocument/2006/relationships/slideLayout" Target="../slideLayouts/slideLayout27.xml"/><Relationship Id="rId10" Type="http://schemas.openxmlformats.org/officeDocument/2006/relationships/slideLayout" Target="../slideLayouts/slideLayout32.xml"/><Relationship Id="rId4" Type="http://schemas.openxmlformats.org/officeDocument/2006/relationships/slideLayout" Target="../slideLayouts/slideLayout26.xml"/><Relationship Id="rId9" Type="http://schemas.openxmlformats.org/officeDocument/2006/relationships/slideLayout" Target="../slideLayouts/slideLayout31.xml"/></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41.xml"/><Relationship Id="rId3" Type="http://schemas.openxmlformats.org/officeDocument/2006/relationships/slideLayout" Target="../slideLayouts/slideLayout36.xml"/><Relationship Id="rId7" Type="http://schemas.openxmlformats.org/officeDocument/2006/relationships/slideLayout" Target="../slideLayouts/slideLayout40.xml"/><Relationship Id="rId12" Type="http://schemas.openxmlformats.org/officeDocument/2006/relationships/theme" Target="../theme/theme4.xml"/><Relationship Id="rId2" Type="http://schemas.openxmlformats.org/officeDocument/2006/relationships/slideLayout" Target="../slideLayouts/slideLayout35.xml"/><Relationship Id="rId1" Type="http://schemas.openxmlformats.org/officeDocument/2006/relationships/slideLayout" Target="../slideLayouts/slideLayout34.xml"/><Relationship Id="rId6" Type="http://schemas.openxmlformats.org/officeDocument/2006/relationships/slideLayout" Target="../slideLayouts/slideLayout39.xml"/><Relationship Id="rId11" Type="http://schemas.openxmlformats.org/officeDocument/2006/relationships/slideLayout" Target="../slideLayouts/slideLayout44.xml"/><Relationship Id="rId5" Type="http://schemas.openxmlformats.org/officeDocument/2006/relationships/slideLayout" Target="../slideLayouts/slideLayout38.xml"/><Relationship Id="rId10" Type="http://schemas.openxmlformats.org/officeDocument/2006/relationships/slideLayout" Target="../slideLayouts/slideLayout43.xml"/><Relationship Id="rId4" Type="http://schemas.openxmlformats.org/officeDocument/2006/relationships/slideLayout" Target="../slideLayouts/slideLayout37.xml"/><Relationship Id="rId9" Type="http://schemas.openxmlformats.org/officeDocument/2006/relationships/slideLayout" Target="../slideLayouts/slideLayout4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2756CBC5-029B-B2E8-A0D1-3C79D0D9008A}"/>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7DA5B374-E91A-B09D-969A-79806D9DCC3C}"/>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FEC6D3E-247E-276E-CA1D-FFB206C81CE4}"/>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E4DE2F0E-3115-794A-A56E-BA3D171BBBC1}" type="datetimeFigureOut">
              <a:rPr lang="en-US" smtClean="0"/>
              <a:t>4/20/26</a:t>
            </a:fld>
            <a:endParaRPr lang="en-US"/>
          </a:p>
        </p:txBody>
      </p:sp>
      <p:sp>
        <p:nvSpPr>
          <p:cNvPr id="5" name="Footer Placeholder 4">
            <a:extLst>
              <a:ext uri="{FF2B5EF4-FFF2-40B4-BE49-F238E27FC236}">
                <a16:creationId xmlns:a16="http://schemas.microsoft.com/office/drawing/2014/main" id="{5CE56B14-093F-BB5F-E105-D28092A46762}"/>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9603AA0A-BD91-5AFC-C272-DA4DB052A8D1}"/>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D3752960-BB8B-F043-A11D-3CB31AF53645}" type="slidenum">
              <a:rPr lang="en-US" smtClean="0"/>
              <a:t>‹#›</a:t>
            </a:fld>
            <a:endParaRPr lang="en-US"/>
          </a:p>
        </p:txBody>
      </p:sp>
    </p:spTree>
    <p:extLst>
      <p:ext uri="{BB962C8B-B14F-4D97-AF65-F5344CB8AC3E}">
        <p14:creationId xmlns:p14="http://schemas.microsoft.com/office/powerpoint/2010/main" val="92694030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rgbClr val="F5F2EC"/>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2756CBC5-029B-B2E8-A0D1-3C79D0D9008A}"/>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7DA5B374-E91A-B09D-969A-79806D9DCC3C}"/>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FEC6D3E-247E-276E-CA1D-FFB206C81CE4}"/>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E4DE2F0E-3115-794A-A56E-BA3D171BBBC1}" type="datetimeFigureOut">
              <a:rPr lang="en-US" smtClean="0"/>
              <a:t>4/20/26</a:t>
            </a:fld>
            <a:endParaRPr lang="en-US"/>
          </a:p>
        </p:txBody>
      </p:sp>
      <p:sp>
        <p:nvSpPr>
          <p:cNvPr id="5" name="Footer Placeholder 4">
            <a:extLst>
              <a:ext uri="{FF2B5EF4-FFF2-40B4-BE49-F238E27FC236}">
                <a16:creationId xmlns:a16="http://schemas.microsoft.com/office/drawing/2014/main" id="{5CE56B14-093F-BB5F-E105-D28092A46762}"/>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9603AA0A-BD91-5AFC-C272-DA4DB052A8D1}"/>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D3752960-BB8B-F043-A11D-3CB31AF53645}" type="slidenum">
              <a:rPr lang="en-US" smtClean="0"/>
              <a:t>‹#›</a:t>
            </a:fld>
            <a:endParaRPr lang="en-US"/>
          </a:p>
        </p:txBody>
      </p:sp>
    </p:spTree>
    <p:extLst>
      <p:ext uri="{BB962C8B-B14F-4D97-AF65-F5344CB8AC3E}">
        <p14:creationId xmlns:p14="http://schemas.microsoft.com/office/powerpoint/2010/main" val="926940302"/>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rgbClr val="1A1A1A"/>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rgbClr val="1A1A1A"/>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2756CBC5-029B-B2E8-A0D1-3C79D0D9008A}"/>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7DA5B374-E91A-B09D-969A-79806D9DCC3C}"/>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FEC6D3E-247E-276E-CA1D-FFB206C81CE4}"/>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E4DE2F0E-3115-794A-A56E-BA3D171BBBC1}" type="datetimeFigureOut">
              <a:rPr lang="en-US" smtClean="0"/>
              <a:t>4/20/26</a:t>
            </a:fld>
            <a:endParaRPr lang="en-US"/>
          </a:p>
        </p:txBody>
      </p:sp>
      <p:sp>
        <p:nvSpPr>
          <p:cNvPr id="5" name="Footer Placeholder 4">
            <a:extLst>
              <a:ext uri="{FF2B5EF4-FFF2-40B4-BE49-F238E27FC236}">
                <a16:creationId xmlns:a16="http://schemas.microsoft.com/office/drawing/2014/main" id="{5CE56B14-093F-BB5F-E105-D28092A46762}"/>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9603AA0A-BD91-5AFC-C272-DA4DB052A8D1}"/>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D3752960-BB8B-F043-A11D-3CB31AF53645}" type="slidenum">
              <a:rPr lang="en-US" smtClean="0"/>
              <a:t>‹#›</a:t>
            </a:fld>
            <a:endParaRPr lang="en-US"/>
          </a:p>
        </p:txBody>
      </p:sp>
    </p:spTree>
    <p:extLst>
      <p:ext uri="{BB962C8B-B14F-4D97-AF65-F5344CB8AC3E}">
        <p14:creationId xmlns:p14="http://schemas.microsoft.com/office/powerpoint/2010/main" val="926940302"/>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Pr>
        <a:solidFill>
          <a:srgbClr val="0F0F0F"/>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2756CBC5-029B-B2E8-A0D1-3C79D0D9008A}"/>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7DA5B374-E91A-B09D-969A-79806D9DCC3C}"/>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FEC6D3E-247E-276E-CA1D-FFB206C81CE4}"/>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E4DE2F0E-3115-794A-A56E-BA3D171BBBC1}" type="datetimeFigureOut">
              <a:rPr lang="en-US" smtClean="0"/>
              <a:t>4/20/26</a:t>
            </a:fld>
            <a:endParaRPr lang="en-US"/>
          </a:p>
        </p:txBody>
      </p:sp>
      <p:sp>
        <p:nvSpPr>
          <p:cNvPr id="5" name="Footer Placeholder 4">
            <a:extLst>
              <a:ext uri="{FF2B5EF4-FFF2-40B4-BE49-F238E27FC236}">
                <a16:creationId xmlns:a16="http://schemas.microsoft.com/office/drawing/2014/main" id="{5CE56B14-093F-BB5F-E105-D28092A46762}"/>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9603AA0A-BD91-5AFC-C272-DA4DB052A8D1}"/>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D3752960-BB8B-F043-A11D-3CB31AF53645}" type="slidenum">
              <a:rPr lang="en-US" smtClean="0"/>
              <a:t>‹#›</a:t>
            </a:fld>
            <a:endParaRPr lang="en-US"/>
          </a:p>
        </p:txBody>
      </p:sp>
    </p:spTree>
    <p:extLst>
      <p:ext uri="{BB962C8B-B14F-4D97-AF65-F5344CB8AC3E}">
        <p14:creationId xmlns:p14="http://schemas.microsoft.com/office/powerpoint/2010/main" val="926940302"/>
      </p:ext>
    </p:extLst>
  </p:cSld>
  <p:clrMap bg1="lt1" tx1="dk1" bg2="lt2" tx2="dk2" accent1="accent1" accent2="accent2" accent3="accent3" accent4="accent4" accent5="accent5" accent6="accent6" hlink="hlink" folHlink="folHlink"/>
  <p:sldLayoutIdLst>
    <p:sldLayoutId id="2147483685" r:id="rId1"/>
    <p:sldLayoutId id="2147483686" r:id="rId2"/>
    <p:sldLayoutId id="2147483687" r:id="rId3"/>
    <p:sldLayoutId id="2147483688" r:id="rId4"/>
    <p:sldLayoutId id="2147483689" r:id="rId5"/>
    <p:sldLayoutId id="2147483690" r:id="rId6"/>
    <p:sldLayoutId id="2147483691" r:id="rId7"/>
    <p:sldLayoutId id="2147483692" r:id="rId8"/>
    <p:sldLayoutId id="2147483693" r:id="rId9"/>
    <p:sldLayoutId id="2147483694" r:id="rId10"/>
    <p:sldLayoutId id="2147483695" r:id="rId11"/>
  </p:sldLayoutIdLst>
  <p:txStyles>
    <p:titleStyle>
      <a:lvl1pPr algn="l" defTabSz="914400" rtl="0" eaLnBrk="1" latinLnBrk="0" hangingPunct="1">
        <a:lnSpc>
          <a:spcPct val="90000"/>
        </a:lnSpc>
        <a:spcBef>
          <a:spcPct val="0"/>
        </a:spcBef>
        <a:buNone/>
        <a:defRPr sz="4400" kern="1200">
          <a:solidFill>
            <a:srgbClr val="F0F0F0"/>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rgbClr val="999999"/>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4.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F0F0F">
            <a:alpha val="100000"/>
          </a:srgbClr>
        </a:solidFill>
        <a:effectLst/>
      </p:bgPr>
    </p:bg>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1D546461-03C0-C940-9F6A-734864DBB7FD}"/>
              </a:ext>
            </a:extLst>
          </p:cNvPr>
          <p:cNvSpPr/>
          <p:nvPr/>
        </p:nvSpPr>
        <p:spPr>
          <a:xfrm>
            <a:off x="457200" y="1828800"/>
            <a:ext cx="63500" cy="4876800"/>
          </a:xfrm>
          <a:prstGeom prst="rect">
            <a:avLst/>
          </a:prstGeom>
          <a:solidFill>
            <a:srgbClr val="C8B89A"/>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5" name="TextBox 4">
            <a:extLst>
              <a:ext uri="{FF2B5EF4-FFF2-40B4-BE49-F238E27FC236}">
                <a16:creationId xmlns:a16="http://schemas.microsoft.com/office/drawing/2014/main" id="{79582520-D860-BA4B-AC04-AC2BD8F67928}"/>
              </a:ext>
            </a:extLst>
          </p:cNvPr>
          <p:cNvSpPr txBox="1"/>
          <p:nvPr/>
        </p:nvSpPr>
        <p:spPr>
          <a:xfrm>
            <a:off x="635000" y="355600"/>
            <a:ext cx="7315200" cy="228600"/>
          </a:xfrm>
          <a:prstGeom prst="rect">
            <a:avLst/>
          </a:prstGeom>
          <a:noFill/>
        </p:spPr>
        <p:txBody>
          <a:bodyPr vertOverflow="overflow" vert="horz" wrap="square" rtlCol="0" anchor="t">
            <a:spAutoFit/>
          </a:bodyPr>
          <a:lstStyle/>
          <a:p>
            <a:pPr algn="l"/>
            <a:r>
              <a:rPr lang="en-US" sz="900">
                <a:solidFill>
                  <a:srgbClr val="666666"/>
                </a:solidFill>
                <a:latin typeface="Calibri"/>
                <a:cs typeface="Calibri"/>
              </a:rPr>
              <a:t>RESEARCH INQUIRY · APRIL 2026</a:t>
            </a:r>
          </a:p>
        </p:txBody>
      </p:sp>
      <p:sp>
        <p:nvSpPr>
          <p:cNvPr id="6" name="TextBox 5">
            <a:extLst>
              <a:ext uri="{FF2B5EF4-FFF2-40B4-BE49-F238E27FC236}">
                <a16:creationId xmlns:a16="http://schemas.microsoft.com/office/drawing/2014/main" id="{D30B4EEB-924C-954E-BCE7-7B25482B4FAB}"/>
              </a:ext>
            </a:extLst>
          </p:cNvPr>
          <p:cNvSpPr txBox="1"/>
          <p:nvPr/>
        </p:nvSpPr>
        <p:spPr>
          <a:xfrm>
            <a:off x="635000" y="1828800"/>
            <a:ext cx="10414000" cy="1879600"/>
          </a:xfrm>
          <a:prstGeom prst="rect">
            <a:avLst/>
          </a:prstGeom>
          <a:noFill/>
        </p:spPr>
        <p:txBody>
          <a:bodyPr vertOverflow="overflow" vert="horz" wrap="square" rtlCol="0" anchor="t">
            <a:spAutoFit/>
          </a:bodyPr>
          <a:lstStyle/>
          <a:p>
            <a:pPr algn="l"/>
            <a:r>
              <a:rPr lang="en-US" sz="3600" b="1">
                <a:solidFill>
                  <a:srgbClr val="F0F0F0"/>
                </a:solidFill>
                <a:latin typeface="Georgia"/>
              </a:rPr>
              <a:t>Fleet Operations Software for Autonomous Aviation</a:t>
            </a:r>
          </a:p>
        </p:txBody>
      </p:sp>
      <p:sp>
        <p:nvSpPr>
          <p:cNvPr id="7" name="TextBox 6">
            <a:extLst>
              <a:ext uri="{FF2B5EF4-FFF2-40B4-BE49-F238E27FC236}">
                <a16:creationId xmlns:a16="http://schemas.microsoft.com/office/drawing/2014/main" id="{071158AD-A70E-9D4D-ABFF-46049D2C9E39}"/>
              </a:ext>
            </a:extLst>
          </p:cNvPr>
          <p:cNvSpPr txBox="1"/>
          <p:nvPr/>
        </p:nvSpPr>
        <p:spPr>
          <a:xfrm>
            <a:off x="635000" y="3810000"/>
            <a:ext cx="7874000" cy="254000"/>
          </a:xfrm>
          <a:prstGeom prst="rect">
            <a:avLst/>
          </a:prstGeom>
          <a:noFill/>
        </p:spPr>
        <p:txBody>
          <a:bodyPr vertOverflow="overflow" vert="horz" wrap="square" rtlCol="0" anchor="t">
            <a:spAutoFit/>
          </a:bodyPr>
          <a:lstStyle/>
          <a:p>
            <a:pPr algn="l"/>
            <a:r>
              <a:rPr lang="en-US" sz="1100" b="1">
                <a:solidFill>
                  <a:srgbClr val="C8B89A"/>
                </a:solidFill>
                <a:latin typeface="Calibri"/>
                <a:cs typeface="Calibri"/>
              </a:rPr>
              <a:t>VOLANT · B2B SaaS · Fleet Operations Platform</a:t>
            </a:r>
          </a:p>
        </p:txBody>
      </p:sp>
      <p:sp>
        <p:nvSpPr>
          <p:cNvPr id="8" name="TextBox 7">
            <a:extLst>
              <a:ext uri="{FF2B5EF4-FFF2-40B4-BE49-F238E27FC236}">
                <a16:creationId xmlns:a16="http://schemas.microsoft.com/office/drawing/2014/main" id="{A9933A6D-E370-F24E-AF75-2164A0A058B3}"/>
              </a:ext>
            </a:extLst>
          </p:cNvPr>
          <p:cNvSpPr txBox="1"/>
          <p:nvPr/>
        </p:nvSpPr>
        <p:spPr>
          <a:xfrm>
            <a:off x="635000" y="4165600"/>
            <a:ext cx="10414000" cy="990600"/>
          </a:xfrm>
          <a:prstGeom prst="rect">
            <a:avLst/>
          </a:prstGeom>
          <a:noFill/>
        </p:spPr>
        <p:txBody>
          <a:bodyPr vertOverflow="overflow" vert="horz" wrap="square" rtlCol="0" anchor="t">
            <a:spAutoFit/>
          </a:bodyPr>
          <a:lstStyle/>
          <a:p>
            <a:pPr algn="l"/>
            <a:r>
              <a:rPr lang="en-US" sz="1300">
                <a:solidFill>
                  <a:srgbClr val="999999"/>
                </a:solidFill>
                <a:latin typeface="Calibri"/>
                <a:cs typeface="Calibri"/>
              </a:rPr>
              <a:t>We're researching whether the software infrastructure for managing eVTOL and drone fleets at scale exists today — and how leading companies like Archer are approaching this problem.</a:t>
            </a:r>
          </a:p>
        </p:txBody>
      </p:sp>
      <p:sp>
        <p:nvSpPr>
          <p:cNvPr id="9" name="Rectangle 8">
            <a:extLst>
              <a:ext uri="{FF2B5EF4-FFF2-40B4-BE49-F238E27FC236}">
                <a16:creationId xmlns:a16="http://schemas.microsoft.com/office/drawing/2014/main" id="{6ADE04A7-176D-C24C-9135-BA4E2E174E7C}"/>
              </a:ext>
            </a:extLst>
          </p:cNvPr>
          <p:cNvSpPr/>
          <p:nvPr/>
        </p:nvSpPr>
        <p:spPr>
          <a:xfrm>
            <a:off x="635000" y="5638800"/>
            <a:ext cx="10922000" cy="12700"/>
          </a:xfrm>
          <a:prstGeom prst="rect">
            <a:avLst/>
          </a:prstGeom>
          <a:solidFill>
            <a:srgbClr val="333333"/>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21" name="TextBox 20">
            <a:extLst>
              <a:ext uri="{FF2B5EF4-FFF2-40B4-BE49-F238E27FC236}">
                <a16:creationId xmlns:a16="http://schemas.microsoft.com/office/drawing/2014/main" id="{E25F911F-CD34-5747-80B1-E1CDB5735BD2}"/>
              </a:ext>
            </a:extLst>
          </p:cNvPr>
          <p:cNvSpPr txBox="1"/>
          <p:nvPr/>
        </p:nvSpPr>
        <p:spPr>
          <a:xfrm>
            <a:off x="635000" y="5791200"/>
            <a:ext cx="4826000" cy="228600"/>
          </a:xfrm>
          <a:prstGeom prst="rect">
            <a:avLst/>
          </a:prstGeom>
          <a:noFill/>
        </p:spPr>
        <p:txBody>
          <a:bodyPr vertOverflow="overflow" vert="horz" wrap="square" rtlCol="0" anchor="t">
            <a:spAutoFit/>
          </a:bodyPr>
          <a:lstStyle/>
          <a:p>
            <a:pPr algn="l"/>
            <a:r>
              <a:rPr lang="en-US" sz="1100" b="1">
                <a:solidFill>
                  <a:srgbClr val="F0F0F0"/>
                </a:solidFill>
                <a:latin typeface="Calibri"/>
                <a:cs typeface="Calibri"/>
              </a:rPr>
              <a:t>Aarav Verma · Tharun</a:t>
            </a:r>
          </a:p>
        </p:txBody>
      </p:sp>
      <p:sp>
        <p:nvSpPr>
          <p:cNvPr id="22" name="TextBox 21">
            <a:extLst>
              <a:ext uri="{FF2B5EF4-FFF2-40B4-BE49-F238E27FC236}">
                <a16:creationId xmlns:a16="http://schemas.microsoft.com/office/drawing/2014/main" id="{15E4EAB8-A4F3-7140-A62D-D54A79BA240B}"/>
              </a:ext>
            </a:extLst>
          </p:cNvPr>
          <p:cNvSpPr txBox="1"/>
          <p:nvPr/>
        </p:nvSpPr>
        <p:spPr>
          <a:xfrm>
            <a:off x="5715000" y="5791200"/>
            <a:ext cx="5842000" cy="228600"/>
          </a:xfrm>
          <a:prstGeom prst="rect">
            <a:avLst/>
          </a:prstGeom>
          <a:noFill/>
        </p:spPr>
        <p:txBody>
          <a:bodyPr vertOverflow="overflow" vert="horz" wrap="square" rtlCol="0" anchor="t">
            <a:spAutoFit/>
          </a:bodyPr>
          <a:lstStyle/>
          <a:p>
            <a:pPr algn="l"/>
            <a:r>
              <a:rPr lang="en-US" sz="1100">
                <a:solidFill>
                  <a:srgbClr val="666666"/>
                </a:solidFill>
                <a:latin typeface="Calibri"/>
                <a:cs typeface="Calibri"/>
              </a:rPr>
              <a:t>University of Illinois Urbana-Champaign</a:t>
            </a:r>
          </a:p>
        </p:txBody>
      </p:sp>
      <p:sp>
        <p:nvSpPr>
          <p:cNvPr id="23" name="TextBox 22">
            <a:extLst>
              <a:ext uri="{FF2B5EF4-FFF2-40B4-BE49-F238E27FC236}">
                <a16:creationId xmlns:a16="http://schemas.microsoft.com/office/drawing/2014/main" id="{F9427F7E-78F7-1F4C-8B30-9C1BF8F5262C}"/>
              </a:ext>
            </a:extLst>
          </p:cNvPr>
          <p:cNvSpPr txBox="1"/>
          <p:nvPr/>
        </p:nvSpPr>
        <p:spPr>
          <a:xfrm>
            <a:off x="635000" y="6553200"/>
            <a:ext cx="10922000" cy="190500"/>
          </a:xfrm>
          <a:prstGeom prst="rect">
            <a:avLst/>
          </a:prstGeom>
          <a:noFill/>
        </p:spPr>
        <p:txBody>
          <a:bodyPr vertOverflow="overflow" vert="horz" wrap="square" rtlCol="0" anchor="t">
            <a:spAutoFit/>
          </a:bodyPr>
          <a:lstStyle/>
          <a:p>
            <a:pPr algn="l"/>
            <a:r>
              <a:rPr lang="en-US" sz="800">
                <a:solidFill>
                  <a:srgbClr val="555555"/>
                </a:solidFill>
                <a:latin typeface="Calibri"/>
                <a:cs typeface="Calibri"/>
              </a:rPr>
              <a:t>eVTOL Research Brief · UIUC 2026          CONFIDENTIAL · FOR DISCUSSION PURPOSES ONLY          01 / 09</a:t>
            </a:r>
          </a:p>
        </p:txBody>
      </p:sp>
    </p:spTree>
    <p:extLst>
      <p:ext uri="{BB962C8B-B14F-4D97-AF65-F5344CB8AC3E}">
        <p14:creationId xmlns:p14="http://schemas.microsoft.com/office/powerpoint/2010/main" val="169656603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E8DFC8">
            <a:alpha val="100000"/>
          </a:srgbClr>
        </a:solidFill>
        <a:effectLst/>
      </p:bgPr>
    </p:bg>
    <p:spTree>
      <p:nvGrpSpPr>
        <p:cNvPr id="1" name=""/>
        <p:cNvGrpSpPr/>
        <p:nvPr/>
      </p:nvGrpSpPr>
      <p:grpSpPr>
        <a:xfrm>
          <a:off x="0" y="0"/>
          <a:ext cx="0" cy="0"/>
          <a:chOff x="0" y="0"/>
          <a:chExt cx="0" cy="0"/>
        </a:xfrm>
      </p:grpSpPr>
      <p:sp>
        <p:nvSpPr>
          <p:cNvPr id="56" name="TextBox 55">
            <a:extLst>
              <a:ext uri="{FF2B5EF4-FFF2-40B4-BE49-F238E27FC236}">
                <a16:creationId xmlns:a16="http://schemas.microsoft.com/office/drawing/2014/main" id="{CE5A75E2-1F61-6B45-A661-1B598C04B8A7}"/>
              </a:ext>
            </a:extLst>
          </p:cNvPr>
          <p:cNvSpPr txBox="1"/>
          <p:nvPr/>
        </p:nvSpPr>
        <p:spPr>
          <a:xfrm>
            <a:off x="635000" y="279400"/>
            <a:ext cx="5080000" cy="177800"/>
          </a:xfrm>
          <a:prstGeom prst="rect">
            <a:avLst/>
          </a:prstGeom>
          <a:noFill/>
        </p:spPr>
        <p:txBody>
          <a:bodyPr vertOverflow="overflow" vert="horz" wrap="square" rtlCol="0" anchor="t">
            <a:spAutoFit/>
          </a:bodyPr>
          <a:lstStyle/>
          <a:p>
            <a:pPr algn="l"/>
            <a:r>
              <a:rPr lang="en-US" sz="1300">
                <a:solidFill>
                  <a:srgbClr val="555555"/>
                </a:solidFill>
                <a:latin typeface="Calibri"/>
                <a:cs typeface="Calibri"/>
              </a:rPr>
              <a:t>THE MARKET PARALLEL</a:t>
            </a:r>
          </a:p>
        </p:txBody>
      </p:sp>
      <p:sp>
        <p:nvSpPr>
          <p:cNvPr id="57" name="Rectangle 56">
            <a:extLst>
              <a:ext uri="{FF2B5EF4-FFF2-40B4-BE49-F238E27FC236}">
                <a16:creationId xmlns:a16="http://schemas.microsoft.com/office/drawing/2014/main" id="{5879A499-96C0-004B-8233-E5EDDE10BA5D}"/>
              </a:ext>
            </a:extLst>
          </p:cNvPr>
          <p:cNvSpPr/>
          <p:nvPr/>
        </p:nvSpPr>
        <p:spPr>
          <a:xfrm>
            <a:off x="457200" y="533400"/>
            <a:ext cx="63500" cy="482600"/>
          </a:xfrm>
          <a:prstGeom prst="rect">
            <a:avLst/>
          </a:prstGeom>
          <a:solidFill>
            <a:srgbClr val="C8B89A"/>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58" name="TextBox 57">
            <a:extLst>
              <a:ext uri="{FF2B5EF4-FFF2-40B4-BE49-F238E27FC236}">
                <a16:creationId xmlns:a16="http://schemas.microsoft.com/office/drawing/2014/main" id="{EE709D15-F232-CE46-BEBC-B472C47809E9}"/>
              </a:ext>
            </a:extLst>
          </p:cNvPr>
          <p:cNvSpPr txBox="1"/>
          <p:nvPr/>
        </p:nvSpPr>
        <p:spPr>
          <a:xfrm>
            <a:off x="635000" y="508000"/>
            <a:ext cx="10922000" cy="711200"/>
          </a:xfrm>
          <a:prstGeom prst="rect">
            <a:avLst/>
          </a:prstGeom>
          <a:noFill/>
        </p:spPr>
        <p:txBody>
          <a:bodyPr vertOverflow="overflow" vert="horz" wrap="square" rtlCol="0" anchor="t">
            <a:spAutoFit/>
          </a:bodyPr>
          <a:lstStyle/>
          <a:p>
            <a:pPr algn="l"/>
            <a:r>
              <a:rPr lang="en-US" sz="2100" b="1">
                <a:solidFill>
                  <a:srgbClr val="1A1A1A"/>
                </a:solidFill>
                <a:latin typeface="Georgia"/>
              </a:rPr>
              <a:t>Samsara solved this for trucking.
Aviation doesn't have its equivalent yet.</a:t>
            </a:r>
          </a:p>
        </p:txBody>
      </p:sp>
      <p:sp>
        <p:nvSpPr>
          <p:cNvPr id="59" name="Rectangle 58">
            <a:extLst>
              <a:ext uri="{FF2B5EF4-FFF2-40B4-BE49-F238E27FC236}">
                <a16:creationId xmlns:a16="http://schemas.microsoft.com/office/drawing/2014/main" id="{A8FA178F-B52C-8040-81F2-99A21C653EF6}"/>
              </a:ext>
            </a:extLst>
          </p:cNvPr>
          <p:cNvSpPr/>
          <p:nvPr/>
        </p:nvSpPr>
        <p:spPr>
          <a:xfrm>
            <a:off x="635000" y="1320800"/>
            <a:ext cx="1752600" cy="330200"/>
          </a:xfrm>
          <a:prstGeom prst="rect">
            <a:avLst/>
          </a:prstGeom>
          <a:solidFill>
            <a:srgbClr val="181818"/>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60" name="TextBox 59">
            <a:extLst>
              <a:ext uri="{FF2B5EF4-FFF2-40B4-BE49-F238E27FC236}">
                <a16:creationId xmlns:a16="http://schemas.microsoft.com/office/drawing/2014/main" id="{346D376B-29E7-3E4E-820A-124C2C8DA03B}"/>
              </a:ext>
            </a:extLst>
          </p:cNvPr>
          <p:cNvSpPr txBox="1"/>
          <p:nvPr/>
        </p:nvSpPr>
        <p:spPr>
          <a:xfrm>
            <a:off x="711200" y="1397000"/>
            <a:ext cx="1600200" cy="228600"/>
          </a:xfrm>
          <a:prstGeom prst="rect">
            <a:avLst/>
          </a:prstGeom>
          <a:noFill/>
        </p:spPr>
        <p:txBody>
          <a:bodyPr vertOverflow="overflow" vert="horz" wrap="square" rtlCol="0" anchor="t">
            <a:spAutoFit/>
          </a:bodyPr>
          <a:lstStyle/>
          <a:p>
            <a:pPr algn="l"/>
            <a:r>
              <a:rPr lang="en-US" sz="1400" b="1">
                <a:solidFill>
                  <a:srgbClr val="C8B89A"/>
                </a:solidFill>
                <a:latin typeface="Calibri"/>
                <a:cs typeface="Calibri"/>
              </a:rPr>
              <a:t>Capability</a:t>
            </a:r>
          </a:p>
        </p:txBody>
      </p:sp>
      <p:sp>
        <p:nvSpPr>
          <p:cNvPr id="61" name="Rectangle 60">
            <a:extLst>
              <a:ext uri="{FF2B5EF4-FFF2-40B4-BE49-F238E27FC236}">
                <a16:creationId xmlns:a16="http://schemas.microsoft.com/office/drawing/2014/main" id="{769E9336-95A7-C64F-8EC6-7016C8035E71}"/>
              </a:ext>
            </a:extLst>
          </p:cNvPr>
          <p:cNvSpPr/>
          <p:nvPr/>
        </p:nvSpPr>
        <p:spPr>
          <a:xfrm>
            <a:off x="2451100" y="1320800"/>
            <a:ext cx="3911600" cy="330200"/>
          </a:xfrm>
          <a:prstGeom prst="rect">
            <a:avLst/>
          </a:prstGeom>
          <a:solidFill>
            <a:srgbClr val="181818"/>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62" name="TextBox 61">
            <a:extLst>
              <a:ext uri="{FF2B5EF4-FFF2-40B4-BE49-F238E27FC236}">
                <a16:creationId xmlns:a16="http://schemas.microsoft.com/office/drawing/2014/main" id="{DBE73559-156C-D646-B8D9-B9A650590D37}"/>
              </a:ext>
            </a:extLst>
          </p:cNvPr>
          <p:cNvSpPr txBox="1"/>
          <p:nvPr/>
        </p:nvSpPr>
        <p:spPr>
          <a:xfrm>
            <a:off x="2527300" y="1397000"/>
            <a:ext cx="3759200" cy="228600"/>
          </a:xfrm>
          <a:prstGeom prst="rect">
            <a:avLst/>
          </a:prstGeom>
          <a:noFill/>
        </p:spPr>
        <p:txBody>
          <a:bodyPr vertOverflow="overflow" vert="horz" wrap="square" rtlCol="0" anchor="t">
            <a:spAutoFit/>
          </a:bodyPr>
          <a:lstStyle/>
          <a:p>
            <a:pPr algn="l"/>
            <a:r>
              <a:rPr lang="en-US" sz="1400" b="1">
                <a:solidFill>
                  <a:srgbClr val="C8B89A"/>
                </a:solidFill>
                <a:latin typeface="Calibri"/>
                <a:cs typeface="Calibri"/>
              </a:rPr>
              <a:t>Samsara — Trucking</a:t>
            </a:r>
          </a:p>
        </p:txBody>
      </p:sp>
      <p:sp>
        <p:nvSpPr>
          <p:cNvPr id="63" name="Rectangle 62">
            <a:extLst>
              <a:ext uri="{FF2B5EF4-FFF2-40B4-BE49-F238E27FC236}">
                <a16:creationId xmlns:a16="http://schemas.microsoft.com/office/drawing/2014/main" id="{154D5803-2FD6-ED4C-9BBC-0B5ED1AF8CA8}"/>
              </a:ext>
            </a:extLst>
          </p:cNvPr>
          <p:cNvSpPr/>
          <p:nvPr/>
        </p:nvSpPr>
        <p:spPr>
          <a:xfrm>
            <a:off x="6426200" y="1320800"/>
            <a:ext cx="3911600" cy="330200"/>
          </a:xfrm>
          <a:prstGeom prst="rect">
            <a:avLst/>
          </a:prstGeom>
          <a:solidFill>
            <a:srgbClr val="181818"/>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64" name="TextBox 63">
            <a:extLst>
              <a:ext uri="{FF2B5EF4-FFF2-40B4-BE49-F238E27FC236}">
                <a16:creationId xmlns:a16="http://schemas.microsoft.com/office/drawing/2014/main" id="{C3BF25AB-AACB-A145-AD04-3588C2C6506A}"/>
              </a:ext>
            </a:extLst>
          </p:cNvPr>
          <p:cNvSpPr txBox="1"/>
          <p:nvPr/>
        </p:nvSpPr>
        <p:spPr>
          <a:xfrm>
            <a:off x="6502400" y="1397000"/>
            <a:ext cx="3759200" cy="228600"/>
          </a:xfrm>
          <a:prstGeom prst="rect">
            <a:avLst/>
          </a:prstGeom>
          <a:noFill/>
        </p:spPr>
        <p:txBody>
          <a:bodyPr vertOverflow="overflow" vert="horz" wrap="square" rtlCol="0" anchor="t">
            <a:spAutoFit/>
          </a:bodyPr>
          <a:lstStyle/>
          <a:p>
            <a:pPr algn="l"/>
            <a:r>
              <a:rPr lang="en-US" sz="1400" b="1">
                <a:solidFill>
                  <a:srgbClr val="C8B89A"/>
                </a:solidFill>
                <a:latin typeface="Calibri"/>
                <a:cs typeface="Calibri"/>
              </a:rPr>
              <a:t>Aviation Today</a:t>
            </a:r>
          </a:p>
        </p:txBody>
      </p:sp>
      <p:sp>
        <p:nvSpPr>
          <p:cNvPr id="65" name="Rectangle 64">
            <a:extLst>
              <a:ext uri="{FF2B5EF4-FFF2-40B4-BE49-F238E27FC236}">
                <a16:creationId xmlns:a16="http://schemas.microsoft.com/office/drawing/2014/main" id="{865DCACF-B7BB-EA42-AD7F-A58D75AD30A3}"/>
              </a:ext>
            </a:extLst>
          </p:cNvPr>
          <p:cNvSpPr/>
          <p:nvPr/>
        </p:nvSpPr>
        <p:spPr>
          <a:xfrm>
            <a:off x="635000" y="1651000"/>
            <a:ext cx="1752600" cy="660400"/>
          </a:xfrm>
          <a:prstGeom prst="rect">
            <a:avLst/>
          </a:prstGeom>
          <a:solidFill>
            <a:srgbClr val="1E1E1E"/>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66" name="TextBox 65">
            <a:extLst>
              <a:ext uri="{FF2B5EF4-FFF2-40B4-BE49-F238E27FC236}">
                <a16:creationId xmlns:a16="http://schemas.microsoft.com/office/drawing/2014/main" id="{34B8CE92-B29C-464C-AD64-0C403046BA4F}"/>
              </a:ext>
            </a:extLst>
          </p:cNvPr>
          <p:cNvSpPr txBox="1"/>
          <p:nvPr/>
        </p:nvSpPr>
        <p:spPr>
          <a:xfrm>
            <a:off x="711200" y="1727200"/>
            <a:ext cx="1600200" cy="307777"/>
          </a:xfrm>
          <a:prstGeom prst="rect">
            <a:avLst/>
          </a:prstGeom>
          <a:noFill/>
        </p:spPr>
        <p:txBody>
          <a:bodyPr vertOverflow="overflow" vert="horz" wrap="square" rtlCol="0" anchor="t">
            <a:spAutoFit/>
          </a:bodyPr>
          <a:lstStyle/>
          <a:p>
            <a:pPr algn="l"/>
            <a:r>
              <a:rPr lang="en-US" sz="1400" b="1" dirty="0">
                <a:solidFill>
                  <a:srgbClr val="E8DFC8"/>
                </a:solidFill>
                <a:latin typeface="Calibri"/>
                <a:cs typeface="Calibri"/>
              </a:rPr>
              <a:t>Fleet visibility</a:t>
            </a:r>
          </a:p>
        </p:txBody>
      </p:sp>
      <p:sp>
        <p:nvSpPr>
          <p:cNvPr id="67" name="Rectangle 66">
            <a:extLst>
              <a:ext uri="{FF2B5EF4-FFF2-40B4-BE49-F238E27FC236}">
                <a16:creationId xmlns:a16="http://schemas.microsoft.com/office/drawing/2014/main" id="{9FB9D29A-0385-3F43-A955-46F877677C2C}"/>
              </a:ext>
            </a:extLst>
          </p:cNvPr>
          <p:cNvSpPr/>
          <p:nvPr/>
        </p:nvSpPr>
        <p:spPr>
          <a:xfrm>
            <a:off x="2451100" y="1651000"/>
            <a:ext cx="3911600" cy="660400"/>
          </a:xfrm>
          <a:prstGeom prst="rect">
            <a:avLst/>
          </a:prstGeom>
          <a:solidFill>
            <a:srgbClr val="1E1E1E"/>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68" name="TextBox 67">
            <a:extLst>
              <a:ext uri="{FF2B5EF4-FFF2-40B4-BE49-F238E27FC236}">
                <a16:creationId xmlns:a16="http://schemas.microsoft.com/office/drawing/2014/main" id="{93991CA6-7160-6E4C-B657-61C6337C6460}"/>
              </a:ext>
            </a:extLst>
          </p:cNvPr>
          <p:cNvSpPr txBox="1"/>
          <p:nvPr/>
        </p:nvSpPr>
        <p:spPr>
          <a:xfrm>
            <a:off x="2527300" y="1727200"/>
            <a:ext cx="3759200" cy="533400"/>
          </a:xfrm>
          <a:prstGeom prst="rect">
            <a:avLst/>
          </a:prstGeom>
          <a:noFill/>
        </p:spPr>
        <p:txBody>
          <a:bodyPr vertOverflow="overflow" vert="horz" wrap="square" rtlCol="0" anchor="t">
            <a:spAutoFit/>
          </a:bodyPr>
          <a:lstStyle/>
          <a:p>
            <a:pPr algn="l"/>
            <a:r>
              <a:rPr lang="en-US" sz="1300">
                <a:solidFill>
                  <a:srgbClr val="E8E0D0"/>
                </a:solidFill>
                <a:latin typeface="Calibri"/>
                <a:cs typeface="Calibri"/>
              </a:rPr>
              <a:t>Real-time GPS dashboard, status per vehicle</a:t>
            </a:r>
          </a:p>
        </p:txBody>
      </p:sp>
      <p:sp>
        <p:nvSpPr>
          <p:cNvPr id="69" name="Rectangle 68">
            <a:extLst>
              <a:ext uri="{FF2B5EF4-FFF2-40B4-BE49-F238E27FC236}">
                <a16:creationId xmlns:a16="http://schemas.microsoft.com/office/drawing/2014/main" id="{E2048BA6-6205-F94C-90A5-064DFA767EE4}"/>
              </a:ext>
            </a:extLst>
          </p:cNvPr>
          <p:cNvSpPr/>
          <p:nvPr/>
        </p:nvSpPr>
        <p:spPr>
          <a:xfrm>
            <a:off x="6426200" y="1651000"/>
            <a:ext cx="3911600" cy="660400"/>
          </a:xfrm>
          <a:prstGeom prst="rect">
            <a:avLst/>
          </a:prstGeom>
          <a:solidFill>
            <a:srgbClr val="1E1E1E"/>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70" name="TextBox 69">
            <a:extLst>
              <a:ext uri="{FF2B5EF4-FFF2-40B4-BE49-F238E27FC236}">
                <a16:creationId xmlns:a16="http://schemas.microsoft.com/office/drawing/2014/main" id="{3C3D5379-CDC0-1945-99B7-ED7F9539BAC1}"/>
              </a:ext>
            </a:extLst>
          </p:cNvPr>
          <p:cNvSpPr txBox="1"/>
          <p:nvPr/>
        </p:nvSpPr>
        <p:spPr>
          <a:xfrm>
            <a:off x="6502400" y="1727200"/>
            <a:ext cx="3759200" cy="533400"/>
          </a:xfrm>
          <a:prstGeom prst="rect">
            <a:avLst/>
          </a:prstGeom>
          <a:noFill/>
        </p:spPr>
        <p:txBody>
          <a:bodyPr vertOverflow="overflow" vert="horz" wrap="square" rtlCol="0" anchor="t">
            <a:spAutoFit/>
          </a:bodyPr>
          <a:lstStyle/>
          <a:p>
            <a:pPr algn="l"/>
            <a:r>
              <a:rPr lang="en-US" sz="1300">
                <a:solidFill>
                  <a:srgbClr val="E8E0D0"/>
                </a:solidFill>
                <a:latin typeface="Calibri"/>
                <a:cs typeface="Calibri"/>
              </a:rPr>
              <a:t>Fragmented — ADS-B readers, OEM portals, manual logs</a:t>
            </a:r>
          </a:p>
        </p:txBody>
      </p:sp>
      <p:sp>
        <p:nvSpPr>
          <p:cNvPr id="71" name="Rectangle 70">
            <a:extLst>
              <a:ext uri="{FF2B5EF4-FFF2-40B4-BE49-F238E27FC236}">
                <a16:creationId xmlns:a16="http://schemas.microsoft.com/office/drawing/2014/main" id="{E116020D-D882-804B-B9AB-681F7B4F5040}"/>
              </a:ext>
            </a:extLst>
          </p:cNvPr>
          <p:cNvSpPr/>
          <p:nvPr/>
        </p:nvSpPr>
        <p:spPr>
          <a:xfrm>
            <a:off x="635000" y="2311400"/>
            <a:ext cx="1752600" cy="660400"/>
          </a:xfrm>
          <a:prstGeom prst="rect">
            <a:avLst/>
          </a:prstGeom>
          <a:solidFill>
            <a:srgbClr val="161616"/>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72" name="TextBox 71">
            <a:extLst>
              <a:ext uri="{FF2B5EF4-FFF2-40B4-BE49-F238E27FC236}">
                <a16:creationId xmlns:a16="http://schemas.microsoft.com/office/drawing/2014/main" id="{0E4CB33B-737D-7443-A6D4-1C5783132E10}"/>
              </a:ext>
            </a:extLst>
          </p:cNvPr>
          <p:cNvSpPr txBox="1"/>
          <p:nvPr/>
        </p:nvSpPr>
        <p:spPr>
          <a:xfrm>
            <a:off x="711200" y="2387600"/>
            <a:ext cx="1600200" cy="307777"/>
          </a:xfrm>
          <a:prstGeom prst="rect">
            <a:avLst/>
          </a:prstGeom>
          <a:noFill/>
        </p:spPr>
        <p:txBody>
          <a:bodyPr vertOverflow="overflow" vert="horz" wrap="square" rtlCol="0" anchor="t">
            <a:spAutoFit/>
          </a:bodyPr>
          <a:lstStyle/>
          <a:p>
            <a:pPr algn="l"/>
            <a:r>
              <a:rPr lang="en-US" sz="1400" b="1" dirty="0">
                <a:solidFill>
                  <a:srgbClr val="E8DFC8"/>
                </a:solidFill>
                <a:latin typeface="Calibri"/>
                <a:cs typeface="Calibri"/>
              </a:rPr>
              <a:t>Maintenance</a:t>
            </a:r>
          </a:p>
        </p:txBody>
      </p:sp>
      <p:sp>
        <p:nvSpPr>
          <p:cNvPr id="73" name="Rectangle 72">
            <a:extLst>
              <a:ext uri="{FF2B5EF4-FFF2-40B4-BE49-F238E27FC236}">
                <a16:creationId xmlns:a16="http://schemas.microsoft.com/office/drawing/2014/main" id="{483A566A-4B35-9F47-82D9-63B89D183922}"/>
              </a:ext>
            </a:extLst>
          </p:cNvPr>
          <p:cNvSpPr/>
          <p:nvPr/>
        </p:nvSpPr>
        <p:spPr>
          <a:xfrm>
            <a:off x="2451100" y="2311400"/>
            <a:ext cx="3911600" cy="660400"/>
          </a:xfrm>
          <a:prstGeom prst="rect">
            <a:avLst/>
          </a:prstGeom>
          <a:solidFill>
            <a:srgbClr val="161616"/>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74" name="TextBox 73">
            <a:extLst>
              <a:ext uri="{FF2B5EF4-FFF2-40B4-BE49-F238E27FC236}">
                <a16:creationId xmlns:a16="http://schemas.microsoft.com/office/drawing/2014/main" id="{CD9C1128-5249-534C-A589-9D24EA131548}"/>
              </a:ext>
            </a:extLst>
          </p:cNvPr>
          <p:cNvSpPr txBox="1"/>
          <p:nvPr/>
        </p:nvSpPr>
        <p:spPr>
          <a:xfrm>
            <a:off x="2527300" y="2387600"/>
            <a:ext cx="3759200" cy="533400"/>
          </a:xfrm>
          <a:prstGeom prst="rect">
            <a:avLst/>
          </a:prstGeom>
          <a:noFill/>
        </p:spPr>
        <p:txBody>
          <a:bodyPr vertOverflow="overflow" vert="horz" wrap="square" rtlCol="0" anchor="t">
            <a:spAutoFit/>
          </a:bodyPr>
          <a:lstStyle/>
          <a:p>
            <a:pPr algn="l"/>
            <a:r>
              <a:rPr lang="en-US" sz="1300" dirty="0">
                <a:solidFill>
                  <a:srgbClr val="E8E0D0"/>
                </a:solidFill>
                <a:latin typeface="Calibri"/>
                <a:cs typeface="Calibri"/>
              </a:rPr>
              <a:t>Automated alerts, mileage-based scheduling</a:t>
            </a:r>
          </a:p>
        </p:txBody>
      </p:sp>
      <p:sp>
        <p:nvSpPr>
          <p:cNvPr id="75" name="Rectangle 74">
            <a:extLst>
              <a:ext uri="{FF2B5EF4-FFF2-40B4-BE49-F238E27FC236}">
                <a16:creationId xmlns:a16="http://schemas.microsoft.com/office/drawing/2014/main" id="{99838AB5-A83D-F641-83A9-FDDE766DB8EC}"/>
              </a:ext>
            </a:extLst>
          </p:cNvPr>
          <p:cNvSpPr/>
          <p:nvPr/>
        </p:nvSpPr>
        <p:spPr>
          <a:xfrm>
            <a:off x="6426200" y="2311400"/>
            <a:ext cx="3911600" cy="660400"/>
          </a:xfrm>
          <a:prstGeom prst="rect">
            <a:avLst/>
          </a:prstGeom>
          <a:solidFill>
            <a:srgbClr val="161616"/>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76" name="TextBox 75">
            <a:extLst>
              <a:ext uri="{FF2B5EF4-FFF2-40B4-BE49-F238E27FC236}">
                <a16:creationId xmlns:a16="http://schemas.microsoft.com/office/drawing/2014/main" id="{69BE7B2A-ED17-9F4C-9AE7-1BB70228C99D}"/>
              </a:ext>
            </a:extLst>
          </p:cNvPr>
          <p:cNvSpPr txBox="1"/>
          <p:nvPr/>
        </p:nvSpPr>
        <p:spPr>
          <a:xfrm>
            <a:off x="6502400" y="2387600"/>
            <a:ext cx="3759200" cy="533400"/>
          </a:xfrm>
          <a:prstGeom prst="rect">
            <a:avLst/>
          </a:prstGeom>
          <a:noFill/>
        </p:spPr>
        <p:txBody>
          <a:bodyPr vertOverflow="overflow" vert="horz" wrap="square" rtlCol="0" anchor="t">
            <a:spAutoFit/>
          </a:bodyPr>
          <a:lstStyle/>
          <a:p>
            <a:pPr algn="l"/>
            <a:r>
              <a:rPr lang="en-US" sz="1300">
                <a:solidFill>
                  <a:srgbClr val="E8E0D0"/>
                </a:solidFill>
                <a:latin typeface="Calibri"/>
                <a:cs typeface="Calibri"/>
              </a:rPr>
              <a:t>Spreadsheets built for fixed-wing, not eVTOL battery cycles</a:t>
            </a:r>
          </a:p>
        </p:txBody>
      </p:sp>
      <p:sp>
        <p:nvSpPr>
          <p:cNvPr id="77" name="Rectangle 76">
            <a:extLst>
              <a:ext uri="{FF2B5EF4-FFF2-40B4-BE49-F238E27FC236}">
                <a16:creationId xmlns:a16="http://schemas.microsoft.com/office/drawing/2014/main" id="{527C997F-37E0-6748-8DA8-4F1FA5CB5B44}"/>
              </a:ext>
            </a:extLst>
          </p:cNvPr>
          <p:cNvSpPr/>
          <p:nvPr/>
        </p:nvSpPr>
        <p:spPr>
          <a:xfrm>
            <a:off x="635000" y="2971800"/>
            <a:ext cx="1752600" cy="660400"/>
          </a:xfrm>
          <a:prstGeom prst="rect">
            <a:avLst/>
          </a:prstGeom>
          <a:solidFill>
            <a:srgbClr val="1E1E1E"/>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78" name="TextBox 77">
            <a:extLst>
              <a:ext uri="{FF2B5EF4-FFF2-40B4-BE49-F238E27FC236}">
                <a16:creationId xmlns:a16="http://schemas.microsoft.com/office/drawing/2014/main" id="{04D4E95E-8EA7-8C42-939D-A85A79C2728B}"/>
              </a:ext>
            </a:extLst>
          </p:cNvPr>
          <p:cNvSpPr txBox="1"/>
          <p:nvPr/>
        </p:nvSpPr>
        <p:spPr>
          <a:xfrm>
            <a:off x="711200" y="3048000"/>
            <a:ext cx="1600200" cy="307777"/>
          </a:xfrm>
          <a:prstGeom prst="rect">
            <a:avLst/>
          </a:prstGeom>
          <a:noFill/>
        </p:spPr>
        <p:txBody>
          <a:bodyPr vertOverflow="overflow" vert="horz" wrap="square" rtlCol="0" anchor="t">
            <a:spAutoFit/>
          </a:bodyPr>
          <a:lstStyle/>
          <a:p>
            <a:pPr algn="l"/>
            <a:r>
              <a:rPr lang="en-US" sz="1400" b="1" dirty="0">
                <a:solidFill>
                  <a:srgbClr val="E8DFC8"/>
                </a:solidFill>
                <a:latin typeface="Calibri"/>
                <a:cs typeface="Calibri"/>
              </a:rPr>
              <a:t>Compliance</a:t>
            </a:r>
          </a:p>
        </p:txBody>
      </p:sp>
      <p:sp>
        <p:nvSpPr>
          <p:cNvPr id="79" name="Rectangle 78">
            <a:extLst>
              <a:ext uri="{FF2B5EF4-FFF2-40B4-BE49-F238E27FC236}">
                <a16:creationId xmlns:a16="http://schemas.microsoft.com/office/drawing/2014/main" id="{DC2EEE3E-D1DE-B545-B879-048C5323C595}"/>
              </a:ext>
            </a:extLst>
          </p:cNvPr>
          <p:cNvSpPr/>
          <p:nvPr/>
        </p:nvSpPr>
        <p:spPr>
          <a:xfrm>
            <a:off x="2451100" y="2971800"/>
            <a:ext cx="3911600" cy="660400"/>
          </a:xfrm>
          <a:prstGeom prst="rect">
            <a:avLst/>
          </a:prstGeom>
          <a:solidFill>
            <a:srgbClr val="1E1E1E"/>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80" name="TextBox 79">
            <a:extLst>
              <a:ext uri="{FF2B5EF4-FFF2-40B4-BE49-F238E27FC236}">
                <a16:creationId xmlns:a16="http://schemas.microsoft.com/office/drawing/2014/main" id="{7DBADEC4-5E86-7E49-AFDF-1A6705678F52}"/>
              </a:ext>
            </a:extLst>
          </p:cNvPr>
          <p:cNvSpPr txBox="1"/>
          <p:nvPr/>
        </p:nvSpPr>
        <p:spPr>
          <a:xfrm>
            <a:off x="2527300" y="3048000"/>
            <a:ext cx="3759200" cy="533400"/>
          </a:xfrm>
          <a:prstGeom prst="rect">
            <a:avLst/>
          </a:prstGeom>
          <a:noFill/>
        </p:spPr>
        <p:txBody>
          <a:bodyPr vertOverflow="overflow" vert="horz" wrap="square" rtlCol="0" anchor="t">
            <a:spAutoFit/>
          </a:bodyPr>
          <a:lstStyle/>
          <a:p>
            <a:pPr algn="l"/>
            <a:r>
              <a:rPr lang="en-US" sz="1300">
                <a:solidFill>
                  <a:srgbClr val="E8E0D0"/>
                </a:solidFill>
                <a:latin typeface="Calibri"/>
                <a:cs typeface="Calibri"/>
              </a:rPr>
              <a:t>Automated HOS and DOT reporting</a:t>
            </a:r>
          </a:p>
        </p:txBody>
      </p:sp>
      <p:sp>
        <p:nvSpPr>
          <p:cNvPr id="81" name="Rectangle 80">
            <a:extLst>
              <a:ext uri="{FF2B5EF4-FFF2-40B4-BE49-F238E27FC236}">
                <a16:creationId xmlns:a16="http://schemas.microsoft.com/office/drawing/2014/main" id="{6C691881-8EB2-B548-9211-A19667E940B8}"/>
              </a:ext>
            </a:extLst>
          </p:cNvPr>
          <p:cNvSpPr/>
          <p:nvPr/>
        </p:nvSpPr>
        <p:spPr>
          <a:xfrm>
            <a:off x="6426200" y="2971800"/>
            <a:ext cx="3911600" cy="660400"/>
          </a:xfrm>
          <a:prstGeom prst="rect">
            <a:avLst/>
          </a:prstGeom>
          <a:solidFill>
            <a:srgbClr val="1E1E1E"/>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82" name="TextBox 81">
            <a:extLst>
              <a:ext uri="{FF2B5EF4-FFF2-40B4-BE49-F238E27FC236}">
                <a16:creationId xmlns:a16="http://schemas.microsoft.com/office/drawing/2014/main" id="{47A5DBFC-3AF6-BC49-8CC8-6501C329B73F}"/>
              </a:ext>
            </a:extLst>
          </p:cNvPr>
          <p:cNvSpPr txBox="1"/>
          <p:nvPr/>
        </p:nvSpPr>
        <p:spPr>
          <a:xfrm>
            <a:off x="6502400" y="3048000"/>
            <a:ext cx="3759200" cy="533400"/>
          </a:xfrm>
          <a:prstGeom prst="rect">
            <a:avLst/>
          </a:prstGeom>
          <a:noFill/>
        </p:spPr>
        <p:txBody>
          <a:bodyPr vertOverflow="overflow" vert="horz" wrap="square" rtlCol="0" anchor="t">
            <a:spAutoFit/>
          </a:bodyPr>
          <a:lstStyle/>
          <a:p>
            <a:pPr algn="l"/>
            <a:r>
              <a:rPr lang="en-US" sz="1300">
                <a:solidFill>
                  <a:srgbClr val="E8E0D0"/>
                </a:solidFill>
                <a:latin typeface="Calibri"/>
                <a:cs typeface="Calibri"/>
              </a:rPr>
              <a:t>Manual FAA documentation — done by hand</a:t>
            </a:r>
          </a:p>
        </p:txBody>
      </p:sp>
      <p:sp>
        <p:nvSpPr>
          <p:cNvPr id="83" name="Rectangle 82">
            <a:extLst>
              <a:ext uri="{FF2B5EF4-FFF2-40B4-BE49-F238E27FC236}">
                <a16:creationId xmlns:a16="http://schemas.microsoft.com/office/drawing/2014/main" id="{D25DC359-C209-164D-B775-7822E8E916F5}"/>
              </a:ext>
            </a:extLst>
          </p:cNvPr>
          <p:cNvSpPr/>
          <p:nvPr/>
        </p:nvSpPr>
        <p:spPr>
          <a:xfrm>
            <a:off x="635000" y="3632200"/>
            <a:ext cx="1752600" cy="660400"/>
          </a:xfrm>
          <a:prstGeom prst="rect">
            <a:avLst/>
          </a:prstGeom>
          <a:solidFill>
            <a:srgbClr val="161616"/>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84" name="TextBox 83">
            <a:extLst>
              <a:ext uri="{FF2B5EF4-FFF2-40B4-BE49-F238E27FC236}">
                <a16:creationId xmlns:a16="http://schemas.microsoft.com/office/drawing/2014/main" id="{829362B8-E5B7-5F45-B915-D4A66C72A9CB}"/>
              </a:ext>
            </a:extLst>
          </p:cNvPr>
          <p:cNvSpPr txBox="1"/>
          <p:nvPr/>
        </p:nvSpPr>
        <p:spPr>
          <a:xfrm>
            <a:off x="711200" y="3708400"/>
            <a:ext cx="1600200" cy="307777"/>
          </a:xfrm>
          <a:prstGeom prst="rect">
            <a:avLst/>
          </a:prstGeom>
          <a:noFill/>
        </p:spPr>
        <p:txBody>
          <a:bodyPr vertOverflow="overflow" vert="horz" wrap="square" rtlCol="0" anchor="t">
            <a:spAutoFit/>
          </a:bodyPr>
          <a:lstStyle/>
          <a:p>
            <a:pPr algn="l"/>
            <a:r>
              <a:rPr lang="en-US" sz="1400" b="1" dirty="0">
                <a:solidFill>
                  <a:srgbClr val="E8DFC8"/>
                </a:solidFill>
                <a:latin typeface="Calibri"/>
                <a:cs typeface="Calibri"/>
              </a:rPr>
              <a:t>Dispatch</a:t>
            </a:r>
          </a:p>
        </p:txBody>
      </p:sp>
      <p:sp>
        <p:nvSpPr>
          <p:cNvPr id="85" name="Rectangle 84">
            <a:extLst>
              <a:ext uri="{FF2B5EF4-FFF2-40B4-BE49-F238E27FC236}">
                <a16:creationId xmlns:a16="http://schemas.microsoft.com/office/drawing/2014/main" id="{3E5F5A4A-6BF1-3543-9413-86E6637E85A4}"/>
              </a:ext>
            </a:extLst>
          </p:cNvPr>
          <p:cNvSpPr/>
          <p:nvPr/>
        </p:nvSpPr>
        <p:spPr>
          <a:xfrm>
            <a:off x="2451100" y="3632200"/>
            <a:ext cx="3911600" cy="660400"/>
          </a:xfrm>
          <a:prstGeom prst="rect">
            <a:avLst/>
          </a:prstGeom>
          <a:solidFill>
            <a:srgbClr val="161616"/>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86" name="TextBox 85">
            <a:extLst>
              <a:ext uri="{FF2B5EF4-FFF2-40B4-BE49-F238E27FC236}">
                <a16:creationId xmlns:a16="http://schemas.microsoft.com/office/drawing/2014/main" id="{A2B7A26F-7FEA-A246-9B0E-9A7B5AF4F457}"/>
              </a:ext>
            </a:extLst>
          </p:cNvPr>
          <p:cNvSpPr txBox="1"/>
          <p:nvPr/>
        </p:nvSpPr>
        <p:spPr>
          <a:xfrm>
            <a:off x="2527300" y="3708400"/>
            <a:ext cx="3759200" cy="533400"/>
          </a:xfrm>
          <a:prstGeom prst="rect">
            <a:avLst/>
          </a:prstGeom>
          <a:noFill/>
        </p:spPr>
        <p:txBody>
          <a:bodyPr vertOverflow="overflow" vert="horz" wrap="square" rtlCol="0" anchor="t">
            <a:spAutoFit/>
          </a:bodyPr>
          <a:lstStyle/>
          <a:p>
            <a:pPr algn="l"/>
            <a:r>
              <a:rPr lang="en-US" sz="1300">
                <a:solidFill>
                  <a:srgbClr val="E8E0D0"/>
                </a:solidFill>
                <a:latin typeface="Calibri"/>
                <a:cs typeface="Calibri"/>
              </a:rPr>
              <a:t>Route optimization, driver assignment</a:t>
            </a:r>
          </a:p>
        </p:txBody>
      </p:sp>
      <p:sp>
        <p:nvSpPr>
          <p:cNvPr id="87" name="Rectangle 86">
            <a:extLst>
              <a:ext uri="{FF2B5EF4-FFF2-40B4-BE49-F238E27FC236}">
                <a16:creationId xmlns:a16="http://schemas.microsoft.com/office/drawing/2014/main" id="{8685C5AC-5227-9A46-86D2-6AABB281F604}"/>
              </a:ext>
            </a:extLst>
          </p:cNvPr>
          <p:cNvSpPr/>
          <p:nvPr/>
        </p:nvSpPr>
        <p:spPr>
          <a:xfrm>
            <a:off x="6426200" y="3632200"/>
            <a:ext cx="3911600" cy="660400"/>
          </a:xfrm>
          <a:prstGeom prst="rect">
            <a:avLst/>
          </a:prstGeom>
          <a:solidFill>
            <a:srgbClr val="161616"/>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88" name="TextBox 87">
            <a:extLst>
              <a:ext uri="{FF2B5EF4-FFF2-40B4-BE49-F238E27FC236}">
                <a16:creationId xmlns:a16="http://schemas.microsoft.com/office/drawing/2014/main" id="{5729DA27-FACD-AD44-8C69-99648FF31BB8}"/>
              </a:ext>
            </a:extLst>
          </p:cNvPr>
          <p:cNvSpPr txBox="1"/>
          <p:nvPr/>
        </p:nvSpPr>
        <p:spPr>
          <a:xfrm>
            <a:off x="6502400" y="3708400"/>
            <a:ext cx="3759200" cy="533400"/>
          </a:xfrm>
          <a:prstGeom prst="rect">
            <a:avLst/>
          </a:prstGeom>
          <a:noFill/>
        </p:spPr>
        <p:txBody>
          <a:bodyPr vertOverflow="overflow" vert="horz" wrap="square" rtlCol="0" anchor="t">
            <a:spAutoFit/>
          </a:bodyPr>
          <a:lstStyle/>
          <a:p>
            <a:pPr algn="l"/>
            <a:r>
              <a:rPr lang="en-US" sz="1300">
                <a:solidFill>
                  <a:srgbClr val="E8E0D0"/>
                </a:solidFill>
                <a:latin typeface="Calibri"/>
                <a:cs typeface="Calibri"/>
              </a:rPr>
              <a:t>Phone calls, spreadsheets, no deconfliction tooling</a:t>
            </a:r>
          </a:p>
        </p:txBody>
      </p:sp>
      <p:sp>
        <p:nvSpPr>
          <p:cNvPr id="89" name="Rectangle 88">
            <a:extLst>
              <a:ext uri="{FF2B5EF4-FFF2-40B4-BE49-F238E27FC236}">
                <a16:creationId xmlns:a16="http://schemas.microsoft.com/office/drawing/2014/main" id="{B826D378-DB8C-5E40-8FB3-700F31C65665}"/>
              </a:ext>
            </a:extLst>
          </p:cNvPr>
          <p:cNvSpPr/>
          <p:nvPr/>
        </p:nvSpPr>
        <p:spPr>
          <a:xfrm>
            <a:off x="635000" y="4292600"/>
            <a:ext cx="1752600" cy="660400"/>
          </a:xfrm>
          <a:prstGeom prst="rect">
            <a:avLst/>
          </a:prstGeom>
          <a:solidFill>
            <a:srgbClr val="1E1E1E"/>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90" name="TextBox 89">
            <a:extLst>
              <a:ext uri="{FF2B5EF4-FFF2-40B4-BE49-F238E27FC236}">
                <a16:creationId xmlns:a16="http://schemas.microsoft.com/office/drawing/2014/main" id="{B5B39BF1-FEF6-5F4C-9F57-84F07447A2A9}"/>
              </a:ext>
            </a:extLst>
          </p:cNvPr>
          <p:cNvSpPr txBox="1"/>
          <p:nvPr/>
        </p:nvSpPr>
        <p:spPr>
          <a:xfrm>
            <a:off x="711200" y="4368800"/>
            <a:ext cx="1600200" cy="307777"/>
          </a:xfrm>
          <a:prstGeom prst="rect">
            <a:avLst/>
          </a:prstGeom>
          <a:noFill/>
        </p:spPr>
        <p:txBody>
          <a:bodyPr vertOverflow="overflow" vert="horz" wrap="square" rtlCol="0" anchor="t">
            <a:spAutoFit/>
          </a:bodyPr>
          <a:lstStyle/>
          <a:p>
            <a:pPr algn="l"/>
            <a:r>
              <a:rPr lang="en-US" sz="1400" b="1" dirty="0">
                <a:solidFill>
                  <a:srgbClr val="E8DFC8"/>
                </a:solidFill>
                <a:latin typeface="Calibri"/>
                <a:cs typeface="Calibri"/>
              </a:rPr>
              <a:t>Platform</a:t>
            </a:r>
          </a:p>
        </p:txBody>
      </p:sp>
      <p:sp>
        <p:nvSpPr>
          <p:cNvPr id="91" name="Rectangle 90">
            <a:extLst>
              <a:ext uri="{FF2B5EF4-FFF2-40B4-BE49-F238E27FC236}">
                <a16:creationId xmlns:a16="http://schemas.microsoft.com/office/drawing/2014/main" id="{05775020-71DC-5645-AFBB-B3BF900FEBF4}"/>
              </a:ext>
            </a:extLst>
          </p:cNvPr>
          <p:cNvSpPr/>
          <p:nvPr/>
        </p:nvSpPr>
        <p:spPr>
          <a:xfrm>
            <a:off x="2451100" y="4292600"/>
            <a:ext cx="3911600" cy="660400"/>
          </a:xfrm>
          <a:prstGeom prst="rect">
            <a:avLst/>
          </a:prstGeom>
          <a:solidFill>
            <a:srgbClr val="1E1E1E"/>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92" name="TextBox 91">
            <a:extLst>
              <a:ext uri="{FF2B5EF4-FFF2-40B4-BE49-F238E27FC236}">
                <a16:creationId xmlns:a16="http://schemas.microsoft.com/office/drawing/2014/main" id="{7BBCC066-A2DC-DD42-844D-6AA6E5994706}"/>
              </a:ext>
            </a:extLst>
          </p:cNvPr>
          <p:cNvSpPr txBox="1"/>
          <p:nvPr/>
        </p:nvSpPr>
        <p:spPr>
          <a:xfrm>
            <a:off x="2527300" y="4368800"/>
            <a:ext cx="3759200" cy="533400"/>
          </a:xfrm>
          <a:prstGeom prst="rect">
            <a:avLst/>
          </a:prstGeom>
          <a:noFill/>
        </p:spPr>
        <p:txBody>
          <a:bodyPr vertOverflow="overflow" vert="horz" wrap="square" rtlCol="0" anchor="t">
            <a:spAutoFit/>
          </a:bodyPr>
          <a:lstStyle/>
          <a:p>
            <a:pPr algn="l"/>
            <a:r>
              <a:rPr lang="en-US" sz="1300">
                <a:solidFill>
                  <a:srgbClr val="E8E0D0"/>
                </a:solidFill>
                <a:latin typeface="Calibri"/>
                <a:cs typeface="Calibri"/>
              </a:rPr>
              <a:t>~$17B purpose-built company</a:t>
            </a:r>
          </a:p>
        </p:txBody>
      </p:sp>
      <p:sp>
        <p:nvSpPr>
          <p:cNvPr id="93" name="Rectangle 92">
            <a:extLst>
              <a:ext uri="{FF2B5EF4-FFF2-40B4-BE49-F238E27FC236}">
                <a16:creationId xmlns:a16="http://schemas.microsoft.com/office/drawing/2014/main" id="{8C3BA417-A83F-3D46-B4C1-5255872132C0}"/>
              </a:ext>
            </a:extLst>
          </p:cNvPr>
          <p:cNvSpPr/>
          <p:nvPr/>
        </p:nvSpPr>
        <p:spPr>
          <a:xfrm>
            <a:off x="6426200" y="4292600"/>
            <a:ext cx="3911600" cy="660400"/>
          </a:xfrm>
          <a:prstGeom prst="rect">
            <a:avLst/>
          </a:prstGeom>
          <a:solidFill>
            <a:srgbClr val="1E1E1E"/>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94" name="TextBox 93">
            <a:extLst>
              <a:ext uri="{FF2B5EF4-FFF2-40B4-BE49-F238E27FC236}">
                <a16:creationId xmlns:a16="http://schemas.microsoft.com/office/drawing/2014/main" id="{9FCA6C89-550C-B341-8474-71C6E62ACDC7}"/>
              </a:ext>
            </a:extLst>
          </p:cNvPr>
          <p:cNvSpPr txBox="1"/>
          <p:nvPr/>
        </p:nvSpPr>
        <p:spPr>
          <a:xfrm>
            <a:off x="6502400" y="4368800"/>
            <a:ext cx="3759200" cy="533400"/>
          </a:xfrm>
          <a:prstGeom prst="rect">
            <a:avLst/>
          </a:prstGeom>
          <a:noFill/>
        </p:spPr>
        <p:txBody>
          <a:bodyPr vertOverflow="overflow" vert="horz" wrap="square" rtlCol="0" anchor="t">
            <a:spAutoFit/>
          </a:bodyPr>
          <a:lstStyle/>
          <a:p>
            <a:pPr algn="l"/>
            <a:r>
              <a:rPr lang="en-US" sz="1300">
                <a:solidFill>
                  <a:srgbClr val="C8B89A"/>
                </a:solidFill>
                <a:latin typeface="Calibri"/>
                <a:cs typeface="Calibri"/>
              </a:rPr>
              <a:t>Purpose-built aviation equivalent: does not exist.</a:t>
            </a:r>
          </a:p>
        </p:txBody>
      </p:sp>
      <p:sp>
        <p:nvSpPr>
          <p:cNvPr id="95" name="Rectangle 94">
            <a:extLst>
              <a:ext uri="{FF2B5EF4-FFF2-40B4-BE49-F238E27FC236}">
                <a16:creationId xmlns:a16="http://schemas.microsoft.com/office/drawing/2014/main" id="{C7BBA1F9-5C66-A04D-A7DC-EC9D0AB67B88}"/>
              </a:ext>
            </a:extLst>
          </p:cNvPr>
          <p:cNvSpPr/>
          <p:nvPr/>
        </p:nvSpPr>
        <p:spPr>
          <a:xfrm>
            <a:off x="635000" y="5080000"/>
            <a:ext cx="10922000" cy="660400"/>
          </a:xfrm>
          <a:prstGeom prst="rect">
            <a:avLst/>
          </a:prstGeom>
          <a:solidFill>
            <a:srgbClr val="181818"/>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96" name="Rectangle 95">
            <a:extLst>
              <a:ext uri="{FF2B5EF4-FFF2-40B4-BE49-F238E27FC236}">
                <a16:creationId xmlns:a16="http://schemas.microsoft.com/office/drawing/2014/main" id="{BA0BAA88-091B-B94E-B804-405DB58B2E10}"/>
              </a:ext>
            </a:extLst>
          </p:cNvPr>
          <p:cNvSpPr/>
          <p:nvPr/>
        </p:nvSpPr>
        <p:spPr>
          <a:xfrm>
            <a:off x="635000" y="5080000"/>
            <a:ext cx="38100" cy="660400"/>
          </a:xfrm>
          <a:prstGeom prst="rect">
            <a:avLst/>
          </a:prstGeom>
          <a:solidFill>
            <a:srgbClr val="C8B89A"/>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97" name="TextBox 96">
            <a:extLst>
              <a:ext uri="{FF2B5EF4-FFF2-40B4-BE49-F238E27FC236}">
                <a16:creationId xmlns:a16="http://schemas.microsoft.com/office/drawing/2014/main" id="{8B22EB0C-CF5C-5C4B-A00B-2A6FADF9036F}"/>
              </a:ext>
            </a:extLst>
          </p:cNvPr>
          <p:cNvSpPr txBox="1"/>
          <p:nvPr/>
        </p:nvSpPr>
        <p:spPr>
          <a:xfrm>
            <a:off x="787400" y="5181600"/>
            <a:ext cx="10668000" cy="482600"/>
          </a:xfrm>
          <a:prstGeom prst="rect">
            <a:avLst/>
          </a:prstGeom>
          <a:noFill/>
        </p:spPr>
        <p:txBody>
          <a:bodyPr vertOverflow="overflow" vert="horz" wrap="square" rtlCol="0" anchor="t">
            <a:spAutoFit/>
          </a:bodyPr>
          <a:lstStyle/>
          <a:p>
            <a:pPr algn="l"/>
            <a:r>
              <a:rPr lang="en-US" sz="1300">
                <a:solidFill>
                  <a:srgbClr val="E8E0D0"/>
                </a:solidFill>
                <a:latin typeface="Calibri"/>
                <a:cs typeface="Calibri"/>
              </a:rPr>
              <a:t>“FlytBase, AlarisPro, AirData UAV, and Aloft — none architected for drone fleets today and eVTOL at scale. The gap is real.”</a:t>
            </a:r>
          </a:p>
        </p:txBody>
      </p:sp>
      <p:sp>
        <p:nvSpPr>
          <p:cNvPr id="98" name="Rectangle 97">
            <a:extLst>
              <a:ext uri="{FF2B5EF4-FFF2-40B4-BE49-F238E27FC236}">
                <a16:creationId xmlns:a16="http://schemas.microsoft.com/office/drawing/2014/main" id="{3B5F0585-3C2B-054B-8692-3FAFEFA6A369}"/>
              </a:ext>
            </a:extLst>
          </p:cNvPr>
          <p:cNvSpPr/>
          <p:nvPr/>
        </p:nvSpPr>
        <p:spPr>
          <a:xfrm>
            <a:off x="635000" y="6146800"/>
            <a:ext cx="10922000" cy="12700"/>
          </a:xfrm>
          <a:prstGeom prst="rect">
            <a:avLst/>
          </a:prstGeom>
          <a:solidFill>
            <a:srgbClr val="333333"/>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99" name="TextBox 98">
            <a:extLst>
              <a:ext uri="{FF2B5EF4-FFF2-40B4-BE49-F238E27FC236}">
                <a16:creationId xmlns:a16="http://schemas.microsoft.com/office/drawing/2014/main" id="{9E9F625D-03B6-1F43-8725-DD76293A83D0}"/>
              </a:ext>
            </a:extLst>
          </p:cNvPr>
          <p:cNvSpPr txBox="1"/>
          <p:nvPr/>
        </p:nvSpPr>
        <p:spPr>
          <a:xfrm>
            <a:off x="635000" y="6197600"/>
            <a:ext cx="10922000" cy="177800"/>
          </a:xfrm>
          <a:prstGeom prst="rect">
            <a:avLst/>
          </a:prstGeom>
          <a:noFill/>
        </p:spPr>
        <p:txBody>
          <a:bodyPr vertOverflow="overflow" vert="horz" wrap="square" rtlCol="0" anchor="t">
            <a:spAutoFit/>
          </a:bodyPr>
          <a:lstStyle/>
          <a:p>
            <a:pPr algn="l"/>
            <a:r>
              <a:rPr lang="en-US" sz="1300">
                <a:solidFill>
                  <a:srgbClr val="555555"/>
                </a:solidFill>
                <a:latin typeface="Calibri"/>
                <a:cs typeface="Calibri"/>
              </a:rPr>
              <a:t>eVTOL Research Brief · UIUC 2026          CONFIDENTIAL · FOR DISCUSSION PURPOSES ONLY          02 / 09</a:t>
            </a:r>
          </a:p>
        </p:txBody>
      </p:sp>
    </p:spTree>
    <p:extLst>
      <p:ext uri="{BB962C8B-B14F-4D97-AF65-F5344CB8AC3E}">
        <p14:creationId xmlns:p14="http://schemas.microsoft.com/office/powerpoint/2010/main" val="94491374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E8DFC8">
            <a:alpha val="100000"/>
          </a:srgbClr>
        </a:solidFill>
        <a:effectLst/>
      </p:bgPr>
    </p:bg>
    <p:spTree>
      <p:nvGrpSpPr>
        <p:cNvPr id="1" name=""/>
        <p:cNvGrpSpPr/>
        <p:nvPr/>
      </p:nvGrpSpPr>
      <p:grpSpPr>
        <a:xfrm>
          <a:off x="0" y="0"/>
          <a:ext cx="0" cy="0"/>
          <a:chOff x="0" y="0"/>
          <a:chExt cx="0" cy="0"/>
        </a:xfrm>
      </p:grpSpPr>
      <p:sp>
        <p:nvSpPr>
          <p:cNvPr id="49" name="TextBox 48">
            <a:extLst>
              <a:ext uri="{FF2B5EF4-FFF2-40B4-BE49-F238E27FC236}">
                <a16:creationId xmlns:a16="http://schemas.microsoft.com/office/drawing/2014/main" id="{6D53C36B-0379-B246-88DA-F2E2CBAF387A}"/>
              </a:ext>
            </a:extLst>
          </p:cNvPr>
          <p:cNvSpPr txBox="1"/>
          <p:nvPr/>
        </p:nvSpPr>
        <p:spPr>
          <a:xfrm>
            <a:off x="635000" y="279400"/>
            <a:ext cx="6350000" cy="177800"/>
          </a:xfrm>
          <a:prstGeom prst="rect">
            <a:avLst/>
          </a:prstGeom>
          <a:noFill/>
        </p:spPr>
        <p:txBody>
          <a:bodyPr vertOverflow="overflow" vert="horz" wrap="square" rtlCol="0" anchor="t">
            <a:spAutoFit/>
          </a:bodyPr>
          <a:lstStyle/>
          <a:p>
            <a:pPr algn="l"/>
            <a:r>
              <a:rPr lang="en-US" sz="1300">
                <a:solidFill>
                  <a:srgbClr val="555555"/>
                </a:solidFill>
                <a:latin typeface="Calibri"/>
                <a:cs typeface="Calibri"/>
              </a:rPr>
              <a:t>WHAT GETS HARD AT SCALE</a:t>
            </a:r>
          </a:p>
        </p:txBody>
      </p:sp>
      <p:sp>
        <p:nvSpPr>
          <p:cNvPr id="50" name="TextBox 49">
            <a:extLst>
              <a:ext uri="{FF2B5EF4-FFF2-40B4-BE49-F238E27FC236}">
                <a16:creationId xmlns:a16="http://schemas.microsoft.com/office/drawing/2014/main" id="{429C2503-A00E-DC4A-9B3E-1B9560FA047D}"/>
              </a:ext>
            </a:extLst>
          </p:cNvPr>
          <p:cNvSpPr txBox="1"/>
          <p:nvPr/>
        </p:nvSpPr>
        <p:spPr>
          <a:xfrm>
            <a:off x="635000" y="508000"/>
            <a:ext cx="10922000" cy="736600"/>
          </a:xfrm>
          <a:prstGeom prst="rect">
            <a:avLst/>
          </a:prstGeom>
          <a:noFill/>
        </p:spPr>
        <p:txBody>
          <a:bodyPr vertOverflow="overflow" vert="horz" wrap="square" rtlCol="0" anchor="t">
            <a:spAutoFit/>
          </a:bodyPr>
          <a:lstStyle/>
          <a:p>
            <a:pPr algn="l"/>
            <a:r>
              <a:rPr lang="en-US" sz="2000" b="1">
                <a:solidFill>
                  <a:srgbClr val="1A1A1A"/>
                </a:solidFill>
                <a:latin typeface="Georgia"/>
              </a:rPr>
              <a:t>Operating 30 aircraft is not just 30x harder than operating one.
It’s a different category of problem.</a:t>
            </a:r>
          </a:p>
        </p:txBody>
      </p:sp>
      <p:sp>
        <p:nvSpPr>
          <p:cNvPr id="51" name="Rectangle 50">
            <a:extLst>
              <a:ext uri="{FF2B5EF4-FFF2-40B4-BE49-F238E27FC236}">
                <a16:creationId xmlns:a16="http://schemas.microsoft.com/office/drawing/2014/main" id="{E856F344-C45B-7C48-A17E-E584300BA91F}"/>
              </a:ext>
            </a:extLst>
          </p:cNvPr>
          <p:cNvSpPr/>
          <p:nvPr/>
        </p:nvSpPr>
        <p:spPr>
          <a:xfrm>
            <a:off x="635000" y="1346200"/>
            <a:ext cx="3454400" cy="2260600"/>
          </a:xfrm>
          <a:prstGeom prst="rect">
            <a:avLst/>
          </a:prstGeom>
          <a:solidFill>
            <a:srgbClr val="1E1E1E"/>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52" name="Rectangle 51">
            <a:extLst>
              <a:ext uri="{FF2B5EF4-FFF2-40B4-BE49-F238E27FC236}">
                <a16:creationId xmlns:a16="http://schemas.microsoft.com/office/drawing/2014/main" id="{EB08DE49-D6E1-9E44-9EE2-F73933FB8A64}"/>
              </a:ext>
            </a:extLst>
          </p:cNvPr>
          <p:cNvSpPr/>
          <p:nvPr/>
        </p:nvSpPr>
        <p:spPr>
          <a:xfrm>
            <a:off x="635000" y="1346200"/>
            <a:ext cx="38100" cy="2260600"/>
          </a:xfrm>
          <a:prstGeom prst="rect">
            <a:avLst/>
          </a:prstGeom>
          <a:solidFill>
            <a:srgbClr val="C8B89A"/>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53" name="TextBox 52">
            <a:extLst>
              <a:ext uri="{FF2B5EF4-FFF2-40B4-BE49-F238E27FC236}">
                <a16:creationId xmlns:a16="http://schemas.microsoft.com/office/drawing/2014/main" id="{F7DA2949-EB6F-7942-A8BF-BB67E7E92667}"/>
              </a:ext>
            </a:extLst>
          </p:cNvPr>
          <p:cNvSpPr txBox="1"/>
          <p:nvPr/>
        </p:nvSpPr>
        <p:spPr>
          <a:xfrm>
            <a:off x="812800" y="1524000"/>
            <a:ext cx="406400" cy="304800"/>
          </a:xfrm>
          <a:prstGeom prst="rect">
            <a:avLst/>
          </a:prstGeom>
          <a:noFill/>
        </p:spPr>
        <p:txBody>
          <a:bodyPr vertOverflow="overflow" vert="horz" wrap="square" rtlCol="0" anchor="t">
            <a:spAutoFit/>
          </a:bodyPr>
          <a:lstStyle/>
          <a:p>
            <a:pPr algn="l"/>
            <a:r>
              <a:rPr lang="en-US" sz="1500" b="1">
                <a:solidFill>
                  <a:srgbClr val="C8B89A"/>
                </a:solidFill>
                <a:latin typeface="Calibri"/>
                <a:cs typeface="Calibri"/>
              </a:rPr>
              <a:t>01</a:t>
            </a:r>
          </a:p>
        </p:txBody>
      </p:sp>
      <p:sp>
        <p:nvSpPr>
          <p:cNvPr id="54" name="TextBox 53">
            <a:extLst>
              <a:ext uri="{FF2B5EF4-FFF2-40B4-BE49-F238E27FC236}">
                <a16:creationId xmlns:a16="http://schemas.microsoft.com/office/drawing/2014/main" id="{B0691DE6-1CE8-FF44-9184-A901F2BA232A}"/>
              </a:ext>
            </a:extLst>
          </p:cNvPr>
          <p:cNvSpPr txBox="1"/>
          <p:nvPr/>
        </p:nvSpPr>
        <p:spPr>
          <a:xfrm>
            <a:off x="1219200" y="1524000"/>
            <a:ext cx="2692400" cy="304800"/>
          </a:xfrm>
          <a:prstGeom prst="rect">
            <a:avLst/>
          </a:prstGeom>
          <a:noFill/>
        </p:spPr>
        <p:txBody>
          <a:bodyPr vertOverflow="overflow" vert="horz" wrap="square" rtlCol="0" anchor="t">
            <a:spAutoFit/>
          </a:bodyPr>
          <a:lstStyle/>
          <a:p>
            <a:pPr algn="l"/>
            <a:r>
              <a:rPr lang="en-US" sz="1400" b="1">
                <a:solidFill>
                  <a:srgbClr val="1A1A1A"/>
                </a:solidFill>
                <a:latin typeface="Calibri"/>
                <a:cs typeface="Calibri"/>
              </a:rPr>
              <a:t>Fleet Visibility</a:t>
            </a:r>
          </a:p>
        </p:txBody>
      </p:sp>
      <p:sp>
        <p:nvSpPr>
          <p:cNvPr id="55" name="Rectangle 54">
            <a:extLst>
              <a:ext uri="{FF2B5EF4-FFF2-40B4-BE49-F238E27FC236}">
                <a16:creationId xmlns:a16="http://schemas.microsoft.com/office/drawing/2014/main" id="{D5C1ED29-3B33-B641-A5A0-D9614053AE91}"/>
              </a:ext>
            </a:extLst>
          </p:cNvPr>
          <p:cNvSpPr/>
          <p:nvPr/>
        </p:nvSpPr>
        <p:spPr>
          <a:xfrm>
            <a:off x="812800" y="1879600"/>
            <a:ext cx="3098800" cy="12700"/>
          </a:xfrm>
          <a:prstGeom prst="rect">
            <a:avLst/>
          </a:prstGeom>
          <a:solidFill>
            <a:srgbClr val="333333"/>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56" name="TextBox 55">
            <a:extLst>
              <a:ext uri="{FF2B5EF4-FFF2-40B4-BE49-F238E27FC236}">
                <a16:creationId xmlns:a16="http://schemas.microsoft.com/office/drawing/2014/main" id="{3EB91BE9-0DFF-354D-924D-D4EC6B00F465}"/>
              </a:ext>
            </a:extLst>
          </p:cNvPr>
          <p:cNvSpPr txBox="1"/>
          <p:nvPr/>
        </p:nvSpPr>
        <p:spPr>
          <a:xfrm>
            <a:off x="812800" y="2006600"/>
            <a:ext cx="3098800" cy="1447800"/>
          </a:xfrm>
          <a:prstGeom prst="rect">
            <a:avLst/>
          </a:prstGeom>
          <a:noFill/>
        </p:spPr>
        <p:txBody>
          <a:bodyPr vertOverflow="overflow" vert="horz" wrap="square" rtlCol="0" anchor="t">
            <a:spAutoFit/>
          </a:bodyPr>
          <a:lstStyle/>
          <a:p>
            <a:pPr algn="l"/>
            <a:r>
              <a:rPr lang="en-US" sz="1400">
                <a:solidFill>
                  <a:srgbClr val="E8E0D0"/>
                </a:solidFill>
                <a:latin typeface="Calibri"/>
                <a:cs typeface="Calibri"/>
              </a:rPr>
              <a:t>Knowing which aircraft are in-flight, charging, or grounded across an entire operation in real time.</a:t>
            </a:r>
          </a:p>
        </p:txBody>
      </p:sp>
      <p:sp>
        <p:nvSpPr>
          <p:cNvPr id="57" name="Rectangle 56">
            <a:extLst>
              <a:ext uri="{FF2B5EF4-FFF2-40B4-BE49-F238E27FC236}">
                <a16:creationId xmlns:a16="http://schemas.microsoft.com/office/drawing/2014/main" id="{B4698CB2-5D0B-EC43-A042-0216CA778CE2}"/>
              </a:ext>
            </a:extLst>
          </p:cNvPr>
          <p:cNvSpPr/>
          <p:nvPr/>
        </p:nvSpPr>
        <p:spPr>
          <a:xfrm>
            <a:off x="4368800" y="1346200"/>
            <a:ext cx="3454400" cy="2260600"/>
          </a:xfrm>
          <a:prstGeom prst="rect">
            <a:avLst/>
          </a:prstGeom>
          <a:solidFill>
            <a:srgbClr val="1E1E1E"/>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58" name="Rectangle 57">
            <a:extLst>
              <a:ext uri="{FF2B5EF4-FFF2-40B4-BE49-F238E27FC236}">
                <a16:creationId xmlns:a16="http://schemas.microsoft.com/office/drawing/2014/main" id="{33BF6DC1-7C1D-3744-A653-A26E80DDBFAA}"/>
              </a:ext>
            </a:extLst>
          </p:cNvPr>
          <p:cNvSpPr/>
          <p:nvPr/>
        </p:nvSpPr>
        <p:spPr>
          <a:xfrm>
            <a:off x="4368800" y="1346200"/>
            <a:ext cx="38100" cy="2260600"/>
          </a:xfrm>
          <a:prstGeom prst="rect">
            <a:avLst/>
          </a:prstGeom>
          <a:solidFill>
            <a:srgbClr val="C8B89A"/>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59" name="TextBox 58">
            <a:extLst>
              <a:ext uri="{FF2B5EF4-FFF2-40B4-BE49-F238E27FC236}">
                <a16:creationId xmlns:a16="http://schemas.microsoft.com/office/drawing/2014/main" id="{537624F0-EAFD-B543-9105-5398B64FDE77}"/>
              </a:ext>
            </a:extLst>
          </p:cNvPr>
          <p:cNvSpPr txBox="1"/>
          <p:nvPr/>
        </p:nvSpPr>
        <p:spPr>
          <a:xfrm>
            <a:off x="4546600" y="1524000"/>
            <a:ext cx="406400" cy="304800"/>
          </a:xfrm>
          <a:prstGeom prst="rect">
            <a:avLst/>
          </a:prstGeom>
          <a:noFill/>
        </p:spPr>
        <p:txBody>
          <a:bodyPr vertOverflow="overflow" vert="horz" wrap="square" rtlCol="0" anchor="t">
            <a:spAutoFit/>
          </a:bodyPr>
          <a:lstStyle/>
          <a:p>
            <a:pPr algn="l"/>
            <a:r>
              <a:rPr lang="en-US" sz="1500" b="1">
                <a:solidFill>
                  <a:srgbClr val="C8B89A"/>
                </a:solidFill>
                <a:latin typeface="Calibri"/>
                <a:cs typeface="Calibri"/>
              </a:rPr>
              <a:t>02</a:t>
            </a:r>
          </a:p>
        </p:txBody>
      </p:sp>
      <p:sp>
        <p:nvSpPr>
          <p:cNvPr id="60" name="TextBox 59">
            <a:extLst>
              <a:ext uri="{FF2B5EF4-FFF2-40B4-BE49-F238E27FC236}">
                <a16:creationId xmlns:a16="http://schemas.microsoft.com/office/drawing/2014/main" id="{9485FDDC-2E73-DE48-90F9-1C9834A0787A}"/>
              </a:ext>
            </a:extLst>
          </p:cNvPr>
          <p:cNvSpPr txBox="1"/>
          <p:nvPr/>
        </p:nvSpPr>
        <p:spPr>
          <a:xfrm>
            <a:off x="4953000" y="1524000"/>
            <a:ext cx="2692400" cy="304800"/>
          </a:xfrm>
          <a:prstGeom prst="rect">
            <a:avLst/>
          </a:prstGeom>
          <a:noFill/>
        </p:spPr>
        <p:txBody>
          <a:bodyPr vertOverflow="overflow" vert="horz" wrap="square" rtlCol="0" anchor="t">
            <a:spAutoFit/>
          </a:bodyPr>
          <a:lstStyle/>
          <a:p>
            <a:pPr algn="l"/>
            <a:r>
              <a:rPr lang="en-US" sz="1400" b="1">
                <a:solidFill>
                  <a:srgbClr val="1A1A1A"/>
                </a:solidFill>
                <a:latin typeface="Calibri"/>
                <a:cs typeface="Calibri"/>
              </a:rPr>
              <a:t>Battery Cycle Management</a:t>
            </a:r>
          </a:p>
        </p:txBody>
      </p:sp>
      <p:sp>
        <p:nvSpPr>
          <p:cNvPr id="61" name="Rectangle 60">
            <a:extLst>
              <a:ext uri="{FF2B5EF4-FFF2-40B4-BE49-F238E27FC236}">
                <a16:creationId xmlns:a16="http://schemas.microsoft.com/office/drawing/2014/main" id="{54F7A582-E481-AD42-966E-D064D4A566C5}"/>
              </a:ext>
            </a:extLst>
          </p:cNvPr>
          <p:cNvSpPr/>
          <p:nvPr/>
        </p:nvSpPr>
        <p:spPr>
          <a:xfrm>
            <a:off x="4546600" y="1879600"/>
            <a:ext cx="3098800" cy="12700"/>
          </a:xfrm>
          <a:prstGeom prst="rect">
            <a:avLst/>
          </a:prstGeom>
          <a:solidFill>
            <a:srgbClr val="333333"/>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62" name="TextBox 61">
            <a:extLst>
              <a:ext uri="{FF2B5EF4-FFF2-40B4-BE49-F238E27FC236}">
                <a16:creationId xmlns:a16="http://schemas.microsoft.com/office/drawing/2014/main" id="{3FC8C8A5-BE94-F146-B231-FD5C260F670F}"/>
              </a:ext>
            </a:extLst>
          </p:cNvPr>
          <p:cNvSpPr txBox="1"/>
          <p:nvPr/>
        </p:nvSpPr>
        <p:spPr>
          <a:xfrm>
            <a:off x="4546600" y="2006600"/>
            <a:ext cx="3098800" cy="1447800"/>
          </a:xfrm>
          <a:prstGeom prst="rect">
            <a:avLst/>
          </a:prstGeom>
          <a:noFill/>
        </p:spPr>
        <p:txBody>
          <a:bodyPr vertOverflow="overflow" vert="horz" wrap="square" rtlCol="0" anchor="t">
            <a:spAutoFit/>
          </a:bodyPr>
          <a:lstStyle/>
          <a:p>
            <a:pPr algn="l"/>
            <a:r>
              <a:rPr lang="en-US" sz="1400">
                <a:solidFill>
                  <a:srgbClr val="E8E0D0"/>
                </a:solidFill>
                <a:latin typeface="Calibri"/>
                <a:cs typeface="Calibri"/>
              </a:rPr>
              <a:t>eVTOL-specific: tracking state of charge, cycle count, degradation. Flagging replacement before mid-mission failure.</a:t>
            </a:r>
          </a:p>
        </p:txBody>
      </p:sp>
      <p:sp>
        <p:nvSpPr>
          <p:cNvPr id="63" name="Rectangle 62">
            <a:extLst>
              <a:ext uri="{FF2B5EF4-FFF2-40B4-BE49-F238E27FC236}">
                <a16:creationId xmlns:a16="http://schemas.microsoft.com/office/drawing/2014/main" id="{BE6057BE-8604-6044-AA7F-0FCF056A9D13}"/>
              </a:ext>
            </a:extLst>
          </p:cNvPr>
          <p:cNvSpPr/>
          <p:nvPr/>
        </p:nvSpPr>
        <p:spPr>
          <a:xfrm>
            <a:off x="8102600" y="1346200"/>
            <a:ext cx="3454400" cy="2260600"/>
          </a:xfrm>
          <a:prstGeom prst="rect">
            <a:avLst/>
          </a:prstGeom>
          <a:solidFill>
            <a:srgbClr val="1E1E1E"/>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192" name="Rectangle 191">
            <a:extLst>
              <a:ext uri="{FF2B5EF4-FFF2-40B4-BE49-F238E27FC236}">
                <a16:creationId xmlns:a16="http://schemas.microsoft.com/office/drawing/2014/main" id="{B27AFF4B-6DF9-8341-BE3C-5863F8EDEA87}"/>
              </a:ext>
            </a:extLst>
          </p:cNvPr>
          <p:cNvSpPr/>
          <p:nvPr/>
        </p:nvSpPr>
        <p:spPr>
          <a:xfrm>
            <a:off x="8102600" y="1346200"/>
            <a:ext cx="38100" cy="2260600"/>
          </a:xfrm>
          <a:prstGeom prst="rect">
            <a:avLst/>
          </a:prstGeom>
          <a:solidFill>
            <a:srgbClr val="C8B89A"/>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193" name="TextBox 192">
            <a:extLst>
              <a:ext uri="{FF2B5EF4-FFF2-40B4-BE49-F238E27FC236}">
                <a16:creationId xmlns:a16="http://schemas.microsoft.com/office/drawing/2014/main" id="{0637DE3F-74D7-0D44-9975-2B81BA502B02}"/>
              </a:ext>
            </a:extLst>
          </p:cNvPr>
          <p:cNvSpPr txBox="1"/>
          <p:nvPr/>
        </p:nvSpPr>
        <p:spPr>
          <a:xfrm>
            <a:off x="8280400" y="1524000"/>
            <a:ext cx="406400" cy="304800"/>
          </a:xfrm>
          <a:prstGeom prst="rect">
            <a:avLst/>
          </a:prstGeom>
          <a:noFill/>
        </p:spPr>
        <p:txBody>
          <a:bodyPr vertOverflow="overflow" vert="horz" wrap="square" rtlCol="0" anchor="t">
            <a:spAutoFit/>
          </a:bodyPr>
          <a:lstStyle/>
          <a:p>
            <a:pPr algn="l"/>
            <a:r>
              <a:rPr lang="en-US" sz="1500" b="1">
                <a:solidFill>
                  <a:srgbClr val="C8B89A"/>
                </a:solidFill>
                <a:latin typeface="Calibri"/>
                <a:cs typeface="Calibri"/>
              </a:rPr>
              <a:t>03</a:t>
            </a:r>
          </a:p>
        </p:txBody>
      </p:sp>
      <p:sp>
        <p:nvSpPr>
          <p:cNvPr id="194" name="TextBox 193">
            <a:extLst>
              <a:ext uri="{FF2B5EF4-FFF2-40B4-BE49-F238E27FC236}">
                <a16:creationId xmlns:a16="http://schemas.microsoft.com/office/drawing/2014/main" id="{F147EF61-F190-8642-B7D6-7B3874D09BB7}"/>
              </a:ext>
            </a:extLst>
          </p:cNvPr>
          <p:cNvSpPr txBox="1"/>
          <p:nvPr/>
        </p:nvSpPr>
        <p:spPr>
          <a:xfrm>
            <a:off x="8686800" y="1524000"/>
            <a:ext cx="2692400" cy="304800"/>
          </a:xfrm>
          <a:prstGeom prst="rect">
            <a:avLst/>
          </a:prstGeom>
          <a:noFill/>
        </p:spPr>
        <p:txBody>
          <a:bodyPr vertOverflow="overflow" vert="horz" wrap="square" rtlCol="0" anchor="t">
            <a:spAutoFit/>
          </a:bodyPr>
          <a:lstStyle/>
          <a:p>
            <a:pPr algn="l"/>
            <a:r>
              <a:rPr lang="en-US" sz="1400" b="1">
                <a:solidFill>
                  <a:srgbClr val="1A1A1A"/>
                </a:solidFill>
                <a:latin typeface="Calibri"/>
                <a:cs typeface="Calibri"/>
              </a:rPr>
              <a:t>Maintenance Tracking</a:t>
            </a:r>
          </a:p>
        </p:txBody>
      </p:sp>
      <p:sp>
        <p:nvSpPr>
          <p:cNvPr id="195" name="Rectangle 194">
            <a:extLst>
              <a:ext uri="{FF2B5EF4-FFF2-40B4-BE49-F238E27FC236}">
                <a16:creationId xmlns:a16="http://schemas.microsoft.com/office/drawing/2014/main" id="{6C9B475E-709B-3644-8257-8DF06007112D}"/>
              </a:ext>
            </a:extLst>
          </p:cNvPr>
          <p:cNvSpPr/>
          <p:nvPr/>
        </p:nvSpPr>
        <p:spPr>
          <a:xfrm>
            <a:off x="8280400" y="1879600"/>
            <a:ext cx="3098800" cy="12700"/>
          </a:xfrm>
          <a:prstGeom prst="rect">
            <a:avLst/>
          </a:prstGeom>
          <a:solidFill>
            <a:srgbClr val="333333"/>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196" name="TextBox 195">
            <a:extLst>
              <a:ext uri="{FF2B5EF4-FFF2-40B4-BE49-F238E27FC236}">
                <a16:creationId xmlns:a16="http://schemas.microsoft.com/office/drawing/2014/main" id="{0A6E3C8D-E4C6-8F43-8AA6-C3B7534AC634}"/>
              </a:ext>
            </a:extLst>
          </p:cNvPr>
          <p:cNvSpPr txBox="1"/>
          <p:nvPr/>
        </p:nvSpPr>
        <p:spPr>
          <a:xfrm>
            <a:off x="8280400" y="2006600"/>
            <a:ext cx="3098800" cy="1447800"/>
          </a:xfrm>
          <a:prstGeom prst="rect">
            <a:avLst/>
          </a:prstGeom>
          <a:noFill/>
        </p:spPr>
        <p:txBody>
          <a:bodyPr vertOverflow="overflow" vert="horz" wrap="square" rtlCol="0" anchor="t">
            <a:spAutoFit/>
          </a:bodyPr>
          <a:lstStyle/>
          <a:p>
            <a:pPr algn="l"/>
            <a:r>
              <a:rPr lang="en-US" sz="1400">
                <a:solidFill>
                  <a:srgbClr val="E8E0D0"/>
                </a:solidFill>
                <a:latin typeface="Calibri"/>
                <a:cs typeface="Calibri"/>
              </a:rPr>
              <a:t>Flight-hour-based scheduling, incident logging, parts inventory, FAA-compliant records.</a:t>
            </a:r>
          </a:p>
        </p:txBody>
      </p:sp>
      <p:sp>
        <p:nvSpPr>
          <p:cNvPr id="197" name="Rectangle 196">
            <a:extLst>
              <a:ext uri="{FF2B5EF4-FFF2-40B4-BE49-F238E27FC236}">
                <a16:creationId xmlns:a16="http://schemas.microsoft.com/office/drawing/2014/main" id="{6752D6D5-B3D5-4645-B0AE-6B700D878CB1}"/>
              </a:ext>
            </a:extLst>
          </p:cNvPr>
          <p:cNvSpPr/>
          <p:nvPr/>
        </p:nvSpPr>
        <p:spPr>
          <a:xfrm>
            <a:off x="635000" y="3733800"/>
            <a:ext cx="3454400" cy="2260600"/>
          </a:xfrm>
          <a:prstGeom prst="rect">
            <a:avLst/>
          </a:prstGeom>
          <a:solidFill>
            <a:srgbClr val="1E1E1E"/>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198" name="Rectangle 197">
            <a:extLst>
              <a:ext uri="{FF2B5EF4-FFF2-40B4-BE49-F238E27FC236}">
                <a16:creationId xmlns:a16="http://schemas.microsoft.com/office/drawing/2014/main" id="{001A4D83-E111-0A45-8119-4D9644540F92}"/>
              </a:ext>
            </a:extLst>
          </p:cNvPr>
          <p:cNvSpPr/>
          <p:nvPr/>
        </p:nvSpPr>
        <p:spPr>
          <a:xfrm>
            <a:off x="635000" y="3733800"/>
            <a:ext cx="38100" cy="2260600"/>
          </a:xfrm>
          <a:prstGeom prst="rect">
            <a:avLst/>
          </a:prstGeom>
          <a:solidFill>
            <a:srgbClr val="C8B89A"/>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199" name="TextBox 198">
            <a:extLst>
              <a:ext uri="{FF2B5EF4-FFF2-40B4-BE49-F238E27FC236}">
                <a16:creationId xmlns:a16="http://schemas.microsoft.com/office/drawing/2014/main" id="{84C394F3-77D0-C844-A3A1-8D571E105AFB}"/>
              </a:ext>
            </a:extLst>
          </p:cNvPr>
          <p:cNvSpPr txBox="1"/>
          <p:nvPr/>
        </p:nvSpPr>
        <p:spPr>
          <a:xfrm>
            <a:off x="812800" y="3911600"/>
            <a:ext cx="406400" cy="304800"/>
          </a:xfrm>
          <a:prstGeom prst="rect">
            <a:avLst/>
          </a:prstGeom>
          <a:noFill/>
        </p:spPr>
        <p:txBody>
          <a:bodyPr vertOverflow="overflow" vert="horz" wrap="square" rtlCol="0" anchor="t">
            <a:spAutoFit/>
          </a:bodyPr>
          <a:lstStyle/>
          <a:p>
            <a:pPr algn="l"/>
            <a:r>
              <a:rPr lang="en-US" sz="1500" b="1">
                <a:solidFill>
                  <a:srgbClr val="C8B89A"/>
                </a:solidFill>
                <a:latin typeface="Calibri"/>
                <a:cs typeface="Calibri"/>
              </a:rPr>
              <a:t>04</a:t>
            </a:r>
          </a:p>
        </p:txBody>
      </p:sp>
      <p:sp>
        <p:nvSpPr>
          <p:cNvPr id="200" name="TextBox 199">
            <a:extLst>
              <a:ext uri="{FF2B5EF4-FFF2-40B4-BE49-F238E27FC236}">
                <a16:creationId xmlns:a16="http://schemas.microsoft.com/office/drawing/2014/main" id="{1F48989A-B39F-044D-AB5D-53B527AD56CE}"/>
              </a:ext>
            </a:extLst>
          </p:cNvPr>
          <p:cNvSpPr txBox="1"/>
          <p:nvPr/>
        </p:nvSpPr>
        <p:spPr>
          <a:xfrm>
            <a:off x="1219200" y="3911600"/>
            <a:ext cx="2692400" cy="304800"/>
          </a:xfrm>
          <a:prstGeom prst="rect">
            <a:avLst/>
          </a:prstGeom>
          <a:noFill/>
        </p:spPr>
        <p:txBody>
          <a:bodyPr vertOverflow="overflow" vert="horz" wrap="square" rtlCol="0" anchor="t">
            <a:spAutoFit/>
          </a:bodyPr>
          <a:lstStyle/>
          <a:p>
            <a:pPr algn="l"/>
            <a:r>
              <a:rPr lang="en-US" sz="1400" b="1">
                <a:solidFill>
                  <a:srgbClr val="1A1A1A"/>
                </a:solidFill>
                <a:latin typeface="Calibri"/>
                <a:cs typeface="Calibri"/>
              </a:rPr>
              <a:t>Regulatory Compliance</a:t>
            </a:r>
          </a:p>
        </p:txBody>
      </p:sp>
      <p:sp>
        <p:nvSpPr>
          <p:cNvPr id="202" name="Rectangle 201">
            <a:extLst>
              <a:ext uri="{FF2B5EF4-FFF2-40B4-BE49-F238E27FC236}">
                <a16:creationId xmlns:a16="http://schemas.microsoft.com/office/drawing/2014/main" id="{07010A96-5D4B-A14C-B7BC-A83324FCC9A5}"/>
              </a:ext>
            </a:extLst>
          </p:cNvPr>
          <p:cNvSpPr/>
          <p:nvPr/>
        </p:nvSpPr>
        <p:spPr>
          <a:xfrm>
            <a:off x="812800" y="4267200"/>
            <a:ext cx="3098800" cy="12700"/>
          </a:xfrm>
          <a:prstGeom prst="rect">
            <a:avLst/>
          </a:prstGeom>
          <a:solidFill>
            <a:srgbClr val="333333"/>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203" name="TextBox 202">
            <a:extLst>
              <a:ext uri="{FF2B5EF4-FFF2-40B4-BE49-F238E27FC236}">
                <a16:creationId xmlns:a16="http://schemas.microsoft.com/office/drawing/2014/main" id="{41C5588E-06A2-9F4F-9118-FFD50A2A40A3}"/>
              </a:ext>
            </a:extLst>
          </p:cNvPr>
          <p:cNvSpPr txBox="1"/>
          <p:nvPr/>
        </p:nvSpPr>
        <p:spPr>
          <a:xfrm>
            <a:off x="812800" y="4394200"/>
            <a:ext cx="3098800" cy="1447800"/>
          </a:xfrm>
          <a:prstGeom prst="rect">
            <a:avLst/>
          </a:prstGeom>
          <a:noFill/>
        </p:spPr>
        <p:txBody>
          <a:bodyPr vertOverflow="overflow" vert="horz" wrap="square" rtlCol="0" anchor="t">
            <a:spAutoFit/>
          </a:bodyPr>
          <a:lstStyle/>
          <a:p>
            <a:pPr algn="l"/>
            <a:r>
              <a:rPr lang="en-US" sz="1400">
                <a:solidFill>
                  <a:srgbClr val="E8E0D0"/>
                </a:solidFill>
                <a:latin typeface="Calibri"/>
                <a:cs typeface="Calibri"/>
              </a:rPr>
              <a:t>Part 135 reporting, LAANC airspace authorization (currently 5–10 min manual), pilot certification tracking.</a:t>
            </a:r>
          </a:p>
        </p:txBody>
      </p:sp>
      <p:sp>
        <p:nvSpPr>
          <p:cNvPr id="204" name="Rectangle 203">
            <a:extLst>
              <a:ext uri="{FF2B5EF4-FFF2-40B4-BE49-F238E27FC236}">
                <a16:creationId xmlns:a16="http://schemas.microsoft.com/office/drawing/2014/main" id="{AE2F03EF-CFB7-D94D-8ED7-E6989360B1A0}"/>
              </a:ext>
            </a:extLst>
          </p:cNvPr>
          <p:cNvSpPr/>
          <p:nvPr/>
        </p:nvSpPr>
        <p:spPr>
          <a:xfrm>
            <a:off x="4368800" y="3733800"/>
            <a:ext cx="3454400" cy="2260600"/>
          </a:xfrm>
          <a:prstGeom prst="rect">
            <a:avLst/>
          </a:prstGeom>
          <a:solidFill>
            <a:srgbClr val="1E1E1E"/>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205" name="Rectangle 204">
            <a:extLst>
              <a:ext uri="{FF2B5EF4-FFF2-40B4-BE49-F238E27FC236}">
                <a16:creationId xmlns:a16="http://schemas.microsoft.com/office/drawing/2014/main" id="{8D11FAE6-967A-AA48-9AFE-F155B23C07DE}"/>
              </a:ext>
            </a:extLst>
          </p:cNvPr>
          <p:cNvSpPr/>
          <p:nvPr/>
        </p:nvSpPr>
        <p:spPr>
          <a:xfrm>
            <a:off x="4368800" y="3733800"/>
            <a:ext cx="38100" cy="2260600"/>
          </a:xfrm>
          <a:prstGeom prst="rect">
            <a:avLst/>
          </a:prstGeom>
          <a:solidFill>
            <a:srgbClr val="C8B89A"/>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206" name="TextBox 205">
            <a:extLst>
              <a:ext uri="{FF2B5EF4-FFF2-40B4-BE49-F238E27FC236}">
                <a16:creationId xmlns:a16="http://schemas.microsoft.com/office/drawing/2014/main" id="{C4E9E2E3-EEBA-9842-89EF-3B6A2D7A41D5}"/>
              </a:ext>
            </a:extLst>
          </p:cNvPr>
          <p:cNvSpPr txBox="1"/>
          <p:nvPr/>
        </p:nvSpPr>
        <p:spPr>
          <a:xfrm>
            <a:off x="4546600" y="3911600"/>
            <a:ext cx="406400" cy="304800"/>
          </a:xfrm>
          <a:prstGeom prst="rect">
            <a:avLst/>
          </a:prstGeom>
          <a:noFill/>
        </p:spPr>
        <p:txBody>
          <a:bodyPr vertOverflow="overflow" vert="horz" wrap="square" rtlCol="0" anchor="t">
            <a:spAutoFit/>
          </a:bodyPr>
          <a:lstStyle/>
          <a:p>
            <a:pPr algn="l"/>
            <a:r>
              <a:rPr lang="en-US" sz="1500" b="1">
                <a:solidFill>
                  <a:srgbClr val="C8B89A"/>
                </a:solidFill>
                <a:latin typeface="Calibri"/>
                <a:cs typeface="Calibri"/>
              </a:rPr>
              <a:t>05</a:t>
            </a:r>
          </a:p>
        </p:txBody>
      </p:sp>
      <p:sp>
        <p:nvSpPr>
          <p:cNvPr id="207" name="TextBox 206">
            <a:extLst>
              <a:ext uri="{FF2B5EF4-FFF2-40B4-BE49-F238E27FC236}">
                <a16:creationId xmlns:a16="http://schemas.microsoft.com/office/drawing/2014/main" id="{550E5363-D5D2-7745-82FE-BF1BA221A346}"/>
              </a:ext>
            </a:extLst>
          </p:cNvPr>
          <p:cNvSpPr txBox="1"/>
          <p:nvPr/>
        </p:nvSpPr>
        <p:spPr>
          <a:xfrm>
            <a:off x="4953000" y="3911600"/>
            <a:ext cx="2692400" cy="304800"/>
          </a:xfrm>
          <a:prstGeom prst="rect">
            <a:avLst/>
          </a:prstGeom>
          <a:noFill/>
        </p:spPr>
        <p:txBody>
          <a:bodyPr vertOverflow="overflow" vert="horz" wrap="square" rtlCol="0" anchor="t">
            <a:spAutoFit/>
          </a:bodyPr>
          <a:lstStyle/>
          <a:p>
            <a:pPr algn="l"/>
            <a:r>
              <a:rPr lang="en-US" sz="1400" b="1">
                <a:solidFill>
                  <a:srgbClr val="1A1A1A"/>
                </a:solidFill>
                <a:latin typeface="Calibri"/>
                <a:cs typeface="Calibri"/>
              </a:rPr>
              <a:t>Mission Dispatch</a:t>
            </a:r>
          </a:p>
        </p:txBody>
      </p:sp>
      <p:sp>
        <p:nvSpPr>
          <p:cNvPr id="208" name="Rectangle 207">
            <a:extLst>
              <a:ext uri="{FF2B5EF4-FFF2-40B4-BE49-F238E27FC236}">
                <a16:creationId xmlns:a16="http://schemas.microsoft.com/office/drawing/2014/main" id="{A85ECC36-003C-C14C-A835-54AD24AD8E05}"/>
              </a:ext>
            </a:extLst>
          </p:cNvPr>
          <p:cNvSpPr/>
          <p:nvPr/>
        </p:nvSpPr>
        <p:spPr>
          <a:xfrm>
            <a:off x="4546600" y="4267200"/>
            <a:ext cx="3098800" cy="12700"/>
          </a:xfrm>
          <a:prstGeom prst="rect">
            <a:avLst/>
          </a:prstGeom>
          <a:solidFill>
            <a:srgbClr val="333333"/>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209" name="TextBox 208">
            <a:extLst>
              <a:ext uri="{FF2B5EF4-FFF2-40B4-BE49-F238E27FC236}">
                <a16:creationId xmlns:a16="http://schemas.microsoft.com/office/drawing/2014/main" id="{3D73F97A-3865-654B-975E-765CAFF7A233}"/>
              </a:ext>
            </a:extLst>
          </p:cNvPr>
          <p:cNvSpPr txBox="1"/>
          <p:nvPr/>
        </p:nvSpPr>
        <p:spPr>
          <a:xfrm>
            <a:off x="4546600" y="4394200"/>
            <a:ext cx="3098800" cy="1447800"/>
          </a:xfrm>
          <a:prstGeom prst="rect">
            <a:avLst/>
          </a:prstGeom>
          <a:noFill/>
        </p:spPr>
        <p:txBody>
          <a:bodyPr vertOverflow="overflow" vert="horz" wrap="square" rtlCol="0" anchor="t">
            <a:spAutoFit/>
          </a:bodyPr>
          <a:lstStyle/>
          <a:p>
            <a:pPr algn="l"/>
            <a:r>
              <a:rPr lang="en-US" sz="1400">
                <a:solidFill>
                  <a:srgbClr val="E8E0D0"/>
                </a:solidFill>
                <a:latin typeface="Calibri"/>
                <a:cs typeface="Calibri"/>
              </a:rPr>
              <a:t>Assign aircraft by battery level, location, airspace. Deconflict multiple aircraft in shared airspace.</a:t>
            </a:r>
          </a:p>
        </p:txBody>
      </p:sp>
      <p:sp>
        <p:nvSpPr>
          <p:cNvPr id="210" name="Rectangle 209">
            <a:extLst>
              <a:ext uri="{FF2B5EF4-FFF2-40B4-BE49-F238E27FC236}">
                <a16:creationId xmlns:a16="http://schemas.microsoft.com/office/drawing/2014/main" id="{FD3B995B-7976-6045-B368-D862E896AB4E}"/>
              </a:ext>
            </a:extLst>
          </p:cNvPr>
          <p:cNvSpPr/>
          <p:nvPr/>
        </p:nvSpPr>
        <p:spPr>
          <a:xfrm>
            <a:off x="8102600" y="3733800"/>
            <a:ext cx="3454400" cy="2260600"/>
          </a:xfrm>
          <a:prstGeom prst="rect">
            <a:avLst/>
          </a:prstGeom>
          <a:solidFill>
            <a:srgbClr val="1E1E1E"/>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212" name="Rectangle 211">
            <a:extLst>
              <a:ext uri="{FF2B5EF4-FFF2-40B4-BE49-F238E27FC236}">
                <a16:creationId xmlns:a16="http://schemas.microsoft.com/office/drawing/2014/main" id="{82F00266-F55E-F74F-A6BD-294B1D5EE015}"/>
              </a:ext>
            </a:extLst>
          </p:cNvPr>
          <p:cNvSpPr/>
          <p:nvPr/>
        </p:nvSpPr>
        <p:spPr>
          <a:xfrm>
            <a:off x="8102600" y="3733800"/>
            <a:ext cx="38100" cy="2260600"/>
          </a:xfrm>
          <a:prstGeom prst="rect">
            <a:avLst/>
          </a:prstGeom>
          <a:solidFill>
            <a:srgbClr val="C8B89A"/>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213" name="TextBox 212">
            <a:extLst>
              <a:ext uri="{FF2B5EF4-FFF2-40B4-BE49-F238E27FC236}">
                <a16:creationId xmlns:a16="http://schemas.microsoft.com/office/drawing/2014/main" id="{756A9140-8BCA-5A45-B530-B86D8888906C}"/>
              </a:ext>
            </a:extLst>
          </p:cNvPr>
          <p:cNvSpPr txBox="1"/>
          <p:nvPr/>
        </p:nvSpPr>
        <p:spPr>
          <a:xfrm>
            <a:off x="8280400" y="3911600"/>
            <a:ext cx="406400" cy="304800"/>
          </a:xfrm>
          <a:prstGeom prst="rect">
            <a:avLst/>
          </a:prstGeom>
          <a:noFill/>
        </p:spPr>
        <p:txBody>
          <a:bodyPr vertOverflow="overflow" vert="horz" wrap="square" rtlCol="0" anchor="t">
            <a:spAutoFit/>
          </a:bodyPr>
          <a:lstStyle/>
          <a:p>
            <a:pPr algn="l"/>
            <a:r>
              <a:rPr lang="en-US" sz="1500" b="1">
                <a:solidFill>
                  <a:srgbClr val="C8B89A"/>
                </a:solidFill>
                <a:latin typeface="Calibri"/>
                <a:cs typeface="Calibri"/>
              </a:rPr>
              <a:t>06</a:t>
            </a:r>
          </a:p>
        </p:txBody>
      </p:sp>
      <p:sp>
        <p:nvSpPr>
          <p:cNvPr id="214" name="TextBox 213">
            <a:extLst>
              <a:ext uri="{FF2B5EF4-FFF2-40B4-BE49-F238E27FC236}">
                <a16:creationId xmlns:a16="http://schemas.microsoft.com/office/drawing/2014/main" id="{F1079D35-A684-B24F-B35F-52F4C5F31098}"/>
              </a:ext>
            </a:extLst>
          </p:cNvPr>
          <p:cNvSpPr txBox="1"/>
          <p:nvPr/>
        </p:nvSpPr>
        <p:spPr>
          <a:xfrm>
            <a:off x="8686800" y="3911600"/>
            <a:ext cx="2692400" cy="304800"/>
          </a:xfrm>
          <a:prstGeom prst="rect">
            <a:avLst/>
          </a:prstGeom>
          <a:noFill/>
        </p:spPr>
        <p:txBody>
          <a:bodyPr vertOverflow="overflow" vert="horz" wrap="square" rtlCol="0" anchor="t">
            <a:spAutoFit/>
          </a:bodyPr>
          <a:lstStyle/>
          <a:p>
            <a:pPr algn="l"/>
            <a:r>
              <a:rPr lang="en-US" sz="1400" b="1">
                <a:solidFill>
                  <a:srgbClr val="1A1A1A"/>
                </a:solidFill>
                <a:latin typeface="Calibri"/>
                <a:cs typeface="Calibri"/>
              </a:rPr>
              <a:t>Utilization Analytics</a:t>
            </a:r>
          </a:p>
        </p:txBody>
      </p:sp>
      <p:sp>
        <p:nvSpPr>
          <p:cNvPr id="215" name="Rectangle 214">
            <a:extLst>
              <a:ext uri="{FF2B5EF4-FFF2-40B4-BE49-F238E27FC236}">
                <a16:creationId xmlns:a16="http://schemas.microsoft.com/office/drawing/2014/main" id="{53AE2580-ADB7-F540-A259-6E2AB565953D}"/>
              </a:ext>
            </a:extLst>
          </p:cNvPr>
          <p:cNvSpPr/>
          <p:nvPr/>
        </p:nvSpPr>
        <p:spPr>
          <a:xfrm>
            <a:off x="8280400" y="4267200"/>
            <a:ext cx="3098800" cy="12700"/>
          </a:xfrm>
          <a:prstGeom prst="rect">
            <a:avLst/>
          </a:prstGeom>
          <a:solidFill>
            <a:srgbClr val="333333"/>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216" name="TextBox 215">
            <a:extLst>
              <a:ext uri="{FF2B5EF4-FFF2-40B4-BE49-F238E27FC236}">
                <a16:creationId xmlns:a16="http://schemas.microsoft.com/office/drawing/2014/main" id="{BCC9CF99-049D-7D43-AA1B-510B5C26910D}"/>
              </a:ext>
            </a:extLst>
          </p:cNvPr>
          <p:cNvSpPr txBox="1"/>
          <p:nvPr/>
        </p:nvSpPr>
        <p:spPr>
          <a:xfrm>
            <a:off x="8280400" y="4394200"/>
            <a:ext cx="3098800" cy="1447800"/>
          </a:xfrm>
          <a:prstGeom prst="rect">
            <a:avLst/>
          </a:prstGeom>
          <a:noFill/>
        </p:spPr>
        <p:txBody>
          <a:bodyPr vertOverflow="overflow" vert="horz" wrap="square" rtlCol="0" anchor="t">
            <a:spAutoFit/>
          </a:bodyPr>
          <a:lstStyle/>
          <a:p>
            <a:pPr algn="l"/>
            <a:r>
              <a:rPr lang="en-US" sz="1400">
                <a:solidFill>
                  <a:srgbClr val="E8E0D0"/>
                </a:solidFill>
                <a:latin typeface="Calibri"/>
                <a:cs typeface="Calibri"/>
              </a:rPr>
              <a:t>Cost per flight hour, downtime, revenue per aircraft. Currently calculated manually if at all.</a:t>
            </a:r>
          </a:p>
        </p:txBody>
      </p:sp>
      <p:sp>
        <p:nvSpPr>
          <p:cNvPr id="217" name="Rectangle 216">
            <a:extLst>
              <a:ext uri="{FF2B5EF4-FFF2-40B4-BE49-F238E27FC236}">
                <a16:creationId xmlns:a16="http://schemas.microsoft.com/office/drawing/2014/main" id="{B24ABE70-3093-534B-BB84-FEC3D4C1E539}"/>
              </a:ext>
            </a:extLst>
          </p:cNvPr>
          <p:cNvSpPr/>
          <p:nvPr/>
        </p:nvSpPr>
        <p:spPr>
          <a:xfrm>
            <a:off x="635000" y="6146800"/>
            <a:ext cx="10922000" cy="12700"/>
          </a:xfrm>
          <a:prstGeom prst="rect">
            <a:avLst/>
          </a:prstGeom>
          <a:solidFill>
            <a:srgbClr val="333333"/>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218" name="TextBox 217">
            <a:extLst>
              <a:ext uri="{FF2B5EF4-FFF2-40B4-BE49-F238E27FC236}">
                <a16:creationId xmlns:a16="http://schemas.microsoft.com/office/drawing/2014/main" id="{9D1D66EE-4869-3E43-83B3-103605A35B30}"/>
              </a:ext>
            </a:extLst>
          </p:cNvPr>
          <p:cNvSpPr txBox="1"/>
          <p:nvPr/>
        </p:nvSpPr>
        <p:spPr>
          <a:xfrm>
            <a:off x="635000" y="6197600"/>
            <a:ext cx="10922000" cy="177800"/>
          </a:xfrm>
          <a:prstGeom prst="rect">
            <a:avLst/>
          </a:prstGeom>
          <a:noFill/>
        </p:spPr>
        <p:txBody>
          <a:bodyPr vertOverflow="overflow" vert="horz" wrap="square" rtlCol="0" anchor="t">
            <a:spAutoFit/>
          </a:bodyPr>
          <a:lstStyle/>
          <a:p>
            <a:pPr algn="l"/>
            <a:r>
              <a:rPr lang="en-US" sz="1300">
                <a:solidFill>
                  <a:srgbClr val="555555"/>
                </a:solidFill>
                <a:latin typeface="Calibri"/>
                <a:cs typeface="Calibri"/>
              </a:rPr>
              <a:t>eVTOL Research Brief · UIUC 2026          CONFIDENTIAL · FOR DISCUSSION PURPOSES ONLY          03 / 09</a:t>
            </a:r>
          </a:p>
        </p:txBody>
      </p:sp>
    </p:spTree>
    <p:extLst>
      <p:ext uri="{BB962C8B-B14F-4D97-AF65-F5344CB8AC3E}">
        <p14:creationId xmlns:p14="http://schemas.microsoft.com/office/powerpoint/2010/main" val="130583743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E8DFC8">
            <a:alpha val="100000"/>
          </a:srgbClr>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171D11C2-E573-B54A-B8C5-205214861BF5}"/>
              </a:ext>
            </a:extLst>
          </p:cNvPr>
          <p:cNvSpPr txBox="1"/>
          <p:nvPr/>
        </p:nvSpPr>
        <p:spPr>
          <a:xfrm>
            <a:off x="635000" y="355600"/>
            <a:ext cx="3810000" cy="203200"/>
          </a:xfrm>
          <a:prstGeom prst="rect">
            <a:avLst/>
          </a:prstGeom>
          <a:noFill/>
        </p:spPr>
        <p:txBody>
          <a:bodyPr vertOverflow="overflow" vert="horz" wrap="square" rtlCol="0" anchor="t">
            <a:spAutoFit/>
          </a:bodyPr>
          <a:lstStyle/>
          <a:p>
            <a:pPr algn="l"/>
            <a:r>
              <a:rPr lang="en-US" sz="1300">
                <a:solidFill>
                  <a:srgbClr val="555555"/>
                </a:solidFill>
                <a:latin typeface="Calibri"/>
                <a:cs typeface="Calibri"/>
              </a:rPr>
              <a:t>WHY NOW</a:t>
            </a:r>
          </a:p>
        </p:txBody>
      </p:sp>
      <p:sp>
        <p:nvSpPr>
          <p:cNvPr id="3" name="TextBox 2">
            <a:extLst>
              <a:ext uri="{FF2B5EF4-FFF2-40B4-BE49-F238E27FC236}">
                <a16:creationId xmlns:a16="http://schemas.microsoft.com/office/drawing/2014/main" id="{58739AF5-213B-B446-B7F8-B9B8434467DA}"/>
              </a:ext>
            </a:extLst>
          </p:cNvPr>
          <p:cNvSpPr txBox="1"/>
          <p:nvPr/>
        </p:nvSpPr>
        <p:spPr>
          <a:xfrm>
            <a:off x="635000" y="609600"/>
            <a:ext cx="10922000" cy="825500"/>
          </a:xfrm>
          <a:prstGeom prst="rect">
            <a:avLst/>
          </a:prstGeom>
          <a:noFill/>
        </p:spPr>
        <p:txBody>
          <a:bodyPr vertOverflow="overflow" vert="horz" wrap="square" rtlCol="0" anchor="t">
            <a:spAutoFit/>
          </a:bodyPr>
          <a:lstStyle/>
          <a:p>
            <a:pPr algn="l"/>
            <a:r>
              <a:rPr lang="en-US" sz="2200" b="1">
                <a:solidFill>
                  <a:srgbClr val="1A1A1A"/>
                </a:solidFill>
                <a:latin typeface="Georgia"/>
              </a:rPr>
              <a:t>The window to build this right is before
commercial operations begin — not during.</a:t>
            </a:r>
          </a:p>
        </p:txBody>
      </p:sp>
      <p:sp>
        <p:nvSpPr>
          <p:cNvPr id="4" name="Rectangle 3">
            <a:extLst>
              <a:ext uri="{FF2B5EF4-FFF2-40B4-BE49-F238E27FC236}">
                <a16:creationId xmlns:a16="http://schemas.microsoft.com/office/drawing/2014/main" id="{54B4BEFB-913B-9C46-8739-217A6049014B}"/>
              </a:ext>
            </a:extLst>
          </p:cNvPr>
          <p:cNvSpPr/>
          <p:nvPr/>
        </p:nvSpPr>
        <p:spPr>
          <a:xfrm>
            <a:off x="1016000" y="1574800"/>
            <a:ext cx="25400" cy="3556000"/>
          </a:xfrm>
          <a:prstGeom prst="rect">
            <a:avLst/>
          </a:prstGeom>
          <a:solidFill>
            <a:srgbClr val="333333"/>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5" name="Oval 4">
            <a:extLst>
              <a:ext uri="{FF2B5EF4-FFF2-40B4-BE49-F238E27FC236}">
                <a16:creationId xmlns:a16="http://schemas.microsoft.com/office/drawing/2014/main" id="{0CB6B108-9472-774C-A5DB-11546D44616A}"/>
              </a:ext>
            </a:extLst>
          </p:cNvPr>
          <p:cNvSpPr/>
          <p:nvPr/>
        </p:nvSpPr>
        <p:spPr>
          <a:xfrm>
            <a:off x="952500" y="1625600"/>
            <a:ext cx="152400" cy="152400"/>
          </a:xfrm>
          <a:prstGeom prst="ellipse">
            <a:avLst/>
          </a:prstGeom>
          <a:solidFill>
            <a:srgbClr val="444444"/>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6" name="TextBox 5">
            <a:extLst>
              <a:ext uri="{FF2B5EF4-FFF2-40B4-BE49-F238E27FC236}">
                <a16:creationId xmlns:a16="http://schemas.microsoft.com/office/drawing/2014/main" id="{F3CFF25E-D6B0-3041-8EA9-EC13EC9360D2}"/>
              </a:ext>
            </a:extLst>
          </p:cNvPr>
          <p:cNvSpPr txBox="1"/>
          <p:nvPr/>
        </p:nvSpPr>
        <p:spPr>
          <a:xfrm>
            <a:off x="1244600" y="1574800"/>
            <a:ext cx="2032000" cy="228600"/>
          </a:xfrm>
          <a:prstGeom prst="rect">
            <a:avLst/>
          </a:prstGeom>
          <a:noFill/>
        </p:spPr>
        <p:txBody>
          <a:bodyPr vertOverflow="overflow" vert="horz" wrap="square" rtlCol="0" anchor="t">
            <a:spAutoFit/>
          </a:bodyPr>
          <a:lstStyle/>
          <a:p>
            <a:pPr algn="l"/>
            <a:r>
              <a:rPr lang="en-US" sz="1300" b="1">
                <a:solidFill>
                  <a:srgbClr val="C8B89A"/>
                </a:solidFill>
                <a:latin typeface="Calibri"/>
                <a:cs typeface="Calibri"/>
              </a:rPr>
              <a:t>NOW–2025</a:t>
            </a:r>
          </a:p>
        </p:txBody>
      </p:sp>
      <p:sp>
        <p:nvSpPr>
          <p:cNvPr id="7" name="TextBox 6">
            <a:extLst>
              <a:ext uri="{FF2B5EF4-FFF2-40B4-BE49-F238E27FC236}">
                <a16:creationId xmlns:a16="http://schemas.microsoft.com/office/drawing/2014/main" id="{24BAB21D-3060-9B4B-B3B3-466D1F6899EA}"/>
              </a:ext>
            </a:extLst>
          </p:cNvPr>
          <p:cNvSpPr txBox="1"/>
          <p:nvPr/>
        </p:nvSpPr>
        <p:spPr>
          <a:xfrm>
            <a:off x="1244600" y="1803400"/>
            <a:ext cx="5588000" cy="558800"/>
          </a:xfrm>
          <a:prstGeom prst="rect">
            <a:avLst/>
          </a:prstGeom>
          <a:noFill/>
        </p:spPr>
        <p:txBody>
          <a:bodyPr vertOverflow="overflow" vert="horz" wrap="square" rtlCol="0" anchor="t">
            <a:spAutoFit/>
          </a:bodyPr>
          <a:lstStyle/>
          <a:p>
            <a:pPr algn="l"/>
            <a:r>
              <a:rPr lang="en-US" sz="1400">
                <a:solidFill>
                  <a:srgbClr val="1A1A1A"/>
                </a:solidFill>
                <a:latin typeface="Calibri"/>
                <a:cs typeface="Calibri"/>
              </a:rPr>
              <a:t>Pre-commercial. Fleets small, manual ops work. But infrastructure decisions are being made right now.</a:t>
            </a:r>
          </a:p>
        </p:txBody>
      </p:sp>
      <p:sp>
        <p:nvSpPr>
          <p:cNvPr id="8" name="Oval 7">
            <a:extLst>
              <a:ext uri="{FF2B5EF4-FFF2-40B4-BE49-F238E27FC236}">
                <a16:creationId xmlns:a16="http://schemas.microsoft.com/office/drawing/2014/main" id="{8A471029-24DC-474D-A8B5-FAA0498A00CA}"/>
              </a:ext>
            </a:extLst>
          </p:cNvPr>
          <p:cNvSpPr/>
          <p:nvPr/>
        </p:nvSpPr>
        <p:spPr>
          <a:xfrm>
            <a:off x="952500" y="2489200"/>
            <a:ext cx="152400" cy="152400"/>
          </a:xfrm>
          <a:prstGeom prst="ellipse">
            <a:avLst/>
          </a:prstGeom>
          <a:solidFill>
            <a:srgbClr val="444444"/>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9" name="TextBox 8">
            <a:extLst>
              <a:ext uri="{FF2B5EF4-FFF2-40B4-BE49-F238E27FC236}">
                <a16:creationId xmlns:a16="http://schemas.microsoft.com/office/drawing/2014/main" id="{0D618F76-999B-7C40-8098-373589E9C2D6}"/>
              </a:ext>
            </a:extLst>
          </p:cNvPr>
          <p:cNvSpPr txBox="1"/>
          <p:nvPr/>
        </p:nvSpPr>
        <p:spPr>
          <a:xfrm>
            <a:off x="1244600" y="2438400"/>
            <a:ext cx="2032000" cy="228600"/>
          </a:xfrm>
          <a:prstGeom prst="rect">
            <a:avLst/>
          </a:prstGeom>
          <a:noFill/>
        </p:spPr>
        <p:txBody>
          <a:bodyPr vertOverflow="overflow" vert="horz" wrap="square" rtlCol="0" anchor="t">
            <a:spAutoFit/>
          </a:bodyPr>
          <a:lstStyle/>
          <a:p>
            <a:pPr algn="l"/>
            <a:r>
              <a:rPr lang="en-US" sz="1300" b="1">
                <a:solidFill>
                  <a:srgbClr val="C8B89A"/>
                </a:solidFill>
                <a:latin typeface="Calibri"/>
                <a:cs typeface="Calibri"/>
              </a:rPr>
              <a:t>2026</a:t>
            </a:r>
          </a:p>
        </p:txBody>
      </p:sp>
      <p:sp>
        <p:nvSpPr>
          <p:cNvPr id="13" name="TextBox 12">
            <a:extLst>
              <a:ext uri="{FF2B5EF4-FFF2-40B4-BE49-F238E27FC236}">
                <a16:creationId xmlns:a16="http://schemas.microsoft.com/office/drawing/2014/main" id="{DF3B77CC-FF4B-5A44-99F7-4CA56D8B9F74}"/>
              </a:ext>
            </a:extLst>
          </p:cNvPr>
          <p:cNvSpPr txBox="1"/>
          <p:nvPr/>
        </p:nvSpPr>
        <p:spPr>
          <a:xfrm>
            <a:off x="1244600" y="2667000"/>
            <a:ext cx="5588000" cy="558800"/>
          </a:xfrm>
          <a:prstGeom prst="rect">
            <a:avLst/>
          </a:prstGeom>
          <a:noFill/>
        </p:spPr>
        <p:txBody>
          <a:bodyPr vertOverflow="overflow" vert="horz" wrap="square" rtlCol="0" anchor="t">
            <a:spAutoFit/>
          </a:bodyPr>
          <a:lstStyle/>
          <a:p>
            <a:pPr algn="l"/>
            <a:r>
              <a:rPr lang="en-US" sz="1400">
                <a:solidFill>
                  <a:srgbClr val="1A1A1A"/>
                </a:solidFill>
                <a:latin typeface="Calibri"/>
                <a:cs typeface="Calibri"/>
              </a:rPr>
              <a:t>First commercial eVTOL routes. Archer: 100% FAA acceptance of Midnight’s Means of Compliance. First passenger flights US + UAE. Manual ops become a liability.</a:t>
            </a:r>
          </a:p>
        </p:txBody>
      </p:sp>
      <p:sp>
        <p:nvSpPr>
          <p:cNvPr id="14" name="Oval 13">
            <a:extLst>
              <a:ext uri="{FF2B5EF4-FFF2-40B4-BE49-F238E27FC236}">
                <a16:creationId xmlns:a16="http://schemas.microsoft.com/office/drawing/2014/main" id="{6BD71F03-4B35-0147-9B26-9267C0C4363E}"/>
              </a:ext>
            </a:extLst>
          </p:cNvPr>
          <p:cNvSpPr/>
          <p:nvPr/>
        </p:nvSpPr>
        <p:spPr>
          <a:xfrm>
            <a:off x="952500" y="3352800"/>
            <a:ext cx="152400" cy="152400"/>
          </a:xfrm>
          <a:prstGeom prst="ellipse">
            <a:avLst/>
          </a:prstGeom>
          <a:solidFill>
            <a:srgbClr val="444444"/>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15" name="TextBox 14">
            <a:extLst>
              <a:ext uri="{FF2B5EF4-FFF2-40B4-BE49-F238E27FC236}">
                <a16:creationId xmlns:a16="http://schemas.microsoft.com/office/drawing/2014/main" id="{4A372B73-CC92-984C-BF26-73DEFAC7E900}"/>
              </a:ext>
            </a:extLst>
          </p:cNvPr>
          <p:cNvSpPr txBox="1"/>
          <p:nvPr/>
        </p:nvSpPr>
        <p:spPr>
          <a:xfrm>
            <a:off x="1244600" y="3302000"/>
            <a:ext cx="2032000" cy="228600"/>
          </a:xfrm>
          <a:prstGeom prst="rect">
            <a:avLst/>
          </a:prstGeom>
          <a:noFill/>
        </p:spPr>
        <p:txBody>
          <a:bodyPr vertOverflow="overflow" vert="horz" wrap="square" rtlCol="0" anchor="t">
            <a:spAutoFit/>
          </a:bodyPr>
          <a:lstStyle/>
          <a:p>
            <a:pPr algn="l"/>
            <a:r>
              <a:rPr lang="en-US" sz="1300" b="1">
                <a:solidFill>
                  <a:srgbClr val="C8B89A"/>
                </a:solidFill>
                <a:latin typeface="Calibri"/>
                <a:cs typeface="Calibri"/>
              </a:rPr>
              <a:t>2028–2030</a:t>
            </a:r>
          </a:p>
        </p:txBody>
      </p:sp>
      <p:sp>
        <p:nvSpPr>
          <p:cNvPr id="16" name="TextBox 15">
            <a:extLst>
              <a:ext uri="{FF2B5EF4-FFF2-40B4-BE49-F238E27FC236}">
                <a16:creationId xmlns:a16="http://schemas.microsoft.com/office/drawing/2014/main" id="{A403BA35-410E-404A-ACB0-038A05EA9F0E}"/>
              </a:ext>
            </a:extLst>
          </p:cNvPr>
          <p:cNvSpPr txBox="1"/>
          <p:nvPr/>
        </p:nvSpPr>
        <p:spPr>
          <a:xfrm>
            <a:off x="1244600" y="3530600"/>
            <a:ext cx="5588000" cy="558800"/>
          </a:xfrm>
          <a:prstGeom prst="rect">
            <a:avLst/>
          </a:prstGeom>
          <a:noFill/>
        </p:spPr>
        <p:txBody>
          <a:bodyPr vertOverflow="overflow" vert="horz" wrap="square" rtlCol="0" anchor="t">
            <a:spAutoFit/>
          </a:bodyPr>
          <a:lstStyle/>
          <a:p>
            <a:pPr algn="l"/>
            <a:r>
              <a:rPr lang="en-US" sz="1400">
                <a:solidFill>
                  <a:srgbClr val="1A1A1A"/>
                </a:solidFill>
                <a:latin typeface="Calibri"/>
                <a:cs typeface="Calibri"/>
              </a:rPr>
              <a:t>100+ aircraft per operator. Software built for small fleets doesn’t scale.</a:t>
            </a:r>
          </a:p>
        </p:txBody>
      </p:sp>
      <p:sp>
        <p:nvSpPr>
          <p:cNvPr id="17" name="Oval 16">
            <a:extLst>
              <a:ext uri="{FF2B5EF4-FFF2-40B4-BE49-F238E27FC236}">
                <a16:creationId xmlns:a16="http://schemas.microsoft.com/office/drawing/2014/main" id="{4AC1DC89-C983-2442-9201-59B64E37618F}"/>
              </a:ext>
            </a:extLst>
          </p:cNvPr>
          <p:cNvSpPr/>
          <p:nvPr/>
        </p:nvSpPr>
        <p:spPr>
          <a:xfrm>
            <a:off x="952500" y="4216400"/>
            <a:ext cx="152400" cy="152400"/>
          </a:xfrm>
          <a:prstGeom prst="ellipse">
            <a:avLst/>
          </a:prstGeom>
          <a:solidFill>
            <a:srgbClr val="C8B89A"/>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18" name="TextBox 17">
            <a:extLst>
              <a:ext uri="{FF2B5EF4-FFF2-40B4-BE49-F238E27FC236}">
                <a16:creationId xmlns:a16="http://schemas.microsoft.com/office/drawing/2014/main" id="{41B38186-705B-7744-A113-7DCB0708B1C4}"/>
              </a:ext>
            </a:extLst>
          </p:cNvPr>
          <p:cNvSpPr txBox="1"/>
          <p:nvPr/>
        </p:nvSpPr>
        <p:spPr>
          <a:xfrm>
            <a:off x="1244600" y="4165600"/>
            <a:ext cx="2032000" cy="228600"/>
          </a:xfrm>
          <a:prstGeom prst="rect">
            <a:avLst/>
          </a:prstGeom>
          <a:noFill/>
        </p:spPr>
        <p:txBody>
          <a:bodyPr vertOverflow="overflow" vert="horz" wrap="square" rtlCol="0" anchor="t">
            <a:spAutoFit/>
          </a:bodyPr>
          <a:lstStyle/>
          <a:p>
            <a:pPr algn="l"/>
            <a:r>
              <a:rPr lang="en-US" sz="1300" b="1">
                <a:solidFill>
                  <a:srgbClr val="C8B89A"/>
                </a:solidFill>
                <a:latin typeface="Calibri"/>
                <a:cs typeface="Calibri"/>
              </a:rPr>
              <a:t>TODAY (BRIDGE)</a:t>
            </a:r>
          </a:p>
        </p:txBody>
      </p:sp>
      <p:sp>
        <p:nvSpPr>
          <p:cNvPr id="19" name="TextBox 18">
            <a:extLst>
              <a:ext uri="{FF2B5EF4-FFF2-40B4-BE49-F238E27FC236}">
                <a16:creationId xmlns:a16="http://schemas.microsoft.com/office/drawing/2014/main" id="{D78FAAFA-4575-A844-B0C9-B37B393561B3}"/>
              </a:ext>
            </a:extLst>
          </p:cNvPr>
          <p:cNvSpPr txBox="1"/>
          <p:nvPr/>
        </p:nvSpPr>
        <p:spPr>
          <a:xfrm>
            <a:off x="1244600" y="4394200"/>
            <a:ext cx="5588000" cy="558800"/>
          </a:xfrm>
          <a:prstGeom prst="rect">
            <a:avLst/>
          </a:prstGeom>
          <a:noFill/>
        </p:spPr>
        <p:txBody>
          <a:bodyPr vertOverflow="overflow" vert="horz" wrap="square" rtlCol="0" anchor="t">
            <a:spAutoFit/>
          </a:bodyPr>
          <a:lstStyle/>
          <a:p>
            <a:pPr algn="l"/>
            <a:r>
              <a:rPr lang="en-US" sz="1400">
                <a:solidFill>
                  <a:srgbClr val="1A1A1A"/>
                </a:solidFill>
                <a:latin typeface="Calibri"/>
                <a:cs typeface="Calibri"/>
              </a:rPr>
              <a:t>Drone fleet operators — 20–200 aircraft — face this exact problem now. Same software, smaller aircraft.</a:t>
            </a:r>
          </a:p>
        </p:txBody>
      </p:sp>
      <p:sp>
        <p:nvSpPr>
          <p:cNvPr id="20" name="Rectangle 19">
            <a:extLst>
              <a:ext uri="{FF2B5EF4-FFF2-40B4-BE49-F238E27FC236}">
                <a16:creationId xmlns:a16="http://schemas.microsoft.com/office/drawing/2014/main" id="{06D6B8B8-EF7C-4F47-B5A6-3365E796BC11}"/>
              </a:ext>
            </a:extLst>
          </p:cNvPr>
          <p:cNvSpPr/>
          <p:nvPr/>
        </p:nvSpPr>
        <p:spPr>
          <a:xfrm>
            <a:off x="635000" y="5181600"/>
            <a:ext cx="3352800" cy="914400"/>
          </a:xfrm>
          <a:prstGeom prst="rect">
            <a:avLst/>
          </a:prstGeom>
          <a:solidFill>
            <a:srgbClr val="1E1E1E"/>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21" name="TextBox 20">
            <a:extLst>
              <a:ext uri="{FF2B5EF4-FFF2-40B4-BE49-F238E27FC236}">
                <a16:creationId xmlns:a16="http://schemas.microsoft.com/office/drawing/2014/main" id="{90FBB703-1133-AC47-9352-811C168800F6}"/>
              </a:ext>
            </a:extLst>
          </p:cNvPr>
          <p:cNvSpPr txBox="1"/>
          <p:nvPr/>
        </p:nvSpPr>
        <p:spPr>
          <a:xfrm>
            <a:off x="812800" y="5308600"/>
            <a:ext cx="2997200" cy="355600"/>
          </a:xfrm>
          <a:prstGeom prst="rect">
            <a:avLst/>
          </a:prstGeom>
          <a:noFill/>
        </p:spPr>
        <p:txBody>
          <a:bodyPr vertOverflow="overflow" vert="horz" wrap="square" rtlCol="0" anchor="t">
            <a:spAutoFit/>
          </a:bodyPr>
          <a:lstStyle/>
          <a:p>
            <a:pPr algn="l"/>
            <a:r>
              <a:rPr lang="en-US" sz="2200" b="1">
                <a:solidFill>
                  <a:srgbClr val="1A1A1A"/>
                </a:solidFill>
                <a:latin typeface="Calibri"/>
                <a:cs typeface="Calibri"/>
              </a:rPr>
              <a:t>$5.67B</a:t>
            </a:r>
          </a:p>
        </p:txBody>
      </p:sp>
      <p:sp>
        <p:nvSpPr>
          <p:cNvPr id="22" name="TextBox 21">
            <a:extLst>
              <a:ext uri="{FF2B5EF4-FFF2-40B4-BE49-F238E27FC236}">
                <a16:creationId xmlns:a16="http://schemas.microsoft.com/office/drawing/2014/main" id="{CD8893A1-873B-534A-8E4A-C63EB00FB501}"/>
              </a:ext>
            </a:extLst>
          </p:cNvPr>
          <p:cNvSpPr txBox="1"/>
          <p:nvPr/>
        </p:nvSpPr>
        <p:spPr>
          <a:xfrm>
            <a:off x="812800" y="5689600"/>
            <a:ext cx="2997200" cy="355600"/>
          </a:xfrm>
          <a:prstGeom prst="rect">
            <a:avLst/>
          </a:prstGeom>
          <a:noFill/>
        </p:spPr>
        <p:txBody>
          <a:bodyPr vertOverflow="overflow" vert="horz" wrap="square" rtlCol="0" anchor="t">
            <a:spAutoFit/>
          </a:bodyPr>
          <a:lstStyle/>
          <a:p>
            <a:pPr algn="l"/>
            <a:r>
              <a:rPr lang="en-US" sz="1300">
                <a:solidFill>
                  <a:srgbClr val="3A3328"/>
                </a:solidFill>
                <a:latin typeface="Calibri"/>
                <a:cs typeface="Calibri"/>
              </a:rPr>
              <a:t>eVTOL fleet management market by 2033 (31.2% CAGR)</a:t>
            </a:r>
          </a:p>
        </p:txBody>
      </p:sp>
      <p:sp>
        <p:nvSpPr>
          <p:cNvPr id="23" name="Rectangle 22">
            <a:extLst>
              <a:ext uri="{FF2B5EF4-FFF2-40B4-BE49-F238E27FC236}">
                <a16:creationId xmlns:a16="http://schemas.microsoft.com/office/drawing/2014/main" id="{B1E613E8-D6EA-CC45-BBD8-B1B5B95DD212}"/>
              </a:ext>
            </a:extLst>
          </p:cNvPr>
          <p:cNvSpPr/>
          <p:nvPr/>
        </p:nvSpPr>
        <p:spPr>
          <a:xfrm>
            <a:off x="4267200" y="5181600"/>
            <a:ext cx="3352800" cy="914400"/>
          </a:xfrm>
          <a:prstGeom prst="rect">
            <a:avLst/>
          </a:prstGeom>
          <a:solidFill>
            <a:srgbClr val="1E1E1E"/>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24" name="TextBox 23">
            <a:extLst>
              <a:ext uri="{FF2B5EF4-FFF2-40B4-BE49-F238E27FC236}">
                <a16:creationId xmlns:a16="http://schemas.microsoft.com/office/drawing/2014/main" id="{9EBE97AC-92C2-4248-A704-9E8F757658AB}"/>
              </a:ext>
            </a:extLst>
          </p:cNvPr>
          <p:cNvSpPr txBox="1"/>
          <p:nvPr/>
        </p:nvSpPr>
        <p:spPr>
          <a:xfrm>
            <a:off x="4445000" y="5308600"/>
            <a:ext cx="2997200" cy="355600"/>
          </a:xfrm>
          <a:prstGeom prst="rect">
            <a:avLst/>
          </a:prstGeom>
          <a:noFill/>
        </p:spPr>
        <p:txBody>
          <a:bodyPr vertOverflow="overflow" vert="horz" wrap="square" rtlCol="0" anchor="t">
            <a:spAutoFit/>
          </a:bodyPr>
          <a:lstStyle/>
          <a:p>
            <a:pPr algn="l"/>
            <a:r>
              <a:rPr lang="en-US" sz="2200" b="1">
                <a:solidFill>
                  <a:srgbClr val="1A1A1A"/>
                </a:solidFill>
                <a:latin typeface="Calibri"/>
                <a:cs typeface="Calibri"/>
              </a:rPr>
              <a:t>#1</a:t>
            </a:r>
          </a:p>
        </p:txBody>
      </p:sp>
      <p:sp>
        <p:nvSpPr>
          <p:cNvPr id="25" name="TextBox 24">
            <a:extLst>
              <a:ext uri="{FF2B5EF4-FFF2-40B4-BE49-F238E27FC236}">
                <a16:creationId xmlns:a16="http://schemas.microsoft.com/office/drawing/2014/main" id="{B2782C95-4F68-BE4A-81EB-4029E67CF348}"/>
              </a:ext>
            </a:extLst>
          </p:cNvPr>
          <p:cNvSpPr txBox="1"/>
          <p:nvPr/>
        </p:nvSpPr>
        <p:spPr>
          <a:xfrm>
            <a:off x="4445000" y="5689600"/>
            <a:ext cx="2997200" cy="355600"/>
          </a:xfrm>
          <a:prstGeom prst="rect">
            <a:avLst/>
          </a:prstGeom>
          <a:noFill/>
        </p:spPr>
        <p:txBody>
          <a:bodyPr vertOverflow="overflow" vert="horz" wrap="square" rtlCol="0" anchor="t">
            <a:spAutoFit/>
          </a:bodyPr>
          <a:lstStyle/>
          <a:p>
            <a:pPr algn="l"/>
            <a:r>
              <a:rPr lang="en-US" sz="1300">
                <a:solidFill>
                  <a:srgbClr val="3A3328"/>
                </a:solidFill>
                <a:latin typeface="Calibri"/>
                <a:cs typeface="Calibri"/>
              </a:rPr>
              <a:t>Software &amp; digital services: fastest-growing segment of eVTOL market</a:t>
            </a:r>
          </a:p>
        </p:txBody>
      </p:sp>
      <p:sp>
        <p:nvSpPr>
          <p:cNvPr id="26" name="Rectangle 25">
            <a:extLst>
              <a:ext uri="{FF2B5EF4-FFF2-40B4-BE49-F238E27FC236}">
                <a16:creationId xmlns:a16="http://schemas.microsoft.com/office/drawing/2014/main" id="{46D02BE7-EEC7-E544-AA9A-3DBCE1AF3169}"/>
              </a:ext>
            </a:extLst>
          </p:cNvPr>
          <p:cNvSpPr/>
          <p:nvPr/>
        </p:nvSpPr>
        <p:spPr>
          <a:xfrm>
            <a:off x="7899400" y="5181600"/>
            <a:ext cx="3352800" cy="914400"/>
          </a:xfrm>
          <a:prstGeom prst="rect">
            <a:avLst/>
          </a:prstGeom>
          <a:solidFill>
            <a:srgbClr val="1E1E1E"/>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27" name="TextBox 26">
            <a:extLst>
              <a:ext uri="{FF2B5EF4-FFF2-40B4-BE49-F238E27FC236}">
                <a16:creationId xmlns:a16="http://schemas.microsoft.com/office/drawing/2014/main" id="{BA2AD2EE-B4FF-1740-91B6-63C11ADF8EC8}"/>
              </a:ext>
            </a:extLst>
          </p:cNvPr>
          <p:cNvSpPr txBox="1"/>
          <p:nvPr/>
        </p:nvSpPr>
        <p:spPr>
          <a:xfrm>
            <a:off x="8077200" y="5308600"/>
            <a:ext cx="2997200" cy="355600"/>
          </a:xfrm>
          <a:prstGeom prst="rect">
            <a:avLst/>
          </a:prstGeom>
          <a:noFill/>
        </p:spPr>
        <p:txBody>
          <a:bodyPr vertOverflow="overflow" vert="horz" wrap="square" rtlCol="0" anchor="t">
            <a:spAutoFit/>
          </a:bodyPr>
          <a:lstStyle/>
          <a:p>
            <a:pPr algn="l"/>
            <a:r>
              <a:rPr lang="en-US" sz="2200" b="1">
                <a:solidFill>
                  <a:srgbClr val="1A1A1A"/>
                </a:solidFill>
                <a:latin typeface="Calibri"/>
                <a:cs typeface="Calibri"/>
              </a:rPr>
              <a:t>$17B</a:t>
            </a:r>
          </a:p>
        </p:txBody>
      </p:sp>
      <p:sp>
        <p:nvSpPr>
          <p:cNvPr id="28" name="TextBox 27">
            <a:extLst>
              <a:ext uri="{FF2B5EF4-FFF2-40B4-BE49-F238E27FC236}">
                <a16:creationId xmlns:a16="http://schemas.microsoft.com/office/drawing/2014/main" id="{05860D1A-B6DE-2147-80F3-FB1F06F06234}"/>
              </a:ext>
            </a:extLst>
          </p:cNvPr>
          <p:cNvSpPr txBox="1"/>
          <p:nvPr/>
        </p:nvSpPr>
        <p:spPr>
          <a:xfrm>
            <a:off x="8077200" y="5689600"/>
            <a:ext cx="2997200" cy="355600"/>
          </a:xfrm>
          <a:prstGeom prst="rect">
            <a:avLst/>
          </a:prstGeom>
          <a:noFill/>
        </p:spPr>
        <p:txBody>
          <a:bodyPr vertOverflow="overflow" vert="horz" wrap="square" rtlCol="0" anchor="t">
            <a:spAutoFit/>
          </a:bodyPr>
          <a:lstStyle/>
          <a:p>
            <a:pPr algn="l"/>
            <a:r>
              <a:rPr lang="en-US" sz="1300">
                <a:solidFill>
                  <a:srgbClr val="3A3328"/>
                </a:solidFill>
                <a:latin typeface="Calibri"/>
                <a:cs typeface="Calibri"/>
              </a:rPr>
              <a:t>Samsara market cap (Apr 2026) — the trucking equivalent that already exists</a:t>
            </a:r>
          </a:p>
        </p:txBody>
      </p:sp>
      <p:sp>
        <p:nvSpPr>
          <p:cNvPr id="29" name="Rectangle 28">
            <a:extLst>
              <a:ext uri="{FF2B5EF4-FFF2-40B4-BE49-F238E27FC236}">
                <a16:creationId xmlns:a16="http://schemas.microsoft.com/office/drawing/2014/main" id="{CE38982C-A63A-5047-8079-495F92FB6255}"/>
              </a:ext>
            </a:extLst>
          </p:cNvPr>
          <p:cNvSpPr/>
          <p:nvPr/>
        </p:nvSpPr>
        <p:spPr>
          <a:xfrm>
            <a:off x="635000" y="6273800"/>
            <a:ext cx="10922000" cy="12700"/>
          </a:xfrm>
          <a:prstGeom prst="rect">
            <a:avLst/>
          </a:prstGeom>
          <a:solidFill>
            <a:srgbClr val="333333"/>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30" name="TextBox 29">
            <a:extLst>
              <a:ext uri="{FF2B5EF4-FFF2-40B4-BE49-F238E27FC236}">
                <a16:creationId xmlns:a16="http://schemas.microsoft.com/office/drawing/2014/main" id="{140065C8-F32E-0942-BB0E-45E05438DC24}"/>
              </a:ext>
            </a:extLst>
          </p:cNvPr>
          <p:cNvSpPr txBox="1"/>
          <p:nvPr/>
        </p:nvSpPr>
        <p:spPr>
          <a:xfrm>
            <a:off x="635000" y="6337300"/>
            <a:ext cx="10922000" cy="190500"/>
          </a:xfrm>
          <a:prstGeom prst="rect">
            <a:avLst/>
          </a:prstGeom>
          <a:noFill/>
        </p:spPr>
        <p:txBody>
          <a:bodyPr vertOverflow="overflow" vert="horz" wrap="square" rtlCol="0" anchor="t">
            <a:spAutoFit/>
          </a:bodyPr>
          <a:lstStyle/>
          <a:p>
            <a:pPr algn="l"/>
            <a:r>
              <a:rPr lang="en-US" sz="1300">
                <a:solidFill>
                  <a:srgbClr val="555555"/>
                </a:solidFill>
                <a:latin typeface="Calibri"/>
                <a:cs typeface="Calibri"/>
              </a:rPr>
              <a:t>eVTOL Research Brief · UIUC 2026          CONFIDENTIAL · FOR DISCUSSION PURPOSES ONLY          04 / 09</a:t>
            </a:r>
          </a:p>
        </p:txBody>
      </p:sp>
    </p:spTree>
    <p:extLst>
      <p:ext uri="{BB962C8B-B14F-4D97-AF65-F5344CB8AC3E}">
        <p14:creationId xmlns:p14="http://schemas.microsoft.com/office/powerpoint/2010/main" val="104866229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E8DFC8">
            <a:alpha val="100000"/>
          </a:srgbClr>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2887F60B-7CB5-6C4E-A45B-63040E75E386}"/>
              </a:ext>
            </a:extLst>
          </p:cNvPr>
          <p:cNvSpPr txBox="1"/>
          <p:nvPr/>
        </p:nvSpPr>
        <p:spPr>
          <a:xfrm>
            <a:off x="635000" y="355600"/>
            <a:ext cx="3810000" cy="203200"/>
          </a:xfrm>
          <a:prstGeom prst="rect">
            <a:avLst/>
          </a:prstGeom>
          <a:noFill/>
        </p:spPr>
        <p:txBody>
          <a:bodyPr vertOverflow="overflow" vert="horz" wrap="square" rtlCol="0" anchor="t">
            <a:spAutoFit/>
          </a:bodyPr>
          <a:lstStyle/>
          <a:p>
            <a:pPr algn="l"/>
            <a:r>
              <a:rPr lang="en-US" sz="1300">
                <a:solidFill>
                  <a:srgbClr val="555555"/>
                </a:solidFill>
                <a:latin typeface="Calibri"/>
                <a:cs typeface="Calibri"/>
              </a:rPr>
              <a:t>THE SOLUTION</a:t>
            </a:r>
          </a:p>
        </p:txBody>
      </p:sp>
      <p:sp>
        <p:nvSpPr>
          <p:cNvPr id="3" name="TextBox 2">
            <a:extLst>
              <a:ext uri="{FF2B5EF4-FFF2-40B4-BE49-F238E27FC236}">
                <a16:creationId xmlns:a16="http://schemas.microsoft.com/office/drawing/2014/main" id="{14E4B732-06D4-F64A-B3DC-DF1A02D677DB}"/>
              </a:ext>
            </a:extLst>
          </p:cNvPr>
          <p:cNvSpPr txBox="1"/>
          <p:nvPr/>
        </p:nvSpPr>
        <p:spPr>
          <a:xfrm>
            <a:off x="635000" y="609600"/>
            <a:ext cx="10922000" cy="558800"/>
          </a:xfrm>
          <a:prstGeom prst="rect">
            <a:avLst/>
          </a:prstGeom>
          <a:noFill/>
        </p:spPr>
        <p:txBody>
          <a:bodyPr vertOverflow="overflow" vert="horz" wrap="square" rtlCol="0" anchor="t">
            <a:spAutoFit/>
          </a:bodyPr>
          <a:lstStyle/>
          <a:p>
            <a:pPr algn="l"/>
            <a:r>
              <a:rPr lang="en-US" sz="2200" b="1">
                <a:solidFill>
                  <a:srgbClr val="1A1A1A"/>
                </a:solidFill>
                <a:latin typeface="Georgia"/>
              </a:rPr>
              <a:t>A single operator dashboard for real-time control of the entire fleet.</a:t>
            </a:r>
          </a:p>
        </p:txBody>
      </p:sp>
      <p:sp>
        <p:nvSpPr>
          <p:cNvPr id="4" name="TextBox 3">
            <a:extLst>
              <a:ext uri="{FF2B5EF4-FFF2-40B4-BE49-F238E27FC236}">
                <a16:creationId xmlns:a16="http://schemas.microsoft.com/office/drawing/2014/main" id="{07BFE43F-D7E8-724B-96CF-73139A19EF92}"/>
              </a:ext>
            </a:extLst>
          </p:cNvPr>
          <p:cNvSpPr txBox="1"/>
          <p:nvPr/>
        </p:nvSpPr>
        <p:spPr>
          <a:xfrm>
            <a:off x="635000" y="1219200"/>
            <a:ext cx="10922000" cy="381000"/>
          </a:xfrm>
          <a:prstGeom prst="rect">
            <a:avLst/>
          </a:prstGeom>
          <a:noFill/>
        </p:spPr>
        <p:txBody>
          <a:bodyPr vertOverflow="overflow" vert="horz" wrap="square" rtlCol="0" anchor="t">
            <a:spAutoFit/>
          </a:bodyPr>
          <a:lstStyle/>
          <a:p>
            <a:pPr algn="l"/>
            <a:r>
              <a:rPr lang="en-US" sz="1300">
                <a:solidFill>
                  <a:srgbClr val="E8E0D0"/>
                </a:solidFill>
                <a:latin typeface="Calibri"/>
                <a:cs typeface="Calibri"/>
              </a:rPr>
              <a:t>Not avionics. Not a booking platform. The ops-center software layer for dispatch managers, maintenance coordinators, and operations directors.</a:t>
            </a:r>
          </a:p>
        </p:txBody>
      </p:sp>
      <p:sp>
        <p:nvSpPr>
          <p:cNvPr id="5" name="Rectangle 4">
            <a:extLst>
              <a:ext uri="{FF2B5EF4-FFF2-40B4-BE49-F238E27FC236}">
                <a16:creationId xmlns:a16="http://schemas.microsoft.com/office/drawing/2014/main" id="{0BA0B7F9-9209-384D-B347-07E17C456116}"/>
              </a:ext>
            </a:extLst>
          </p:cNvPr>
          <p:cNvSpPr/>
          <p:nvPr/>
        </p:nvSpPr>
        <p:spPr>
          <a:xfrm>
            <a:off x="635000" y="1701800"/>
            <a:ext cx="1778000" cy="330200"/>
          </a:xfrm>
          <a:prstGeom prst="rect">
            <a:avLst/>
          </a:prstGeom>
          <a:solidFill>
            <a:srgbClr val="181818"/>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6" name="TextBox 5">
            <a:extLst>
              <a:ext uri="{FF2B5EF4-FFF2-40B4-BE49-F238E27FC236}">
                <a16:creationId xmlns:a16="http://schemas.microsoft.com/office/drawing/2014/main" id="{30540484-AC50-3745-917A-9CCA0F62647E}"/>
              </a:ext>
            </a:extLst>
          </p:cNvPr>
          <p:cNvSpPr txBox="1"/>
          <p:nvPr/>
        </p:nvSpPr>
        <p:spPr>
          <a:xfrm>
            <a:off x="736600" y="1778000"/>
            <a:ext cx="1574800" cy="228600"/>
          </a:xfrm>
          <a:prstGeom prst="rect">
            <a:avLst/>
          </a:prstGeom>
          <a:noFill/>
        </p:spPr>
        <p:txBody>
          <a:bodyPr vertOverflow="overflow" vert="horz" wrap="square" rtlCol="0" anchor="t">
            <a:spAutoFit/>
          </a:bodyPr>
          <a:lstStyle/>
          <a:p>
            <a:pPr algn="l"/>
            <a:r>
              <a:rPr lang="en-US" sz="1400" b="1">
                <a:solidFill>
                  <a:srgbClr val="C8B89A"/>
                </a:solidFill>
                <a:latin typeface="Calibri"/>
                <a:cs typeface="Calibri"/>
              </a:rPr>
              <a:t>View</a:t>
            </a:r>
          </a:p>
        </p:txBody>
      </p:sp>
      <p:sp>
        <p:nvSpPr>
          <p:cNvPr id="7" name="Rectangle 6">
            <a:extLst>
              <a:ext uri="{FF2B5EF4-FFF2-40B4-BE49-F238E27FC236}">
                <a16:creationId xmlns:a16="http://schemas.microsoft.com/office/drawing/2014/main" id="{E51CBAFF-EBE1-6B42-9E05-A987C020BECA}"/>
              </a:ext>
            </a:extLst>
          </p:cNvPr>
          <p:cNvSpPr/>
          <p:nvPr/>
        </p:nvSpPr>
        <p:spPr>
          <a:xfrm>
            <a:off x="2476500" y="1701800"/>
            <a:ext cx="4445000" cy="330200"/>
          </a:xfrm>
          <a:prstGeom prst="rect">
            <a:avLst/>
          </a:prstGeom>
          <a:solidFill>
            <a:srgbClr val="181818"/>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8" name="TextBox 7">
            <a:extLst>
              <a:ext uri="{FF2B5EF4-FFF2-40B4-BE49-F238E27FC236}">
                <a16:creationId xmlns:a16="http://schemas.microsoft.com/office/drawing/2014/main" id="{8488D1EF-C91F-AB49-B2B6-442156E3B455}"/>
              </a:ext>
            </a:extLst>
          </p:cNvPr>
          <p:cNvSpPr txBox="1"/>
          <p:nvPr/>
        </p:nvSpPr>
        <p:spPr>
          <a:xfrm>
            <a:off x="2578100" y="1778000"/>
            <a:ext cx="4241800" cy="228600"/>
          </a:xfrm>
          <a:prstGeom prst="rect">
            <a:avLst/>
          </a:prstGeom>
          <a:noFill/>
        </p:spPr>
        <p:txBody>
          <a:bodyPr vertOverflow="overflow" vert="horz" wrap="square" rtlCol="0" anchor="t">
            <a:spAutoFit/>
          </a:bodyPr>
          <a:lstStyle/>
          <a:p>
            <a:pPr algn="l"/>
            <a:r>
              <a:rPr lang="en-US" sz="1400" b="1">
                <a:solidFill>
                  <a:srgbClr val="C8B89A"/>
                </a:solidFill>
                <a:latin typeface="Calibri"/>
                <a:cs typeface="Calibri"/>
              </a:rPr>
              <a:t>What it does</a:t>
            </a:r>
          </a:p>
        </p:txBody>
      </p:sp>
      <p:sp>
        <p:nvSpPr>
          <p:cNvPr id="9" name="Rectangle 8">
            <a:extLst>
              <a:ext uri="{FF2B5EF4-FFF2-40B4-BE49-F238E27FC236}">
                <a16:creationId xmlns:a16="http://schemas.microsoft.com/office/drawing/2014/main" id="{9EDE037C-9938-B548-8D2A-C75302668C72}"/>
              </a:ext>
            </a:extLst>
          </p:cNvPr>
          <p:cNvSpPr/>
          <p:nvPr/>
        </p:nvSpPr>
        <p:spPr>
          <a:xfrm>
            <a:off x="6985000" y="1701800"/>
            <a:ext cx="3937000" cy="330200"/>
          </a:xfrm>
          <a:prstGeom prst="rect">
            <a:avLst/>
          </a:prstGeom>
          <a:solidFill>
            <a:srgbClr val="181818"/>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14" name="TextBox 13">
            <a:extLst>
              <a:ext uri="{FF2B5EF4-FFF2-40B4-BE49-F238E27FC236}">
                <a16:creationId xmlns:a16="http://schemas.microsoft.com/office/drawing/2014/main" id="{DB3029B7-9B83-C343-8A89-4B406275D0BB}"/>
              </a:ext>
            </a:extLst>
          </p:cNvPr>
          <p:cNvSpPr txBox="1"/>
          <p:nvPr/>
        </p:nvSpPr>
        <p:spPr>
          <a:xfrm>
            <a:off x="7086600" y="1778000"/>
            <a:ext cx="3733800" cy="228600"/>
          </a:xfrm>
          <a:prstGeom prst="rect">
            <a:avLst/>
          </a:prstGeom>
          <a:noFill/>
        </p:spPr>
        <p:txBody>
          <a:bodyPr vertOverflow="overflow" vert="horz" wrap="square" rtlCol="0" anchor="t">
            <a:spAutoFit/>
          </a:bodyPr>
          <a:lstStyle/>
          <a:p>
            <a:pPr algn="l"/>
            <a:r>
              <a:rPr lang="en-US" sz="1400" b="1">
                <a:solidFill>
                  <a:srgbClr val="C8B89A"/>
                </a:solidFill>
                <a:latin typeface="Calibri"/>
                <a:cs typeface="Calibri"/>
              </a:rPr>
              <a:t>Why it matters</a:t>
            </a:r>
          </a:p>
        </p:txBody>
      </p:sp>
      <p:sp>
        <p:nvSpPr>
          <p:cNvPr id="15" name="Rectangle 14">
            <a:extLst>
              <a:ext uri="{FF2B5EF4-FFF2-40B4-BE49-F238E27FC236}">
                <a16:creationId xmlns:a16="http://schemas.microsoft.com/office/drawing/2014/main" id="{E6E8BF81-AF9A-8041-B0A8-C40DF3337284}"/>
              </a:ext>
            </a:extLst>
          </p:cNvPr>
          <p:cNvSpPr/>
          <p:nvPr/>
        </p:nvSpPr>
        <p:spPr>
          <a:xfrm>
            <a:off x="635000" y="2032000"/>
            <a:ext cx="1778000" cy="431800"/>
          </a:xfrm>
          <a:prstGeom prst="rect">
            <a:avLst/>
          </a:prstGeom>
          <a:solidFill>
            <a:srgbClr val="1E1E1E"/>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16" name="TextBox 15">
            <a:extLst>
              <a:ext uri="{FF2B5EF4-FFF2-40B4-BE49-F238E27FC236}">
                <a16:creationId xmlns:a16="http://schemas.microsoft.com/office/drawing/2014/main" id="{7E2BD410-75D4-3748-82CC-7952DF056180}"/>
              </a:ext>
            </a:extLst>
          </p:cNvPr>
          <p:cNvSpPr txBox="1"/>
          <p:nvPr/>
        </p:nvSpPr>
        <p:spPr>
          <a:xfrm>
            <a:off x="736600" y="2082800"/>
            <a:ext cx="1574800" cy="355600"/>
          </a:xfrm>
          <a:prstGeom prst="rect">
            <a:avLst/>
          </a:prstGeom>
          <a:noFill/>
        </p:spPr>
        <p:txBody>
          <a:bodyPr vertOverflow="overflow" vert="horz" wrap="square" rtlCol="0" anchor="t">
            <a:spAutoFit/>
          </a:bodyPr>
          <a:lstStyle/>
          <a:p>
            <a:pPr algn="l"/>
            <a:r>
              <a:rPr lang="en-US" sz="1300" b="1">
                <a:solidFill>
                  <a:srgbClr val="F0F0F0"/>
                </a:solidFill>
                <a:latin typeface="Calibri"/>
                <a:cs typeface="Calibri"/>
              </a:rPr>
              <a:t>Fleet Overview</a:t>
            </a:r>
          </a:p>
        </p:txBody>
      </p:sp>
      <p:sp>
        <p:nvSpPr>
          <p:cNvPr id="17" name="Rectangle 16">
            <a:extLst>
              <a:ext uri="{FF2B5EF4-FFF2-40B4-BE49-F238E27FC236}">
                <a16:creationId xmlns:a16="http://schemas.microsoft.com/office/drawing/2014/main" id="{5D58DBA4-E363-AB49-B8FA-2EB28292DFD4}"/>
              </a:ext>
            </a:extLst>
          </p:cNvPr>
          <p:cNvSpPr/>
          <p:nvPr/>
        </p:nvSpPr>
        <p:spPr>
          <a:xfrm>
            <a:off x="2476500" y="2032000"/>
            <a:ext cx="4445000" cy="431800"/>
          </a:xfrm>
          <a:prstGeom prst="rect">
            <a:avLst/>
          </a:prstGeom>
          <a:solidFill>
            <a:srgbClr val="1E1E1E"/>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18" name="TextBox 17">
            <a:extLst>
              <a:ext uri="{FF2B5EF4-FFF2-40B4-BE49-F238E27FC236}">
                <a16:creationId xmlns:a16="http://schemas.microsoft.com/office/drawing/2014/main" id="{666397BD-1C49-904F-99C6-BF76011DD9F1}"/>
              </a:ext>
            </a:extLst>
          </p:cNvPr>
          <p:cNvSpPr txBox="1"/>
          <p:nvPr/>
        </p:nvSpPr>
        <p:spPr>
          <a:xfrm>
            <a:off x="2578100" y="2082800"/>
            <a:ext cx="4241800" cy="355600"/>
          </a:xfrm>
          <a:prstGeom prst="rect">
            <a:avLst/>
          </a:prstGeom>
          <a:noFill/>
        </p:spPr>
        <p:txBody>
          <a:bodyPr vertOverflow="overflow" vert="horz" wrap="square" rtlCol="0" anchor="t">
            <a:spAutoFit/>
          </a:bodyPr>
          <a:lstStyle/>
          <a:p>
            <a:pPr algn="l"/>
            <a:r>
              <a:rPr lang="en-US" sz="1300">
                <a:solidFill>
                  <a:srgbClr val="E8E0D0"/>
                </a:solidFill>
                <a:latin typeface="Calibri"/>
                <a:cs typeface="Calibri"/>
              </a:rPr>
              <a:t>Real-time status: in-flight, charging, maintenance, grounded</a:t>
            </a:r>
          </a:p>
        </p:txBody>
      </p:sp>
      <p:sp>
        <p:nvSpPr>
          <p:cNvPr id="19" name="Rectangle 18">
            <a:extLst>
              <a:ext uri="{FF2B5EF4-FFF2-40B4-BE49-F238E27FC236}">
                <a16:creationId xmlns:a16="http://schemas.microsoft.com/office/drawing/2014/main" id="{7C967FB0-726D-6744-BD44-D1EB501D4A3A}"/>
              </a:ext>
            </a:extLst>
          </p:cNvPr>
          <p:cNvSpPr/>
          <p:nvPr/>
        </p:nvSpPr>
        <p:spPr>
          <a:xfrm>
            <a:off x="6985000" y="2032000"/>
            <a:ext cx="3937000" cy="431800"/>
          </a:xfrm>
          <a:prstGeom prst="rect">
            <a:avLst/>
          </a:prstGeom>
          <a:solidFill>
            <a:srgbClr val="1E1E1E"/>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20" name="TextBox 19">
            <a:extLst>
              <a:ext uri="{FF2B5EF4-FFF2-40B4-BE49-F238E27FC236}">
                <a16:creationId xmlns:a16="http://schemas.microsoft.com/office/drawing/2014/main" id="{6E9537BD-BF28-9C45-89D8-253B6364ECC6}"/>
              </a:ext>
            </a:extLst>
          </p:cNvPr>
          <p:cNvSpPr txBox="1"/>
          <p:nvPr/>
        </p:nvSpPr>
        <p:spPr>
          <a:xfrm>
            <a:off x="7086600" y="2082800"/>
            <a:ext cx="3733800" cy="355600"/>
          </a:xfrm>
          <a:prstGeom prst="rect">
            <a:avLst/>
          </a:prstGeom>
          <a:noFill/>
        </p:spPr>
        <p:txBody>
          <a:bodyPr vertOverflow="overflow" vert="horz" wrap="square" rtlCol="0" anchor="t">
            <a:spAutoFit/>
          </a:bodyPr>
          <a:lstStyle/>
          <a:p>
            <a:pPr algn="l"/>
            <a:r>
              <a:rPr lang="en-US" sz="1300">
                <a:solidFill>
                  <a:srgbClr val="E8E0D0"/>
                </a:solidFill>
                <a:latin typeface="Calibri"/>
                <a:cs typeface="Calibri"/>
              </a:rPr>
              <a:t>Single source of truth for fleet state</a:t>
            </a:r>
          </a:p>
        </p:txBody>
      </p:sp>
      <p:sp>
        <p:nvSpPr>
          <p:cNvPr id="21" name="Rectangle 20">
            <a:extLst>
              <a:ext uri="{FF2B5EF4-FFF2-40B4-BE49-F238E27FC236}">
                <a16:creationId xmlns:a16="http://schemas.microsoft.com/office/drawing/2014/main" id="{C7F26732-89E9-6F42-A9C5-A4D85EA7E374}"/>
              </a:ext>
            </a:extLst>
          </p:cNvPr>
          <p:cNvSpPr/>
          <p:nvPr/>
        </p:nvSpPr>
        <p:spPr>
          <a:xfrm>
            <a:off x="635000" y="2590800"/>
            <a:ext cx="1778000" cy="431800"/>
          </a:xfrm>
          <a:prstGeom prst="rect">
            <a:avLst/>
          </a:prstGeom>
          <a:solidFill>
            <a:srgbClr val="161616"/>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22" name="TextBox 21">
            <a:extLst>
              <a:ext uri="{FF2B5EF4-FFF2-40B4-BE49-F238E27FC236}">
                <a16:creationId xmlns:a16="http://schemas.microsoft.com/office/drawing/2014/main" id="{D75C2FCF-B9D4-9F43-8D8A-922D0DBD2B38}"/>
              </a:ext>
            </a:extLst>
          </p:cNvPr>
          <p:cNvSpPr txBox="1"/>
          <p:nvPr/>
        </p:nvSpPr>
        <p:spPr>
          <a:xfrm>
            <a:off x="736600" y="2514600"/>
            <a:ext cx="1574800" cy="355600"/>
          </a:xfrm>
          <a:prstGeom prst="rect">
            <a:avLst/>
          </a:prstGeom>
          <a:noFill/>
        </p:spPr>
        <p:txBody>
          <a:bodyPr vertOverflow="overflow" vert="horz" wrap="square" rtlCol="0" anchor="t">
            <a:spAutoFit/>
          </a:bodyPr>
          <a:lstStyle/>
          <a:p>
            <a:pPr algn="l"/>
            <a:r>
              <a:rPr lang="en-US" sz="1300" b="1">
                <a:solidFill>
                  <a:srgbClr val="F0F0F0"/>
                </a:solidFill>
                <a:latin typeface="Calibri"/>
                <a:cs typeface="Calibri"/>
              </a:rPr>
              <a:t>Mission Dispatch</a:t>
            </a:r>
          </a:p>
        </p:txBody>
      </p:sp>
      <p:sp>
        <p:nvSpPr>
          <p:cNvPr id="23" name="Rectangle 22">
            <a:extLst>
              <a:ext uri="{FF2B5EF4-FFF2-40B4-BE49-F238E27FC236}">
                <a16:creationId xmlns:a16="http://schemas.microsoft.com/office/drawing/2014/main" id="{B3208B08-D4DD-5F40-82B0-C284B0A5DC2B}"/>
              </a:ext>
            </a:extLst>
          </p:cNvPr>
          <p:cNvSpPr/>
          <p:nvPr/>
        </p:nvSpPr>
        <p:spPr>
          <a:xfrm>
            <a:off x="2476500" y="2590800"/>
            <a:ext cx="4445000" cy="431800"/>
          </a:xfrm>
          <a:prstGeom prst="rect">
            <a:avLst/>
          </a:prstGeom>
          <a:solidFill>
            <a:srgbClr val="161616"/>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24" name="TextBox 23">
            <a:extLst>
              <a:ext uri="{FF2B5EF4-FFF2-40B4-BE49-F238E27FC236}">
                <a16:creationId xmlns:a16="http://schemas.microsoft.com/office/drawing/2014/main" id="{F20289B8-29DF-934E-8C1B-9A64882A0AA2}"/>
              </a:ext>
            </a:extLst>
          </p:cNvPr>
          <p:cNvSpPr txBox="1"/>
          <p:nvPr/>
        </p:nvSpPr>
        <p:spPr>
          <a:xfrm>
            <a:off x="2578100" y="2514600"/>
            <a:ext cx="4241800" cy="355600"/>
          </a:xfrm>
          <a:prstGeom prst="rect">
            <a:avLst/>
          </a:prstGeom>
          <a:noFill/>
        </p:spPr>
        <p:txBody>
          <a:bodyPr vertOverflow="overflow" vert="horz" wrap="square" rtlCol="0" anchor="t">
            <a:spAutoFit/>
          </a:bodyPr>
          <a:lstStyle/>
          <a:p>
            <a:pPr algn="l"/>
            <a:r>
              <a:rPr lang="en-US" sz="1300">
                <a:solidFill>
                  <a:srgbClr val="E8E0D0"/>
                </a:solidFill>
                <a:latin typeface="Calibri"/>
                <a:cs typeface="Calibri"/>
              </a:rPr>
              <a:t>Assign aircraft to routes, deconflict, handle holds + re-routing</a:t>
            </a:r>
          </a:p>
        </p:txBody>
      </p:sp>
      <p:sp>
        <p:nvSpPr>
          <p:cNvPr id="25" name="Rectangle 24">
            <a:extLst>
              <a:ext uri="{FF2B5EF4-FFF2-40B4-BE49-F238E27FC236}">
                <a16:creationId xmlns:a16="http://schemas.microsoft.com/office/drawing/2014/main" id="{F8C9C98F-0DF7-3A42-8340-DA9A5C05D355}"/>
              </a:ext>
            </a:extLst>
          </p:cNvPr>
          <p:cNvSpPr/>
          <p:nvPr/>
        </p:nvSpPr>
        <p:spPr>
          <a:xfrm>
            <a:off x="6985000" y="2590800"/>
            <a:ext cx="3937000" cy="431800"/>
          </a:xfrm>
          <a:prstGeom prst="rect">
            <a:avLst/>
          </a:prstGeom>
          <a:solidFill>
            <a:srgbClr val="161616"/>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26" name="TextBox 25">
            <a:extLst>
              <a:ext uri="{FF2B5EF4-FFF2-40B4-BE49-F238E27FC236}">
                <a16:creationId xmlns:a16="http://schemas.microsoft.com/office/drawing/2014/main" id="{2E610DEB-A908-3E42-A0DD-4B2FCD53CA6A}"/>
              </a:ext>
            </a:extLst>
          </p:cNvPr>
          <p:cNvSpPr txBox="1"/>
          <p:nvPr/>
        </p:nvSpPr>
        <p:spPr>
          <a:xfrm>
            <a:off x="7086600" y="2514600"/>
            <a:ext cx="3733800" cy="355600"/>
          </a:xfrm>
          <a:prstGeom prst="rect">
            <a:avLst/>
          </a:prstGeom>
          <a:noFill/>
        </p:spPr>
        <p:txBody>
          <a:bodyPr vertOverflow="overflow" vert="horz" wrap="square" rtlCol="0" anchor="t">
            <a:spAutoFit/>
          </a:bodyPr>
          <a:lstStyle/>
          <a:p>
            <a:pPr algn="l"/>
            <a:r>
              <a:rPr lang="en-US" sz="1300">
                <a:solidFill>
                  <a:srgbClr val="E8E0D0"/>
                </a:solidFill>
                <a:latin typeface="Calibri"/>
                <a:cs typeface="Calibri"/>
              </a:rPr>
              <a:t>Manual dispatch doesn't scale past ~5 aircraft</a:t>
            </a:r>
          </a:p>
        </p:txBody>
      </p:sp>
      <p:sp>
        <p:nvSpPr>
          <p:cNvPr id="27" name="Rectangle 26">
            <a:extLst>
              <a:ext uri="{FF2B5EF4-FFF2-40B4-BE49-F238E27FC236}">
                <a16:creationId xmlns:a16="http://schemas.microsoft.com/office/drawing/2014/main" id="{B8FDA651-A820-364C-96CC-4AC6B3CBD9B8}"/>
              </a:ext>
            </a:extLst>
          </p:cNvPr>
          <p:cNvSpPr/>
          <p:nvPr/>
        </p:nvSpPr>
        <p:spPr>
          <a:xfrm>
            <a:off x="635000" y="3149600"/>
            <a:ext cx="1778000" cy="431800"/>
          </a:xfrm>
          <a:prstGeom prst="rect">
            <a:avLst/>
          </a:prstGeom>
          <a:solidFill>
            <a:srgbClr val="1E1E1E"/>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28" name="TextBox 27">
            <a:extLst>
              <a:ext uri="{FF2B5EF4-FFF2-40B4-BE49-F238E27FC236}">
                <a16:creationId xmlns:a16="http://schemas.microsoft.com/office/drawing/2014/main" id="{31EFAB9C-FBD7-EC48-AAA8-594462DBEDD0}"/>
              </a:ext>
            </a:extLst>
          </p:cNvPr>
          <p:cNvSpPr txBox="1"/>
          <p:nvPr/>
        </p:nvSpPr>
        <p:spPr>
          <a:xfrm>
            <a:off x="736600" y="2946400"/>
            <a:ext cx="1574800" cy="355600"/>
          </a:xfrm>
          <a:prstGeom prst="rect">
            <a:avLst/>
          </a:prstGeom>
          <a:noFill/>
        </p:spPr>
        <p:txBody>
          <a:bodyPr vertOverflow="overflow" vert="horz" wrap="square" rtlCol="0" anchor="t">
            <a:spAutoFit/>
          </a:bodyPr>
          <a:lstStyle/>
          <a:p>
            <a:pPr algn="l"/>
            <a:r>
              <a:rPr lang="en-US" sz="1300" b="1">
                <a:solidFill>
                  <a:srgbClr val="F0F0F0"/>
                </a:solidFill>
                <a:latin typeface="Calibri"/>
                <a:cs typeface="Calibri"/>
              </a:rPr>
              <a:t>Maintenance Tracker</a:t>
            </a:r>
          </a:p>
        </p:txBody>
      </p:sp>
      <p:sp>
        <p:nvSpPr>
          <p:cNvPr id="29" name="Rectangle 28">
            <a:extLst>
              <a:ext uri="{FF2B5EF4-FFF2-40B4-BE49-F238E27FC236}">
                <a16:creationId xmlns:a16="http://schemas.microsoft.com/office/drawing/2014/main" id="{62D0416E-86EC-AE49-993B-2E177A14D013}"/>
              </a:ext>
            </a:extLst>
          </p:cNvPr>
          <p:cNvSpPr/>
          <p:nvPr/>
        </p:nvSpPr>
        <p:spPr>
          <a:xfrm>
            <a:off x="2476500" y="3149600"/>
            <a:ext cx="4445000" cy="431800"/>
          </a:xfrm>
          <a:prstGeom prst="rect">
            <a:avLst/>
          </a:prstGeom>
          <a:solidFill>
            <a:srgbClr val="1E1E1E"/>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30" name="TextBox 29">
            <a:extLst>
              <a:ext uri="{FF2B5EF4-FFF2-40B4-BE49-F238E27FC236}">
                <a16:creationId xmlns:a16="http://schemas.microsoft.com/office/drawing/2014/main" id="{008B17FD-6C93-F849-8AF9-4F49A25B8645}"/>
              </a:ext>
            </a:extLst>
          </p:cNvPr>
          <p:cNvSpPr txBox="1"/>
          <p:nvPr/>
        </p:nvSpPr>
        <p:spPr>
          <a:xfrm>
            <a:off x="2578100" y="2946400"/>
            <a:ext cx="4241800" cy="355600"/>
          </a:xfrm>
          <a:prstGeom prst="rect">
            <a:avLst/>
          </a:prstGeom>
          <a:noFill/>
        </p:spPr>
        <p:txBody>
          <a:bodyPr vertOverflow="overflow" vert="horz" wrap="square" rtlCol="0" anchor="t">
            <a:spAutoFit/>
          </a:bodyPr>
          <a:lstStyle/>
          <a:p>
            <a:pPr algn="l"/>
            <a:r>
              <a:rPr lang="en-US" sz="1300" dirty="0">
                <a:solidFill>
                  <a:srgbClr val="E8E0D0"/>
                </a:solidFill>
                <a:latin typeface="Calibri"/>
                <a:cs typeface="Calibri"/>
              </a:rPr>
              <a:t>Flight hours, battery cycles, work orders, predictive alerts</a:t>
            </a:r>
          </a:p>
        </p:txBody>
      </p:sp>
      <p:sp>
        <p:nvSpPr>
          <p:cNvPr id="31" name="Rectangle 30">
            <a:extLst>
              <a:ext uri="{FF2B5EF4-FFF2-40B4-BE49-F238E27FC236}">
                <a16:creationId xmlns:a16="http://schemas.microsoft.com/office/drawing/2014/main" id="{07352718-1771-CD46-9A9B-9DA3360346D5}"/>
              </a:ext>
            </a:extLst>
          </p:cNvPr>
          <p:cNvSpPr/>
          <p:nvPr/>
        </p:nvSpPr>
        <p:spPr>
          <a:xfrm>
            <a:off x="6985000" y="3149600"/>
            <a:ext cx="3937000" cy="431800"/>
          </a:xfrm>
          <a:prstGeom prst="rect">
            <a:avLst/>
          </a:prstGeom>
          <a:solidFill>
            <a:srgbClr val="1E1E1E"/>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32" name="TextBox 31">
            <a:extLst>
              <a:ext uri="{FF2B5EF4-FFF2-40B4-BE49-F238E27FC236}">
                <a16:creationId xmlns:a16="http://schemas.microsoft.com/office/drawing/2014/main" id="{5B853814-2CB8-9543-BA21-8806F85F1D17}"/>
              </a:ext>
            </a:extLst>
          </p:cNvPr>
          <p:cNvSpPr txBox="1"/>
          <p:nvPr/>
        </p:nvSpPr>
        <p:spPr>
          <a:xfrm>
            <a:off x="7086600" y="2946400"/>
            <a:ext cx="3733800" cy="355600"/>
          </a:xfrm>
          <a:prstGeom prst="rect">
            <a:avLst/>
          </a:prstGeom>
          <a:noFill/>
        </p:spPr>
        <p:txBody>
          <a:bodyPr vertOverflow="overflow" vert="horz" wrap="square" rtlCol="0" anchor="t">
            <a:spAutoFit/>
          </a:bodyPr>
          <a:lstStyle/>
          <a:p>
            <a:pPr algn="l"/>
            <a:r>
              <a:rPr lang="en-US" sz="1300">
                <a:solidFill>
                  <a:srgbClr val="E8E0D0"/>
                </a:solidFill>
                <a:latin typeface="Calibri"/>
                <a:cs typeface="Calibri"/>
              </a:rPr>
              <a:t>Highest-value ops tool in aviation</a:t>
            </a:r>
          </a:p>
        </p:txBody>
      </p:sp>
      <p:sp>
        <p:nvSpPr>
          <p:cNvPr id="33" name="Rectangle 32">
            <a:extLst>
              <a:ext uri="{FF2B5EF4-FFF2-40B4-BE49-F238E27FC236}">
                <a16:creationId xmlns:a16="http://schemas.microsoft.com/office/drawing/2014/main" id="{8635B565-AA58-C845-AF4A-4833158866AF}"/>
              </a:ext>
            </a:extLst>
          </p:cNvPr>
          <p:cNvSpPr/>
          <p:nvPr/>
        </p:nvSpPr>
        <p:spPr>
          <a:xfrm>
            <a:off x="635000" y="3708400"/>
            <a:ext cx="1778000" cy="431800"/>
          </a:xfrm>
          <a:prstGeom prst="rect">
            <a:avLst/>
          </a:prstGeom>
          <a:solidFill>
            <a:srgbClr val="161616"/>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34" name="TextBox 33">
            <a:extLst>
              <a:ext uri="{FF2B5EF4-FFF2-40B4-BE49-F238E27FC236}">
                <a16:creationId xmlns:a16="http://schemas.microsoft.com/office/drawing/2014/main" id="{8A012CB3-D2C9-474D-92B6-5651A14DD5CA}"/>
              </a:ext>
            </a:extLst>
          </p:cNvPr>
          <p:cNvSpPr txBox="1"/>
          <p:nvPr/>
        </p:nvSpPr>
        <p:spPr>
          <a:xfrm>
            <a:off x="736600" y="3378200"/>
            <a:ext cx="1574800" cy="355600"/>
          </a:xfrm>
          <a:prstGeom prst="rect">
            <a:avLst/>
          </a:prstGeom>
          <a:noFill/>
        </p:spPr>
        <p:txBody>
          <a:bodyPr vertOverflow="overflow" vert="horz" wrap="square" rtlCol="0" anchor="t">
            <a:spAutoFit/>
          </a:bodyPr>
          <a:lstStyle/>
          <a:p>
            <a:pPr algn="l"/>
            <a:r>
              <a:rPr lang="en-US" sz="1300" b="1">
                <a:solidFill>
                  <a:srgbClr val="F0F0F0"/>
                </a:solidFill>
                <a:latin typeface="Calibri"/>
                <a:cs typeface="Calibri"/>
              </a:rPr>
              <a:t>Compliance Log</a:t>
            </a:r>
          </a:p>
        </p:txBody>
      </p:sp>
      <p:sp>
        <p:nvSpPr>
          <p:cNvPr id="35" name="Rectangle 34">
            <a:extLst>
              <a:ext uri="{FF2B5EF4-FFF2-40B4-BE49-F238E27FC236}">
                <a16:creationId xmlns:a16="http://schemas.microsoft.com/office/drawing/2014/main" id="{0337939E-C004-EF48-B31E-F9A5002F51D9}"/>
              </a:ext>
            </a:extLst>
          </p:cNvPr>
          <p:cNvSpPr/>
          <p:nvPr/>
        </p:nvSpPr>
        <p:spPr>
          <a:xfrm>
            <a:off x="2476500" y="3708400"/>
            <a:ext cx="4445000" cy="431800"/>
          </a:xfrm>
          <a:prstGeom prst="rect">
            <a:avLst/>
          </a:prstGeom>
          <a:solidFill>
            <a:srgbClr val="161616"/>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36" name="TextBox 35">
            <a:extLst>
              <a:ext uri="{FF2B5EF4-FFF2-40B4-BE49-F238E27FC236}">
                <a16:creationId xmlns:a16="http://schemas.microsoft.com/office/drawing/2014/main" id="{D6DB2E46-E129-3442-8E44-3E644A1C1072}"/>
              </a:ext>
            </a:extLst>
          </p:cNvPr>
          <p:cNvSpPr txBox="1"/>
          <p:nvPr/>
        </p:nvSpPr>
        <p:spPr>
          <a:xfrm>
            <a:off x="2578100" y="3378200"/>
            <a:ext cx="4241800" cy="355600"/>
          </a:xfrm>
          <a:prstGeom prst="rect">
            <a:avLst/>
          </a:prstGeom>
          <a:noFill/>
        </p:spPr>
        <p:txBody>
          <a:bodyPr vertOverflow="overflow" vert="horz" wrap="square" rtlCol="0" anchor="t">
            <a:spAutoFit/>
          </a:bodyPr>
          <a:lstStyle/>
          <a:p>
            <a:pPr algn="l"/>
            <a:r>
              <a:rPr lang="en-US" sz="1300">
                <a:solidFill>
                  <a:srgbClr val="E8E0D0"/>
                </a:solidFill>
                <a:latin typeface="Calibri"/>
                <a:cs typeface="Calibri"/>
              </a:rPr>
              <a:t>FAA Part 135/107, LAANC, incident logs, audit trail</a:t>
            </a:r>
          </a:p>
        </p:txBody>
      </p:sp>
      <p:sp>
        <p:nvSpPr>
          <p:cNvPr id="37" name="Rectangle 36">
            <a:extLst>
              <a:ext uri="{FF2B5EF4-FFF2-40B4-BE49-F238E27FC236}">
                <a16:creationId xmlns:a16="http://schemas.microsoft.com/office/drawing/2014/main" id="{D2BC3583-695B-644D-9780-A7D6CAF0216C}"/>
              </a:ext>
            </a:extLst>
          </p:cNvPr>
          <p:cNvSpPr/>
          <p:nvPr/>
        </p:nvSpPr>
        <p:spPr>
          <a:xfrm>
            <a:off x="6985000" y="3708400"/>
            <a:ext cx="3937000" cy="431800"/>
          </a:xfrm>
          <a:prstGeom prst="rect">
            <a:avLst/>
          </a:prstGeom>
          <a:solidFill>
            <a:srgbClr val="161616"/>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38" name="TextBox 37">
            <a:extLst>
              <a:ext uri="{FF2B5EF4-FFF2-40B4-BE49-F238E27FC236}">
                <a16:creationId xmlns:a16="http://schemas.microsoft.com/office/drawing/2014/main" id="{2D084174-8D63-E64E-A559-0E3952C2F4BB}"/>
              </a:ext>
            </a:extLst>
          </p:cNvPr>
          <p:cNvSpPr txBox="1"/>
          <p:nvPr/>
        </p:nvSpPr>
        <p:spPr>
          <a:xfrm>
            <a:off x="7086600" y="3378200"/>
            <a:ext cx="3733800" cy="355600"/>
          </a:xfrm>
          <a:prstGeom prst="rect">
            <a:avLst/>
          </a:prstGeom>
          <a:noFill/>
        </p:spPr>
        <p:txBody>
          <a:bodyPr vertOverflow="overflow" vert="horz" wrap="square" rtlCol="0" anchor="t">
            <a:spAutoFit/>
          </a:bodyPr>
          <a:lstStyle/>
          <a:p>
            <a:pPr algn="l"/>
            <a:r>
              <a:rPr lang="en-US" sz="1300">
                <a:solidFill>
                  <a:srgbClr val="E8E0D0"/>
                </a:solidFill>
                <a:latin typeface="Calibri"/>
                <a:cs typeface="Calibri"/>
              </a:rPr>
              <a:t>Compliance built in from day one</a:t>
            </a:r>
          </a:p>
        </p:txBody>
      </p:sp>
      <p:sp>
        <p:nvSpPr>
          <p:cNvPr id="39" name="Rectangle 38">
            <a:extLst>
              <a:ext uri="{FF2B5EF4-FFF2-40B4-BE49-F238E27FC236}">
                <a16:creationId xmlns:a16="http://schemas.microsoft.com/office/drawing/2014/main" id="{9D48ACA7-1A98-F542-9F86-5C91D1EBDB56}"/>
              </a:ext>
            </a:extLst>
          </p:cNvPr>
          <p:cNvSpPr/>
          <p:nvPr/>
        </p:nvSpPr>
        <p:spPr>
          <a:xfrm>
            <a:off x="635000" y="4267200"/>
            <a:ext cx="1778000" cy="431800"/>
          </a:xfrm>
          <a:prstGeom prst="rect">
            <a:avLst/>
          </a:prstGeom>
          <a:solidFill>
            <a:srgbClr val="1E1E1E"/>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40" name="TextBox 39">
            <a:extLst>
              <a:ext uri="{FF2B5EF4-FFF2-40B4-BE49-F238E27FC236}">
                <a16:creationId xmlns:a16="http://schemas.microsoft.com/office/drawing/2014/main" id="{2EF610AE-F73F-1C4F-A191-F828965307A5}"/>
              </a:ext>
            </a:extLst>
          </p:cNvPr>
          <p:cNvSpPr txBox="1"/>
          <p:nvPr/>
        </p:nvSpPr>
        <p:spPr>
          <a:xfrm>
            <a:off x="736600" y="3810000"/>
            <a:ext cx="1574800" cy="355600"/>
          </a:xfrm>
          <a:prstGeom prst="rect">
            <a:avLst/>
          </a:prstGeom>
          <a:noFill/>
        </p:spPr>
        <p:txBody>
          <a:bodyPr vertOverflow="overflow" vert="horz" wrap="square" rtlCol="0" anchor="t">
            <a:spAutoFit/>
          </a:bodyPr>
          <a:lstStyle/>
          <a:p>
            <a:pPr algn="l"/>
            <a:r>
              <a:rPr lang="en-US" sz="1300" b="1">
                <a:solidFill>
                  <a:srgbClr val="F0F0F0"/>
                </a:solidFill>
                <a:latin typeface="Calibri"/>
                <a:cs typeface="Calibri"/>
              </a:rPr>
              <a:t>Analytics</a:t>
            </a:r>
          </a:p>
        </p:txBody>
      </p:sp>
      <p:sp>
        <p:nvSpPr>
          <p:cNvPr id="41" name="Rectangle 40">
            <a:extLst>
              <a:ext uri="{FF2B5EF4-FFF2-40B4-BE49-F238E27FC236}">
                <a16:creationId xmlns:a16="http://schemas.microsoft.com/office/drawing/2014/main" id="{6EEB6E10-33C9-1C41-878F-FFA5F92BD6CB}"/>
              </a:ext>
            </a:extLst>
          </p:cNvPr>
          <p:cNvSpPr/>
          <p:nvPr/>
        </p:nvSpPr>
        <p:spPr>
          <a:xfrm>
            <a:off x="2476500" y="4267200"/>
            <a:ext cx="4445000" cy="431800"/>
          </a:xfrm>
          <a:prstGeom prst="rect">
            <a:avLst/>
          </a:prstGeom>
          <a:solidFill>
            <a:srgbClr val="1E1E1E"/>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42" name="TextBox 41">
            <a:extLst>
              <a:ext uri="{FF2B5EF4-FFF2-40B4-BE49-F238E27FC236}">
                <a16:creationId xmlns:a16="http://schemas.microsoft.com/office/drawing/2014/main" id="{CE625F6A-018A-A745-B682-9642548F2F88}"/>
              </a:ext>
            </a:extLst>
          </p:cNvPr>
          <p:cNvSpPr txBox="1"/>
          <p:nvPr/>
        </p:nvSpPr>
        <p:spPr>
          <a:xfrm>
            <a:off x="2578100" y="3810000"/>
            <a:ext cx="4241800" cy="355600"/>
          </a:xfrm>
          <a:prstGeom prst="rect">
            <a:avLst/>
          </a:prstGeom>
          <a:noFill/>
        </p:spPr>
        <p:txBody>
          <a:bodyPr vertOverflow="overflow" vert="horz" wrap="square" rtlCol="0" anchor="t">
            <a:spAutoFit/>
          </a:bodyPr>
          <a:lstStyle/>
          <a:p>
            <a:pPr algn="l"/>
            <a:r>
              <a:rPr lang="en-US" sz="1300">
                <a:solidFill>
                  <a:srgbClr val="E8E0D0"/>
                </a:solidFill>
                <a:latin typeface="Calibri"/>
                <a:cs typeface="Calibri"/>
              </a:rPr>
              <a:t>Cost per flight hour, utilization, downtime, revenue performance</a:t>
            </a:r>
          </a:p>
        </p:txBody>
      </p:sp>
      <p:sp>
        <p:nvSpPr>
          <p:cNvPr id="43" name="Rectangle 42">
            <a:extLst>
              <a:ext uri="{FF2B5EF4-FFF2-40B4-BE49-F238E27FC236}">
                <a16:creationId xmlns:a16="http://schemas.microsoft.com/office/drawing/2014/main" id="{09C48DC2-70D3-9445-BBD4-69B482A49FF2}"/>
              </a:ext>
            </a:extLst>
          </p:cNvPr>
          <p:cNvSpPr/>
          <p:nvPr/>
        </p:nvSpPr>
        <p:spPr>
          <a:xfrm>
            <a:off x="6985000" y="4267200"/>
            <a:ext cx="3937000" cy="431800"/>
          </a:xfrm>
          <a:prstGeom prst="rect">
            <a:avLst/>
          </a:prstGeom>
          <a:solidFill>
            <a:srgbClr val="1E1E1E"/>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44" name="TextBox 43">
            <a:extLst>
              <a:ext uri="{FF2B5EF4-FFF2-40B4-BE49-F238E27FC236}">
                <a16:creationId xmlns:a16="http://schemas.microsoft.com/office/drawing/2014/main" id="{646A3ABB-F90C-E445-8E91-BE8CB385FC8D}"/>
              </a:ext>
            </a:extLst>
          </p:cNvPr>
          <p:cNvSpPr txBox="1"/>
          <p:nvPr/>
        </p:nvSpPr>
        <p:spPr>
          <a:xfrm>
            <a:off x="7086600" y="3810000"/>
            <a:ext cx="3733800" cy="355600"/>
          </a:xfrm>
          <a:prstGeom prst="rect">
            <a:avLst/>
          </a:prstGeom>
          <a:noFill/>
        </p:spPr>
        <p:txBody>
          <a:bodyPr vertOverflow="overflow" vert="horz" wrap="square" rtlCol="0" anchor="t">
            <a:spAutoFit/>
          </a:bodyPr>
          <a:lstStyle/>
          <a:p>
            <a:pPr algn="l"/>
            <a:r>
              <a:rPr lang="en-US" sz="1300">
                <a:solidFill>
                  <a:srgbClr val="E8E0D0"/>
                </a:solidFill>
                <a:latin typeface="Calibri"/>
                <a:cs typeface="Calibri"/>
              </a:rPr>
              <a:t>Operators flying blind on unit economics won't survive scale</a:t>
            </a:r>
          </a:p>
        </p:txBody>
      </p:sp>
      <p:sp>
        <p:nvSpPr>
          <p:cNvPr id="45" name="Rectangle 44">
            <a:extLst>
              <a:ext uri="{FF2B5EF4-FFF2-40B4-BE49-F238E27FC236}">
                <a16:creationId xmlns:a16="http://schemas.microsoft.com/office/drawing/2014/main" id="{F84EDC64-B894-F248-AE84-74C8E72BB002}"/>
              </a:ext>
            </a:extLst>
          </p:cNvPr>
          <p:cNvSpPr/>
          <p:nvPr/>
        </p:nvSpPr>
        <p:spPr>
          <a:xfrm>
            <a:off x="635000" y="5003800"/>
            <a:ext cx="10922000" cy="635000"/>
          </a:xfrm>
          <a:prstGeom prst="rect">
            <a:avLst/>
          </a:prstGeom>
          <a:solidFill>
            <a:srgbClr val="181818"/>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46" name="Rectangle 45">
            <a:extLst>
              <a:ext uri="{FF2B5EF4-FFF2-40B4-BE49-F238E27FC236}">
                <a16:creationId xmlns:a16="http://schemas.microsoft.com/office/drawing/2014/main" id="{0DB78D14-BA06-0245-98B9-B12161DCC1EE}"/>
              </a:ext>
            </a:extLst>
          </p:cNvPr>
          <p:cNvSpPr/>
          <p:nvPr/>
        </p:nvSpPr>
        <p:spPr>
          <a:xfrm>
            <a:off x="635000" y="5003800"/>
            <a:ext cx="38100" cy="635000"/>
          </a:xfrm>
          <a:prstGeom prst="rect">
            <a:avLst/>
          </a:prstGeom>
          <a:solidFill>
            <a:srgbClr val="C8B89A"/>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47" name="TextBox 46">
            <a:extLst>
              <a:ext uri="{FF2B5EF4-FFF2-40B4-BE49-F238E27FC236}">
                <a16:creationId xmlns:a16="http://schemas.microsoft.com/office/drawing/2014/main" id="{55FBED95-C876-EB43-A23B-3FB655629F58}"/>
              </a:ext>
            </a:extLst>
          </p:cNvPr>
          <p:cNvSpPr txBox="1"/>
          <p:nvPr/>
        </p:nvSpPr>
        <p:spPr>
          <a:xfrm>
            <a:off x="787400" y="4445000"/>
            <a:ext cx="10668000" cy="457200"/>
          </a:xfrm>
          <a:prstGeom prst="rect">
            <a:avLst/>
          </a:prstGeom>
          <a:noFill/>
        </p:spPr>
        <p:txBody>
          <a:bodyPr vertOverflow="overflow" vert="horz" wrap="square" rtlCol="0" anchor="t">
            <a:spAutoFit/>
          </a:bodyPr>
          <a:lstStyle/>
          <a:p>
            <a:pPr algn="l"/>
            <a:r>
              <a:rPr lang="en-US" sz="1400">
                <a:solidFill>
                  <a:srgbClr val="E8E0D0"/>
                </a:solidFill>
                <a:latin typeface="Calibri"/>
                <a:cs typeface="Calibri"/>
              </a:rPr>
              <a:t>Business model: $200–500 per aircraft / month SaaS. Basis: Samsara charges ~$100–150/vehicle/month for trucking. Aviation compliance liability justifies the premium. Hypothesis, not yet validated.</a:t>
            </a:r>
          </a:p>
        </p:txBody>
      </p:sp>
      <p:sp>
        <p:nvSpPr>
          <p:cNvPr id="48" name="Rectangle 47">
            <a:extLst>
              <a:ext uri="{FF2B5EF4-FFF2-40B4-BE49-F238E27FC236}">
                <a16:creationId xmlns:a16="http://schemas.microsoft.com/office/drawing/2014/main" id="{14456D18-8CB3-534F-AE0C-17ABA55BA243}"/>
              </a:ext>
            </a:extLst>
          </p:cNvPr>
          <p:cNvSpPr/>
          <p:nvPr/>
        </p:nvSpPr>
        <p:spPr>
          <a:xfrm>
            <a:off x="635000" y="6146800"/>
            <a:ext cx="10922000" cy="12700"/>
          </a:xfrm>
          <a:prstGeom prst="rect">
            <a:avLst/>
          </a:prstGeom>
          <a:solidFill>
            <a:srgbClr val="333333"/>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49" name="TextBox 48">
            <a:extLst>
              <a:ext uri="{FF2B5EF4-FFF2-40B4-BE49-F238E27FC236}">
                <a16:creationId xmlns:a16="http://schemas.microsoft.com/office/drawing/2014/main" id="{E3DE9523-C85F-DE4E-A2DA-23ABBFACB523}"/>
              </a:ext>
            </a:extLst>
          </p:cNvPr>
          <p:cNvSpPr txBox="1"/>
          <p:nvPr/>
        </p:nvSpPr>
        <p:spPr>
          <a:xfrm>
            <a:off x="635000" y="6210300"/>
            <a:ext cx="10922000" cy="190500"/>
          </a:xfrm>
          <a:prstGeom prst="rect">
            <a:avLst/>
          </a:prstGeom>
          <a:noFill/>
        </p:spPr>
        <p:txBody>
          <a:bodyPr vertOverflow="overflow" vert="horz" wrap="square" rtlCol="0" anchor="t">
            <a:spAutoFit/>
          </a:bodyPr>
          <a:lstStyle/>
          <a:p>
            <a:pPr algn="l"/>
            <a:r>
              <a:rPr lang="en-US" sz="1300">
                <a:solidFill>
                  <a:srgbClr val="555555"/>
                </a:solidFill>
                <a:latin typeface="Calibri"/>
                <a:cs typeface="Calibri"/>
              </a:rPr>
              <a:t>eVTOL Research Brief · UIUC 2026          CONFIDENTIAL · FOR DISCUSSION PURPOSES ONLY          05 / 09</a:t>
            </a:r>
          </a:p>
        </p:txBody>
      </p:sp>
    </p:spTree>
    <p:extLst>
      <p:ext uri="{BB962C8B-B14F-4D97-AF65-F5344CB8AC3E}">
        <p14:creationId xmlns:p14="http://schemas.microsoft.com/office/powerpoint/2010/main" val="158429941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E8DFC8">
            <a:alpha val="100000"/>
          </a:srgbClr>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608D8B09-5709-3746-8B1B-1D42477542C4}"/>
              </a:ext>
            </a:extLst>
          </p:cNvPr>
          <p:cNvSpPr txBox="1"/>
          <p:nvPr/>
        </p:nvSpPr>
        <p:spPr>
          <a:xfrm>
            <a:off x="635000" y="355600"/>
            <a:ext cx="3810000" cy="203200"/>
          </a:xfrm>
          <a:prstGeom prst="rect">
            <a:avLst/>
          </a:prstGeom>
          <a:noFill/>
        </p:spPr>
        <p:txBody>
          <a:bodyPr vertOverflow="overflow" vert="horz" wrap="square" rtlCol="0" anchor="t">
            <a:spAutoFit/>
          </a:bodyPr>
          <a:lstStyle/>
          <a:p>
            <a:pPr algn="l"/>
            <a:r>
              <a:rPr lang="en-US" sz="1300">
                <a:solidFill>
                  <a:srgbClr val="555555"/>
                </a:solidFill>
                <a:latin typeface="Calibri"/>
                <a:cs typeface="Calibri"/>
              </a:rPr>
              <a:t>THE TEAM</a:t>
            </a:r>
          </a:p>
        </p:txBody>
      </p:sp>
      <p:sp>
        <p:nvSpPr>
          <p:cNvPr id="3" name="TextBox 2">
            <a:extLst>
              <a:ext uri="{FF2B5EF4-FFF2-40B4-BE49-F238E27FC236}">
                <a16:creationId xmlns:a16="http://schemas.microsoft.com/office/drawing/2014/main" id="{6518BAEB-C99A-4141-9878-85FA8FC0165D}"/>
              </a:ext>
            </a:extLst>
          </p:cNvPr>
          <p:cNvSpPr txBox="1"/>
          <p:nvPr/>
        </p:nvSpPr>
        <p:spPr>
          <a:xfrm>
            <a:off x="635000" y="609600"/>
            <a:ext cx="10922000" cy="825500"/>
          </a:xfrm>
          <a:prstGeom prst="rect">
            <a:avLst/>
          </a:prstGeom>
          <a:noFill/>
        </p:spPr>
        <p:txBody>
          <a:bodyPr vertOverflow="overflow" vert="horz" wrap="square" rtlCol="0" anchor="t">
            <a:spAutoFit/>
          </a:bodyPr>
          <a:lstStyle/>
          <a:p>
            <a:pPr algn="l"/>
            <a:r>
              <a:rPr lang="en-US" sz="2200" b="1">
                <a:solidFill>
                  <a:srgbClr val="1A1A1A"/>
                </a:solidFill>
                <a:latin typeface="Georgia"/>
              </a:rPr>
              <a:t>Two UIUC engineers who understand both
the domain and the software problem.</a:t>
            </a:r>
          </a:p>
        </p:txBody>
      </p:sp>
      <p:sp>
        <p:nvSpPr>
          <p:cNvPr id="4" name="Rectangle 3">
            <a:extLst>
              <a:ext uri="{FF2B5EF4-FFF2-40B4-BE49-F238E27FC236}">
                <a16:creationId xmlns:a16="http://schemas.microsoft.com/office/drawing/2014/main" id="{E5F39FA0-BE4E-EF40-8799-7C7605027340}"/>
              </a:ext>
            </a:extLst>
          </p:cNvPr>
          <p:cNvSpPr/>
          <p:nvPr/>
        </p:nvSpPr>
        <p:spPr>
          <a:xfrm>
            <a:off x="635000" y="1651000"/>
            <a:ext cx="5232400" cy="2921000"/>
          </a:xfrm>
          <a:prstGeom prst="rect">
            <a:avLst/>
          </a:prstGeom>
          <a:solidFill>
            <a:srgbClr val="1E1E1E"/>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5" name="Rectangle 4">
            <a:extLst>
              <a:ext uri="{FF2B5EF4-FFF2-40B4-BE49-F238E27FC236}">
                <a16:creationId xmlns:a16="http://schemas.microsoft.com/office/drawing/2014/main" id="{D5200606-7002-6143-B65D-AFAFC0AABB87}"/>
              </a:ext>
            </a:extLst>
          </p:cNvPr>
          <p:cNvSpPr/>
          <p:nvPr/>
        </p:nvSpPr>
        <p:spPr>
          <a:xfrm>
            <a:off x="635000" y="1651000"/>
            <a:ext cx="38100" cy="2921000"/>
          </a:xfrm>
          <a:prstGeom prst="rect">
            <a:avLst/>
          </a:prstGeom>
          <a:solidFill>
            <a:srgbClr val="C8B89A"/>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6" name="TextBox 5">
            <a:extLst>
              <a:ext uri="{FF2B5EF4-FFF2-40B4-BE49-F238E27FC236}">
                <a16:creationId xmlns:a16="http://schemas.microsoft.com/office/drawing/2014/main" id="{9B37CF88-F9CE-BF4B-913F-985FEDE7B419}"/>
              </a:ext>
            </a:extLst>
          </p:cNvPr>
          <p:cNvSpPr txBox="1"/>
          <p:nvPr/>
        </p:nvSpPr>
        <p:spPr>
          <a:xfrm>
            <a:off x="863600" y="1854200"/>
            <a:ext cx="4775200" cy="279400"/>
          </a:xfrm>
          <a:prstGeom prst="rect">
            <a:avLst/>
          </a:prstGeom>
          <a:noFill/>
        </p:spPr>
        <p:txBody>
          <a:bodyPr vertOverflow="overflow" vert="horz" wrap="square" rtlCol="0" anchor="t">
            <a:spAutoFit/>
          </a:bodyPr>
          <a:lstStyle/>
          <a:p>
            <a:pPr algn="l"/>
            <a:r>
              <a:rPr lang="en-US" sz="1600" b="1">
                <a:solidFill>
                  <a:srgbClr val="1A1A1A"/>
                </a:solidFill>
                <a:latin typeface="Georgia"/>
              </a:rPr>
              <a:t>Aarav Verma</a:t>
            </a:r>
          </a:p>
        </p:txBody>
      </p:sp>
      <p:sp>
        <p:nvSpPr>
          <p:cNvPr id="7" name="TextBox 6">
            <a:extLst>
              <a:ext uri="{FF2B5EF4-FFF2-40B4-BE49-F238E27FC236}">
                <a16:creationId xmlns:a16="http://schemas.microsoft.com/office/drawing/2014/main" id="{A9F77403-FCD7-ED42-A265-C6B46725CA4C}"/>
              </a:ext>
            </a:extLst>
          </p:cNvPr>
          <p:cNvSpPr txBox="1"/>
          <p:nvPr/>
        </p:nvSpPr>
        <p:spPr>
          <a:xfrm>
            <a:off x="863600" y="2159000"/>
            <a:ext cx="4775200" cy="203200"/>
          </a:xfrm>
          <a:prstGeom prst="rect">
            <a:avLst/>
          </a:prstGeom>
          <a:noFill/>
        </p:spPr>
        <p:txBody>
          <a:bodyPr vertOverflow="overflow" vert="horz" wrap="square" rtlCol="0" anchor="t">
            <a:spAutoFit/>
          </a:bodyPr>
          <a:lstStyle/>
          <a:p>
            <a:pPr algn="l"/>
            <a:r>
              <a:rPr lang="en-US" sz="1400" b="1">
                <a:solidFill>
                  <a:srgbClr val="C8B89A"/>
                </a:solidFill>
                <a:latin typeface="Calibri"/>
                <a:cs typeface="Calibri"/>
              </a:rPr>
              <a:t>Aerospace Engineering, UIUC</a:t>
            </a:r>
          </a:p>
        </p:txBody>
      </p:sp>
      <p:sp>
        <p:nvSpPr>
          <p:cNvPr id="8" name="Rectangle 7">
            <a:extLst>
              <a:ext uri="{FF2B5EF4-FFF2-40B4-BE49-F238E27FC236}">
                <a16:creationId xmlns:a16="http://schemas.microsoft.com/office/drawing/2014/main" id="{71145A18-35EB-984F-B28A-74980825A670}"/>
              </a:ext>
            </a:extLst>
          </p:cNvPr>
          <p:cNvSpPr/>
          <p:nvPr/>
        </p:nvSpPr>
        <p:spPr>
          <a:xfrm>
            <a:off x="863600" y="2413000"/>
            <a:ext cx="4775200" cy="12700"/>
          </a:xfrm>
          <a:prstGeom prst="rect">
            <a:avLst/>
          </a:prstGeom>
          <a:solidFill>
            <a:srgbClr val="333333"/>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9" name="TextBox 8">
            <a:extLst>
              <a:ext uri="{FF2B5EF4-FFF2-40B4-BE49-F238E27FC236}">
                <a16:creationId xmlns:a16="http://schemas.microsoft.com/office/drawing/2014/main" id="{48F22F9A-F228-314F-866A-46DA67EB9D6B}"/>
              </a:ext>
            </a:extLst>
          </p:cNvPr>
          <p:cNvSpPr txBox="1"/>
          <p:nvPr/>
        </p:nvSpPr>
        <p:spPr>
          <a:xfrm>
            <a:off x="863600" y="2540000"/>
            <a:ext cx="4775200" cy="2032000"/>
          </a:xfrm>
          <a:prstGeom prst="rect">
            <a:avLst/>
          </a:prstGeom>
          <a:noFill/>
        </p:spPr>
        <p:txBody>
          <a:bodyPr vertOverflow="overflow" vert="horz" wrap="square" rtlCol="0" anchor="t">
            <a:spAutoFit/>
          </a:bodyPr>
          <a:lstStyle/>
          <a:p>
            <a:pPr algn="l"/>
            <a:r>
              <a:rPr lang="en-US" sz="1300">
                <a:solidFill>
                  <a:srgbClr val="E8E0D0"/>
                </a:solidFill>
                <a:latin typeface="Calibri"/>
                <a:cs typeface="Calibri"/>
              </a:rPr>
              <a:t>Product vision, outreach, pitch. Understands FAA regulatory landscape, eVTOL certification, and drone vs. eVTOL operational differences.</a:t>
            </a:r>
          </a:p>
        </p:txBody>
      </p:sp>
      <p:sp>
        <p:nvSpPr>
          <p:cNvPr id="16" name="Rectangle 15">
            <a:extLst>
              <a:ext uri="{FF2B5EF4-FFF2-40B4-BE49-F238E27FC236}">
                <a16:creationId xmlns:a16="http://schemas.microsoft.com/office/drawing/2014/main" id="{FED62F5B-77BA-FD45-A2A1-D71A3F0D511B}"/>
              </a:ext>
            </a:extLst>
          </p:cNvPr>
          <p:cNvSpPr/>
          <p:nvPr/>
        </p:nvSpPr>
        <p:spPr>
          <a:xfrm>
            <a:off x="6324600" y="1651000"/>
            <a:ext cx="5232400" cy="2921000"/>
          </a:xfrm>
          <a:prstGeom prst="rect">
            <a:avLst/>
          </a:prstGeom>
          <a:solidFill>
            <a:srgbClr val="1E1E1E"/>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17" name="Rectangle 16">
            <a:extLst>
              <a:ext uri="{FF2B5EF4-FFF2-40B4-BE49-F238E27FC236}">
                <a16:creationId xmlns:a16="http://schemas.microsoft.com/office/drawing/2014/main" id="{30B02B0A-5624-E748-A6E8-4101CF9E33A3}"/>
              </a:ext>
            </a:extLst>
          </p:cNvPr>
          <p:cNvSpPr/>
          <p:nvPr/>
        </p:nvSpPr>
        <p:spPr>
          <a:xfrm>
            <a:off x="6324600" y="1651000"/>
            <a:ext cx="38100" cy="2921000"/>
          </a:xfrm>
          <a:prstGeom prst="rect">
            <a:avLst/>
          </a:prstGeom>
          <a:solidFill>
            <a:srgbClr val="C8B89A"/>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18" name="TextBox 17">
            <a:extLst>
              <a:ext uri="{FF2B5EF4-FFF2-40B4-BE49-F238E27FC236}">
                <a16:creationId xmlns:a16="http://schemas.microsoft.com/office/drawing/2014/main" id="{1D26812E-1EEF-E047-AE7C-142FE5DCCBE0}"/>
              </a:ext>
            </a:extLst>
          </p:cNvPr>
          <p:cNvSpPr txBox="1"/>
          <p:nvPr/>
        </p:nvSpPr>
        <p:spPr>
          <a:xfrm>
            <a:off x="6553200" y="1854200"/>
            <a:ext cx="4775200" cy="279400"/>
          </a:xfrm>
          <a:prstGeom prst="rect">
            <a:avLst/>
          </a:prstGeom>
          <a:noFill/>
        </p:spPr>
        <p:txBody>
          <a:bodyPr vertOverflow="overflow" vert="horz" wrap="square" rtlCol="0" anchor="t">
            <a:spAutoFit/>
          </a:bodyPr>
          <a:lstStyle/>
          <a:p>
            <a:pPr algn="l"/>
            <a:r>
              <a:rPr lang="en-US" sz="1600" b="1">
                <a:solidFill>
                  <a:srgbClr val="1A1A1A"/>
                </a:solidFill>
                <a:latin typeface="Georgia"/>
              </a:rPr>
              <a:t>Tharun</a:t>
            </a:r>
          </a:p>
        </p:txBody>
      </p:sp>
      <p:sp>
        <p:nvSpPr>
          <p:cNvPr id="19" name="TextBox 18">
            <a:extLst>
              <a:ext uri="{FF2B5EF4-FFF2-40B4-BE49-F238E27FC236}">
                <a16:creationId xmlns:a16="http://schemas.microsoft.com/office/drawing/2014/main" id="{3FF6AB60-850D-CD45-AB7D-EA2353A9828A}"/>
              </a:ext>
            </a:extLst>
          </p:cNvPr>
          <p:cNvSpPr txBox="1"/>
          <p:nvPr/>
        </p:nvSpPr>
        <p:spPr>
          <a:xfrm>
            <a:off x="6553200" y="2159000"/>
            <a:ext cx="4775200" cy="203200"/>
          </a:xfrm>
          <a:prstGeom prst="rect">
            <a:avLst/>
          </a:prstGeom>
          <a:noFill/>
        </p:spPr>
        <p:txBody>
          <a:bodyPr vertOverflow="overflow" vert="horz" wrap="square" rtlCol="0" anchor="t">
            <a:spAutoFit/>
          </a:bodyPr>
          <a:lstStyle/>
          <a:p>
            <a:pPr algn="l"/>
            <a:r>
              <a:rPr lang="en-US" sz="1400" b="1">
                <a:solidFill>
                  <a:srgbClr val="C8B89A"/>
                </a:solidFill>
                <a:latin typeface="Calibri"/>
                <a:cs typeface="Calibri"/>
              </a:rPr>
              <a:t>Materials Science, UIUC · Co-founder</a:t>
            </a:r>
          </a:p>
        </p:txBody>
      </p:sp>
      <p:sp>
        <p:nvSpPr>
          <p:cNvPr id="23" name="Rectangle 22">
            <a:extLst>
              <a:ext uri="{FF2B5EF4-FFF2-40B4-BE49-F238E27FC236}">
                <a16:creationId xmlns:a16="http://schemas.microsoft.com/office/drawing/2014/main" id="{2D7C8D82-AAD6-7E4C-9F10-96F557459254}"/>
              </a:ext>
            </a:extLst>
          </p:cNvPr>
          <p:cNvSpPr/>
          <p:nvPr/>
        </p:nvSpPr>
        <p:spPr>
          <a:xfrm>
            <a:off x="6553200" y="2413000"/>
            <a:ext cx="4775200" cy="12700"/>
          </a:xfrm>
          <a:prstGeom prst="rect">
            <a:avLst/>
          </a:prstGeom>
          <a:solidFill>
            <a:srgbClr val="333333"/>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24" name="TextBox 23">
            <a:extLst>
              <a:ext uri="{FF2B5EF4-FFF2-40B4-BE49-F238E27FC236}">
                <a16:creationId xmlns:a16="http://schemas.microsoft.com/office/drawing/2014/main" id="{9CDC62FA-0C7A-2849-9639-948960BA5C1F}"/>
              </a:ext>
            </a:extLst>
          </p:cNvPr>
          <p:cNvSpPr txBox="1"/>
          <p:nvPr/>
        </p:nvSpPr>
        <p:spPr>
          <a:xfrm>
            <a:off x="6553200" y="2540000"/>
            <a:ext cx="4775200" cy="2032000"/>
          </a:xfrm>
          <a:prstGeom prst="rect">
            <a:avLst/>
          </a:prstGeom>
          <a:noFill/>
        </p:spPr>
        <p:txBody>
          <a:bodyPr vertOverflow="overflow" vert="horz" wrap="square" rtlCol="0" anchor="t">
            <a:spAutoFit/>
          </a:bodyPr>
          <a:lstStyle/>
          <a:p>
            <a:pPr algn="l"/>
            <a:r>
              <a:rPr lang="en-US" sz="1300">
                <a:solidFill>
                  <a:srgbClr val="E8E0D0"/>
                </a:solidFill>
                <a:latin typeface="Calibri"/>
                <a:cs typeface="Calibri"/>
              </a:rPr>
              <a:t>Battery degradation modeling, materials-level understanding of eVTOL hardware — directly applicable to SOC/SOH tracking and maintenance prediction.</a:t>
            </a:r>
          </a:p>
        </p:txBody>
      </p:sp>
      <p:sp>
        <p:nvSpPr>
          <p:cNvPr id="25" name="Rectangle 24">
            <a:extLst>
              <a:ext uri="{FF2B5EF4-FFF2-40B4-BE49-F238E27FC236}">
                <a16:creationId xmlns:a16="http://schemas.microsoft.com/office/drawing/2014/main" id="{678F9CAF-3BE6-E744-9BF4-560A34C0D9EF}"/>
              </a:ext>
            </a:extLst>
          </p:cNvPr>
          <p:cNvSpPr/>
          <p:nvPr/>
        </p:nvSpPr>
        <p:spPr>
          <a:xfrm>
            <a:off x="635000" y="4699000"/>
            <a:ext cx="10922000" cy="1270000"/>
          </a:xfrm>
          <a:prstGeom prst="rect">
            <a:avLst/>
          </a:prstGeom>
          <a:solidFill>
            <a:srgbClr val="181818"/>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26" name="Rectangle 25">
            <a:extLst>
              <a:ext uri="{FF2B5EF4-FFF2-40B4-BE49-F238E27FC236}">
                <a16:creationId xmlns:a16="http://schemas.microsoft.com/office/drawing/2014/main" id="{5525BF2F-230E-7E45-A34D-53FCC7D5066D}"/>
              </a:ext>
            </a:extLst>
          </p:cNvPr>
          <p:cNvSpPr/>
          <p:nvPr/>
        </p:nvSpPr>
        <p:spPr>
          <a:xfrm>
            <a:off x="635000" y="4699000"/>
            <a:ext cx="38100" cy="1270000"/>
          </a:xfrm>
          <a:prstGeom prst="rect">
            <a:avLst/>
          </a:prstGeom>
          <a:solidFill>
            <a:srgbClr val="C8B89A"/>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27" name="TextBox 26">
            <a:extLst>
              <a:ext uri="{FF2B5EF4-FFF2-40B4-BE49-F238E27FC236}">
                <a16:creationId xmlns:a16="http://schemas.microsoft.com/office/drawing/2014/main" id="{FBC48C0D-C50C-2B4D-B7D5-DFC986900BE5}"/>
              </a:ext>
            </a:extLst>
          </p:cNvPr>
          <p:cNvSpPr txBox="1"/>
          <p:nvPr/>
        </p:nvSpPr>
        <p:spPr>
          <a:xfrm>
            <a:off x="787400" y="4826000"/>
            <a:ext cx="10668000" cy="1016000"/>
          </a:xfrm>
          <a:prstGeom prst="rect">
            <a:avLst/>
          </a:prstGeom>
          <a:noFill/>
        </p:spPr>
        <p:txBody>
          <a:bodyPr vertOverflow="overflow" vert="horz" wrap="square" rtlCol="0" anchor="t">
            <a:spAutoFit/>
          </a:bodyPr>
          <a:lstStyle/>
          <a:p>
            <a:pPr algn="l"/>
            <a:r>
              <a:rPr lang="en-US" sz="1300">
                <a:solidFill>
                  <a:srgbClr val="E8E0D0"/>
                </a:solidFill>
                <a:latin typeface="Calibri"/>
                <a:cs typeface="Calibri"/>
              </a:rPr>
              <a:t>“Why Archer specifically: You’re furthest along toward commercial operations. The fleet ops software decisions being made right now will shape how the whole industry approaches this problem. We want to understand how you’re thinking about it before we build the wrong thing.”</a:t>
            </a:r>
          </a:p>
        </p:txBody>
      </p:sp>
      <p:sp>
        <p:nvSpPr>
          <p:cNvPr id="28" name="Rectangle 27">
            <a:extLst>
              <a:ext uri="{FF2B5EF4-FFF2-40B4-BE49-F238E27FC236}">
                <a16:creationId xmlns:a16="http://schemas.microsoft.com/office/drawing/2014/main" id="{A3B0EB1B-C1C3-BE45-A28F-3E4694A39562}"/>
              </a:ext>
            </a:extLst>
          </p:cNvPr>
          <p:cNvSpPr/>
          <p:nvPr/>
        </p:nvSpPr>
        <p:spPr>
          <a:xfrm>
            <a:off x="635000" y="6146800"/>
            <a:ext cx="10922000" cy="12700"/>
          </a:xfrm>
          <a:prstGeom prst="rect">
            <a:avLst/>
          </a:prstGeom>
          <a:solidFill>
            <a:srgbClr val="333333"/>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29" name="TextBox 28">
            <a:extLst>
              <a:ext uri="{FF2B5EF4-FFF2-40B4-BE49-F238E27FC236}">
                <a16:creationId xmlns:a16="http://schemas.microsoft.com/office/drawing/2014/main" id="{5A0FDBBF-1A60-F14A-93C0-D126BC47EF35}"/>
              </a:ext>
            </a:extLst>
          </p:cNvPr>
          <p:cNvSpPr txBox="1"/>
          <p:nvPr/>
        </p:nvSpPr>
        <p:spPr>
          <a:xfrm>
            <a:off x="635000" y="6197600"/>
            <a:ext cx="10922000" cy="177800"/>
          </a:xfrm>
          <a:prstGeom prst="rect">
            <a:avLst/>
          </a:prstGeom>
          <a:noFill/>
        </p:spPr>
        <p:txBody>
          <a:bodyPr vertOverflow="overflow" vert="horz" wrap="square" rtlCol="0" anchor="t">
            <a:spAutoFit/>
          </a:bodyPr>
          <a:lstStyle/>
          <a:p>
            <a:pPr algn="l"/>
            <a:r>
              <a:rPr lang="en-US" sz="1300">
                <a:solidFill>
                  <a:srgbClr val="555555"/>
                </a:solidFill>
                <a:latin typeface="Calibri"/>
                <a:cs typeface="Calibri"/>
              </a:rPr>
              <a:t>eVTOL Research Brief · UIUC 2026          CONFIDENTIAL · FOR DISCUSSION PURPOSES ONLY          06 / 09</a:t>
            </a:r>
          </a:p>
        </p:txBody>
      </p:sp>
    </p:spTree>
    <p:extLst>
      <p:ext uri="{BB962C8B-B14F-4D97-AF65-F5344CB8AC3E}">
        <p14:creationId xmlns:p14="http://schemas.microsoft.com/office/powerpoint/2010/main" val="102755561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E8DFC8">
            <a:alpha val="100000"/>
          </a:srgbClr>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1CF7AAAE-B3C0-8D48-AFCC-A63935E7EA76}"/>
              </a:ext>
            </a:extLst>
          </p:cNvPr>
          <p:cNvSpPr txBox="1"/>
          <p:nvPr/>
        </p:nvSpPr>
        <p:spPr>
          <a:xfrm>
            <a:off x="635000" y="355600"/>
            <a:ext cx="5080000" cy="203200"/>
          </a:xfrm>
          <a:prstGeom prst="rect">
            <a:avLst/>
          </a:prstGeom>
          <a:noFill/>
        </p:spPr>
        <p:txBody>
          <a:bodyPr vertOverflow="overflow" vert="horz" wrap="square" rtlCol="0" anchor="t">
            <a:spAutoFit/>
          </a:bodyPr>
          <a:lstStyle/>
          <a:p>
            <a:pPr algn="l"/>
            <a:r>
              <a:rPr lang="en-US" sz="1300">
                <a:solidFill>
                  <a:srgbClr val="555555"/>
                </a:solidFill>
                <a:latin typeface="Calibri"/>
                <a:cs typeface="Calibri"/>
              </a:rPr>
              <a:t>WHY WE’RE REACHING OUT</a:t>
            </a:r>
          </a:p>
        </p:txBody>
      </p:sp>
      <p:sp>
        <p:nvSpPr>
          <p:cNvPr id="3" name="TextBox 2">
            <a:extLst>
              <a:ext uri="{FF2B5EF4-FFF2-40B4-BE49-F238E27FC236}">
                <a16:creationId xmlns:a16="http://schemas.microsoft.com/office/drawing/2014/main" id="{4A193D96-38BD-9445-B9D1-6602C3E39EDC}"/>
              </a:ext>
            </a:extLst>
          </p:cNvPr>
          <p:cNvSpPr txBox="1"/>
          <p:nvPr/>
        </p:nvSpPr>
        <p:spPr>
          <a:xfrm>
            <a:off x="635000" y="609600"/>
            <a:ext cx="10922000" cy="635000"/>
          </a:xfrm>
          <a:prstGeom prst="rect">
            <a:avLst/>
          </a:prstGeom>
          <a:noFill/>
        </p:spPr>
        <p:txBody>
          <a:bodyPr vertOverflow="overflow" vert="horz" wrap="square" rtlCol="0" anchor="t">
            <a:spAutoFit/>
          </a:bodyPr>
          <a:lstStyle/>
          <a:p>
            <a:pPr algn="l"/>
            <a:r>
              <a:rPr lang="en-US" sz="2200" b="1">
                <a:solidFill>
                  <a:srgbClr val="1A1A1A"/>
                </a:solidFill>
                <a:latin typeface="Georgia"/>
              </a:rPr>
              <a:t>Three questions — and an open door if any of this resonates.</a:t>
            </a:r>
          </a:p>
        </p:txBody>
      </p:sp>
      <p:sp>
        <p:nvSpPr>
          <p:cNvPr id="4" name="Rectangle 3">
            <a:extLst>
              <a:ext uri="{FF2B5EF4-FFF2-40B4-BE49-F238E27FC236}">
                <a16:creationId xmlns:a16="http://schemas.microsoft.com/office/drawing/2014/main" id="{2AF5D17E-7ECA-9945-8175-DD6B99E38048}"/>
              </a:ext>
            </a:extLst>
          </p:cNvPr>
          <p:cNvSpPr/>
          <p:nvPr/>
        </p:nvSpPr>
        <p:spPr>
          <a:xfrm>
            <a:off x="635000" y="1422400"/>
            <a:ext cx="10922000" cy="1066800"/>
          </a:xfrm>
          <a:prstGeom prst="rect">
            <a:avLst/>
          </a:prstGeom>
          <a:solidFill>
            <a:srgbClr val="1E1E1E"/>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5" name="TextBox 4">
            <a:extLst>
              <a:ext uri="{FF2B5EF4-FFF2-40B4-BE49-F238E27FC236}">
                <a16:creationId xmlns:a16="http://schemas.microsoft.com/office/drawing/2014/main" id="{DBAB8700-FAA2-1646-A509-48FDFFDEE1E8}"/>
              </a:ext>
            </a:extLst>
          </p:cNvPr>
          <p:cNvSpPr txBox="1"/>
          <p:nvPr/>
        </p:nvSpPr>
        <p:spPr>
          <a:xfrm>
            <a:off x="812800" y="1600200"/>
            <a:ext cx="457200" cy="457200"/>
          </a:xfrm>
          <a:prstGeom prst="rect">
            <a:avLst/>
          </a:prstGeom>
          <a:noFill/>
        </p:spPr>
        <p:txBody>
          <a:bodyPr vertOverflow="overflow" vert="horz" wrap="square" rtlCol="0" anchor="t">
            <a:spAutoFit/>
          </a:bodyPr>
          <a:lstStyle/>
          <a:p>
            <a:pPr algn="l"/>
            <a:r>
              <a:rPr lang="en-US" sz="2200" b="1">
                <a:solidFill>
                  <a:srgbClr val="C8B89A"/>
                </a:solidFill>
                <a:latin typeface="Georgia"/>
              </a:rPr>
              <a:t>01</a:t>
            </a:r>
          </a:p>
        </p:txBody>
      </p:sp>
      <p:sp>
        <p:nvSpPr>
          <p:cNvPr id="6" name="Rectangle 5">
            <a:extLst>
              <a:ext uri="{FF2B5EF4-FFF2-40B4-BE49-F238E27FC236}">
                <a16:creationId xmlns:a16="http://schemas.microsoft.com/office/drawing/2014/main" id="{5E7DEB85-E212-AC4C-9174-E908FEED4E28}"/>
              </a:ext>
            </a:extLst>
          </p:cNvPr>
          <p:cNvSpPr/>
          <p:nvPr/>
        </p:nvSpPr>
        <p:spPr>
          <a:xfrm>
            <a:off x="1371600" y="1574800"/>
            <a:ext cx="12700" cy="762000"/>
          </a:xfrm>
          <a:prstGeom prst="rect">
            <a:avLst/>
          </a:prstGeom>
          <a:solidFill>
            <a:srgbClr val="333333"/>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7" name="TextBox 6">
            <a:extLst>
              <a:ext uri="{FF2B5EF4-FFF2-40B4-BE49-F238E27FC236}">
                <a16:creationId xmlns:a16="http://schemas.microsoft.com/office/drawing/2014/main" id="{1901FCB9-01BB-DD4D-9BDB-16AF96AE506D}"/>
              </a:ext>
            </a:extLst>
          </p:cNvPr>
          <p:cNvSpPr txBox="1"/>
          <p:nvPr/>
        </p:nvSpPr>
        <p:spPr>
          <a:xfrm>
            <a:off x="1524000" y="1549400"/>
            <a:ext cx="9779000" cy="812800"/>
          </a:xfrm>
          <a:prstGeom prst="rect">
            <a:avLst/>
          </a:prstGeom>
          <a:noFill/>
        </p:spPr>
        <p:txBody>
          <a:bodyPr vertOverflow="overflow" vert="horz" wrap="square" rtlCol="0" anchor="t">
            <a:spAutoFit/>
          </a:bodyPr>
          <a:lstStyle/>
          <a:p>
            <a:pPr algn="l"/>
            <a:r>
              <a:rPr lang="en-US" sz="1300">
                <a:solidFill>
                  <a:srgbClr val="E8E0D0"/>
                </a:solidFill>
                <a:latin typeface="Calibri"/>
                <a:cs typeface="Calibri"/>
              </a:rPr>
              <a:t>Does Archer have — or plan to build — purpose-built fleet operations software? (Specifically the fleet ops layer: dispatch, maintenance tracking, FAA compliance logging — not Palantir/NVIDIA/SpaceX which cover autonomy and flight controls.)</a:t>
            </a:r>
          </a:p>
        </p:txBody>
      </p:sp>
      <p:sp>
        <p:nvSpPr>
          <p:cNvPr id="8" name="Rectangle 7">
            <a:extLst>
              <a:ext uri="{FF2B5EF4-FFF2-40B4-BE49-F238E27FC236}">
                <a16:creationId xmlns:a16="http://schemas.microsoft.com/office/drawing/2014/main" id="{8A76DAC1-FDD1-DC43-9B49-42B7C2BF4F5F}"/>
              </a:ext>
            </a:extLst>
          </p:cNvPr>
          <p:cNvSpPr/>
          <p:nvPr/>
        </p:nvSpPr>
        <p:spPr>
          <a:xfrm>
            <a:off x="635000" y="2641600"/>
            <a:ext cx="10922000" cy="1066800"/>
          </a:xfrm>
          <a:prstGeom prst="rect">
            <a:avLst/>
          </a:prstGeom>
          <a:solidFill>
            <a:srgbClr val="1E1E1E"/>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9" name="TextBox 8">
            <a:extLst>
              <a:ext uri="{FF2B5EF4-FFF2-40B4-BE49-F238E27FC236}">
                <a16:creationId xmlns:a16="http://schemas.microsoft.com/office/drawing/2014/main" id="{AAA1FC77-2654-E843-A8E0-F0B587802D0D}"/>
              </a:ext>
            </a:extLst>
          </p:cNvPr>
          <p:cNvSpPr txBox="1"/>
          <p:nvPr/>
        </p:nvSpPr>
        <p:spPr>
          <a:xfrm>
            <a:off x="812800" y="2819400"/>
            <a:ext cx="457200" cy="457200"/>
          </a:xfrm>
          <a:prstGeom prst="rect">
            <a:avLst/>
          </a:prstGeom>
          <a:noFill/>
        </p:spPr>
        <p:txBody>
          <a:bodyPr vertOverflow="overflow" vert="horz" wrap="square" rtlCol="0" anchor="t">
            <a:spAutoFit/>
          </a:bodyPr>
          <a:lstStyle/>
          <a:p>
            <a:pPr algn="l"/>
            <a:r>
              <a:rPr lang="en-US" sz="2200" b="1">
                <a:solidFill>
                  <a:srgbClr val="C8B89A"/>
                </a:solidFill>
                <a:latin typeface="Georgia"/>
              </a:rPr>
              <a:t>02</a:t>
            </a:r>
          </a:p>
        </p:txBody>
      </p:sp>
      <p:sp>
        <p:nvSpPr>
          <p:cNvPr id="13" name="Rectangle 12">
            <a:extLst>
              <a:ext uri="{FF2B5EF4-FFF2-40B4-BE49-F238E27FC236}">
                <a16:creationId xmlns:a16="http://schemas.microsoft.com/office/drawing/2014/main" id="{67422CEE-5183-FA4A-9754-D42030D8F4BF}"/>
              </a:ext>
            </a:extLst>
          </p:cNvPr>
          <p:cNvSpPr/>
          <p:nvPr/>
        </p:nvSpPr>
        <p:spPr>
          <a:xfrm>
            <a:off x="1371600" y="2794000"/>
            <a:ext cx="12700" cy="762000"/>
          </a:xfrm>
          <a:prstGeom prst="rect">
            <a:avLst/>
          </a:prstGeom>
          <a:solidFill>
            <a:srgbClr val="333333"/>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14" name="TextBox 13">
            <a:extLst>
              <a:ext uri="{FF2B5EF4-FFF2-40B4-BE49-F238E27FC236}">
                <a16:creationId xmlns:a16="http://schemas.microsoft.com/office/drawing/2014/main" id="{BF25C09F-C5CF-2A48-A56C-52F6F61FD981}"/>
              </a:ext>
            </a:extLst>
          </p:cNvPr>
          <p:cNvSpPr txBox="1"/>
          <p:nvPr/>
        </p:nvSpPr>
        <p:spPr>
          <a:xfrm>
            <a:off x="1524000" y="2768600"/>
            <a:ext cx="9779000" cy="812800"/>
          </a:xfrm>
          <a:prstGeom prst="rect">
            <a:avLst/>
          </a:prstGeom>
          <a:noFill/>
        </p:spPr>
        <p:txBody>
          <a:bodyPr vertOverflow="overflow" vert="horz" wrap="square" rtlCol="0" anchor="t">
            <a:spAutoFit/>
          </a:bodyPr>
          <a:lstStyle/>
          <a:p>
            <a:pPr algn="l"/>
            <a:r>
              <a:rPr lang="en-US" sz="1300">
                <a:solidFill>
                  <a:srgbClr val="E8E0D0"/>
                </a:solidFill>
                <a:latin typeface="Calibri"/>
                <a:cs typeface="Calibri"/>
              </a:rPr>
              <a:t>If building in-house, is there appetite to work with an outside team on specific components — or pilot a third-party platform? We’re not assuming yes. Genuinely asking.</a:t>
            </a:r>
          </a:p>
        </p:txBody>
      </p:sp>
      <p:sp>
        <p:nvSpPr>
          <p:cNvPr id="15" name="Rectangle 14">
            <a:extLst>
              <a:ext uri="{FF2B5EF4-FFF2-40B4-BE49-F238E27FC236}">
                <a16:creationId xmlns:a16="http://schemas.microsoft.com/office/drawing/2014/main" id="{AAD78484-ECE5-0143-AC8F-A7A60192600C}"/>
              </a:ext>
            </a:extLst>
          </p:cNvPr>
          <p:cNvSpPr/>
          <p:nvPr/>
        </p:nvSpPr>
        <p:spPr>
          <a:xfrm>
            <a:off x="635000" y="3860800"/>
            <a:ext cx="10922000" cy="1066800"/>
          </a:xfrm>
          <a:prstGeom prst="rect">
            <a:avLst/>
          </a:prstGeom>
          <a:solidFill>
            <a:srgbClr val="1E1E1E"/>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16" name="TextBox 15">
            <a:extLst>
              <a:ext uri="{FF2B5EF4-FFF2-40B4-BE49-F238E27FC236}">
                <a16:creationId xmlns:a16="http://schemas.microsoft.com/office/drawing/2014/main" id="{FC2BD4ED-F2F6-9F45-B6B8-CDC27B8B0F3B}"/>
              </a:ext>
            </a:extLst>
          </p:cNvPr>
          <p:cNvSpPr txBox="1"/>
          <p:nvPr/>
        </p:nvSpPr>
        <p:spPr>
          <a:xfrm>
            <a:off x="812800" y="4038600"/>
            <a:ext cx="457200" cy="457200"/>
          </a:xfrm>
          <a:prstGeom prst="rect">
            <a:avLst/>
          </a:prstGeom>
          <a:noFill/>
        </p:spPr>
        <p:txBody>
          <a:bodyPr vertOverflow="overflow" vert="horz" wrap="square" rtlCol="0" anchor="t">
            <a:spAutoFit/>
          </a:bodyPr>
          <a:lstStyle/>
          <a:p>
            <a:pPr algn="l"/>
            <a:r>
              <a:rPr lang="en-US" sz="2200" b="1">
                <a:solidFill>
                  <a:srgbClr val="C8B89A"/>
                </a:solidFill>
                <a:latin typeface="Georgia"/>
              </a:rPr>
              <a:t>03</a:t>
            </a:r>
          </a:p>
        </p:txBody>
      </p:sp>
      <p:sp>
        <p:nvSpPr>
          <p:cNvPr id="17" name="Rectangle 16">
            <a:extLst>
              <a:ext uri="{FF2B5EF4-FFF2-40B4-BE49-F238E27FC236}">
                <a16:creationId xmlns:a16="http://schemas.microsoft.com/office/drawing/2014/main" id="{EBF78ECF-D402-AA4D-B995-E53078E51DE8}"/>
              </a:ext>
            </a:extLst>
          </p:cNvPr>
          <p:cNvSpPr/>
          <p:nvPr/>
        </p:nvSpPr>
        <p:spPr>
          <a:xfrm>
            <a:off x="1371600" y="4013200"/>
            <a:ext cx="12700" cy="762000"/>
          </a:xfrm>
          <a:prstGeom prst="rect">
            <a:avLst/>
          </a:prstGeom>
          <a:solidFill>
            <a:srgbClr val="333333"/>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18" name="TextBox 17">
            <a:extLst>
              <a:ext uri="{FF2B5EF4-FFF2-40B4-BE49-F238E27FC236}">
                <a16:creationId xmlns:a16="http://schemas.microsoft.com/office/drawing/2014/main" id="{F2B08D8C-B085-004A-9FD4-53D866DAE2E1}"/>
              </a:ext>
            </a:extLst>
          </p:cNvPr>
          <p:cNvSpPr txBox="1"/>
          <p:nvPr/>
        </p:nvSpPr>
        <p:spPr>
          <a:xfrm>
            <a:off x="1524000" y="3987800"/>
            <a:ext cx="9779000" cy="812800"/>
          </a:xfrm>
          <a:prstGeom prst="rect">
            <a:avLst/>
          </a:prstGeom>
          <a:noFill/>
        </p:spPr>
        <p:txBody>
          <a:bodyPr vertOverflow="overflow" vert="horz" wrap="square" rtlCol="0" anchor="t">
            <a:spAutoFit/>
          </a:bodyPr>
          <a:lstStyle/>
          <a:p>
            <a:pPr algn="l"/>
            <a:r>
              <a:rPr lang="en-US" sz="1300">
                <a:solidFill>
                  <a:srgbClr val="E8E0D0"/>
                </a:solidFill>
                <a:latin typeface="Calibri"/>
                <a:cs typeface="Calibri"/>
              </a:rPr>
              <a:t>Who at Archer is the right person to continue this conversation? Looking for whoever owns the fleet operations or digital technology roadmap — Director of Digital Technology Program Management or senior engineer on ops software.</a:t>
            </a:r>
          </a:p>
        </p:txBody>
      </p:sp>
      <p:sp>
        <p:nvSpPr>
          <p:cNvPr id="19" name="Rectangle 18">
            <a:extLst>
              <a:ext uri="{FF2B5EF4-FFF2-40B4-BE49-F238E27FC236}">
                <a16:creationId xmlns:a16="http://schemas.microsoft.com/office/drawing/2014/main" id="{86F6064B-23AD-4848-98EF-56BEB602C692}"/>
              </a:ext>
            </a:extLst>
          </p:cNvPr>
          <p:cNvSpPr/>
          <p:nvPr/>
        </p:nvSpPr>
        <p:spPr>
          <a:xfrm>
            <a:off x="635000" y="5156200"/>
            <a:ext cx="10922000" cy="406400"/>
          </a:xfrm>
          <a:prstGeom prst="rect">
            <a:avLst/>
          </a:prstGeom>
          <a:solidFill>
            <a:srgbClr val="181818"/>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20" name="Rectangle 19">
            <a:extLst>
              <a:ext uri="{FF2B5EF4-FFF2-40B4-BE49-F238E27FC236}">
                <a16:creationId xmlns:a16="http://schemas.microsoft.com/office/drawing/2014/main" id="{43527533-C2E4-0B40-9075-68FD75492904}"/>
              </a:ext>
            </a:extLst>
          </p:cNvPr>
          <p:cNvSpPr/>
          <p:nvPr/>
        </p:nvSpPr>
        <p:spPr>
          <a:xfrm>
            <a:off x="635000" y="5156200"/>
            <a:ext cx="38100" cy="406400"/>
          </a:xfrm>
          <a:prstGeom prst="rect">
            <a:avLst/>
          </a:prstGeom>
          <a:solidFill>
            <a:srgbClr val="C8B89A"/>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21" name="TextBox 20">
            <a:extLst>
              <a:ext uri="{FF2B5EF4-FFF2-40B4-BE49-F238E27FC236}">
                <a16:creationId xmlns:a16="http://schemas.microsoft.com/office/drawing/2014/main" id="{99314D97-0BD4-534F-8C89-D9B041D6D5F8}"/>
              </a:ext>
            </a:extLst>
          </p:cNvPr>
          <p:cNvSpPr txBox="1"/>
          <p:nvPr/>
        </p:nvSpPr>
        <p:spPr>
          <a:xfrm>
            <a:off x="787400" y="5257800"/>
            <a:ext cx="10668000" cy="228600"/>
          </a:xfrm>
          <a:prstGeom prst="rect">
            <a:avLst/>
          </a:prstGeom>
          <a:noFill/>
        </p:spPr>
        <p:txBody>
          <a:bodyPr vertOverflow="overflow" vert="horz" wrap="square" rtlCol="0" anchor="t">
            <a:spAutoFit/>
          </a:bodyPr>
          <a:lstStyle/>
          <a:p>
            <a:pPr algn="l"/>
            <a:r>
              <a:rPr lang="en-US" sz="1400">
                <a:solidFill>
                  <a:srgbClr val="E8E0D0"/>
                </a:solidFill>
                <a:latin typeface="Calibri"/>
                <a:cs typeface="Calibri"/>
              </a:rPr>
              <a:t>“We’re not asking for funding, partnerships, or anything commercial. Just a conversation with the right person.”</a:t>
            </a:r>
          </a:p>
        </p:txBody>
      </p:sp>
      <p:sp>
        <p:nvSpPr>
          <p:cNvPr id="22" name="TextBox 21">
            <a:extLst>
              <a:ext uri="{FF2B5EF4-FFF2-40B4-BE49-F238E27FC236}">
                <a16:creationId xmlns:a16="http://schemas.microsoft.com/office/drawing/2014/main" id="{172919C9-2EA8-2F4E-9023-21C631132F5E}"/>
              </a:ext>
            </a:extLst>
          </p:cNvPr>
          <p:cNvSpPr txBox="1"/>
          <p:nvPr/>
        </p:nvSpPr>
        <p:spPr>
          <a:xfrm>
            <a:off x="635000" y="5664200"/>
            <a:ext cx="10922000" cy="228600"/>
          </a:xfrm>
          <a:prstGeom prst="rect">
            <a:avLst/>
          </a:prstGeom>
          <a:noFill/>
        </p:spPr>
        <p:txBody>
          <a:bodyPr vertOverflow="overflow" vert="horz" wrap="square" rtlCol="0" anchor="t">
            <a:spAutoFit/>
          </a:bodyPr>
          <a:lstStyle/>
          <a:p>
            <a:pPr algn="l"/>
            <a:r>
              <a:rPr lang="en-US" sz="1300">
                <a:solidFill>
                  <a:srgbClr val="1A1A1A"/>
                </a:solidFill>
                <a:latin typeface="Calibri"/>
                <a:cs typeface="Calibri"/>
              </a:rPr>
              <a:t>Aarav Verma  ·  Aerospace Engineering, UIUC  ·  vermaa0118@gmail.com  ·  [phone]</a:t>
            </a:r>
          </a:p>
        </p:txBody>
      </p:sp>
      <p:sp>
        <p:nvSpPr>
          <p:cNvPr id="23" name="Rectangle 22">
            <a:extLst>
              <a:ext uri="{FF2B5EF4-FFF2-40B4-BE49-F238E27FC236}">
                <a16:creationId xmlns:a16="http://schemas.microsoft.com/office/drawing/2014/main" id="{1D4A074B-7A76-874A-BA4B-F4C61B551BA8}"/>
              </a:ext>
            </a:extLst>
          </p:cNvPr>
          <p:cNvSpPr/>
          <p:nvPr/>
        </p:nvSpPr>
        <p:spPr>
          <a:xfrm>
            <a:off x="635000" y="6273800"/>
            <a:ext cx="10922000" cy="12700"/>
          </a:xfrm>
          <a:prstGeom prst="rect">
            <a:avLst/>
          </a:prstGeom>
          <a:solidFill>
            <a:srgbClr val="333333"/>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24" name="TextBox 23">
            <a:extLst>
              <a:ext uri="{FF2B5EF4-FFF2-40B4-BE49-F238E27FC236}">
                <a16:creationId xmlns:a16="http://schemas.microsoft.com/office/drawing/2014/main" id="{DD7D3728-5D18-5248-875C-7CA039B7548F}"/>
              </a:ext>
            </a:extLst>
          </p:cNvPr>
          <p:cNvSpPr txBox="1"/>
          <p:nvPr/>
        </p:nvSpPr>
        <p:spPr>
          <a:xfrm>
            <a:off x="635000" y="6337300"/>
            <a:ext cx="10922000" cy="190500"/>
          </a:xfrm>
          <a:prstGeom prst="rect">
            <a:avLst/>
          </a:prstGeom>
          <a:noFill/>
        </p:spPr>
        <p:txBody>
          <a:bodyPr vertOverflow="overflow" vert="horz" wrap="square" rtlCol="0" anchor="t">
            <a:spAutoFit/>
          </a:bodyPr>
          <a:lstStyle/>
          <a:p>
            <a:pPr algn="l"/>
            <a:r>
              <a:rPr lang="en-US" sz="1300">
                <a:solidFill>
                  <a:srgbClr val="555555"/>
                </a:solidFill>
                <a:latin typeface="Calibri"/>
                <a:cs typeface="Calibri"/>
              </a:rPr>
              <a:t>eVTOL Research Brief · UIUC 2026          CONFIDENTIAL · FOR DISCUSSION PURPOSES ONLY          07 / 09</a:t>
            </a:r>
          </a:p>
        </p:txBody>
      </p:sp>
    </p:spTree>
    <p:extLst>
      <p:ext uri="{BB962C8B-B14F-4D97-AF65-F5344CB8AC3E}">
        <p14:creationId xmlns:p14="http://schemas.microsoft.com/office/powerpoint/2010/main" val="385360915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E8DFC8">
            <a:alpha val="100000"/>
          </a:srgbClr>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7D60F1C4-422A-6148-85D5-2459109D4D8D}"/>
              </a:ext>
            </a:extLst>
          </p:cNvPr>
          <p:cNvSpPr txBox="1"/>
          <p:nvPr/>
        </p:nvSpPr>
        <p:spPr>
          <a:xfrm>
            <a:off x="635000" y="355600"/>
            <a:ext cx="5080000" cy="203200"/>
          </a:xfrm>
          <a:prstGeom prst="rect">
            <a:avLst/>
          </a:prstGeom>
          <a:noFill/>
        </p:spPr>
        <p:txBody>
          <a:bodyPr vertOverflow="overflow" vert="horz" wrap="square" rtlCol="0" anchor="t">
            <a:spAutoFit/>
          </a:bodyPr>
          <a:lstStyle/>
          <a:p>
            <a:pPr algn="l"/>
            <a:r>
              <a:rPr lang="en-US" sz="1300">
                <a:solidFill>
                  <a:srgbClr val="555555"/>
                </a:solidFill>
                <a:latin typeface="Calibri"/>
                <a:cs typeface="Calibri"/>
              </a:rPr>
              <a:t>COMPETITIVE LANDSCAPE</a:t>
            </a:r>
          </a:p>
        </p:txBody>
      </p:sp>
      <p:sp>
        <p:nvSpPr>
          <p:cNvPr id="3" name="TextBox 2">
            <a:extLst>
              <a:ext uri="{FF2B5EF4-FFF2-40B4-BE49-F238E27FC236}">
                <a16:creationId xmlns:a16="http://schemas.microsoft.com/office/drawing/2014/main" id="{F0D62641-185B-5944-A20B-0642EB6A72A4}"/>
              </a:ext>
            </a:extLst>
          </p:cNvPr>
          <p:cNvSpPr txBox="1"/>
          <p:nvPr/>
        </p:nvSpPr>
        <p:spPr>
          <a:xfrm>
            <a:off x="635000" y="609600"/>
            <a:ext cx="10922000" cy="635000"/>
          </a:xfrm>
          <a:prstGeom prst="rect">
            <a:avLst/>
          </a:prstGeom>
          <a:noFill/>
        </p:spPr>
        <p:txBody>
          <a:bodyPr vertOverflow="overflow" vert="horz" wrap="square" rtlCol="0" anchor="t">
            <a:spAutoFit/>
          </a:bodyPr>
          <a:lstStyle/>
          <a:p>
            <a:pPr algn="l"/>
            <a:r>
              <a:rPr lang="en-US" sz="2200" b="1">
                <a:solidFill>
                  <a:srgbClr val="1A1A1A"/>
                </a:solidFill>
                <a:latin typeface="Georgia"/>
              </a:rPr>
              <a:t>No one has built the full stack for aviation fleet operations.</a:t>
            </a:r>
          </a:p>
        </p:txBody>
      </p:sp>
      <p:sp>
        <p:nvSpPr>
          <p:cNvPr id="4" name="Rectangle 3">
            <a:extLst>
              <a:ext uri="{FF2B5EF4-FFF2-40B4-BE49-F238E27FC236}">
                <a16:creationId xmlns:a16="http://schemas.microsoft.com/office/drawing/2014/main" id="{F102EAB2-67D3-F646-9BEE-07A008EC60F2}"/>
              </a:ext>
            </a:extLst>
          </p:cNvPr>
          <p:cNvSpPr/>
          <p:nvPr/>
        </p:nvSpPr>
        <p:spPr>
          <a:xfrm>
            <a:off x="635000" y="1447800"/>
            <a:ext cx="5232400" cy="1879600"/>
          </a:xfrm>
          <a:prstGeom prst="rect">
            <a:avLst/>
          </a:prstGeom>
          <a:solidFill>
            <a:srgbClr val="1E1E1E"/>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5" name="Rectangle 4">
            <a:extLst>
              <a:ext uri="{FF2B5EF4-FFF2-40B4-BE49-F238E27FC236}">
                <a16:creationId xmlns:a16="http://schemas.microsoft.com/office/drawing/2014/main" id="{52DC19E8-C477-3640-A4E6-35DD94473936}"/>
              </a:ext>
            </a:extLst>
          </p:cNvPr>
          <p:cNvSpPr/>
          <p:nvPr/>
        </p:nvSpPr>
        <p:spPr>
          <a:xfrm>
            <a:off x="635000" y="1447800"/>
            <a:ext cx="5232400" cy="38100"/>
          </a:xfrm>
          <a:prstGeom prst="rect">
            <a:avLst/>
          </a:prstGeom>
          <a:solidFill>
            <a:srgbClr val="C8B89A"/>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6" name="TextBox 5">
            <a:extLst>
              <a:ext uri="{FF2B5EF4-FFF2-40B4-BE49-F238E27FC236}">
                <a16:creationId xmlns:a16="http://schemas.microsoft.com/office/drawing/2014/main" id="{8EECAF0E-4CC3-0540-9AF7-659901E05244}"/>
              </a:ext>
            </a:extLst>
          </p:cNvPr>
          <p:cNvSpPr txBox="1"/>
          <p:nvPr/>
        </p:nvSpPr>
        <p:spPr>
          <a:xfrm>
            <a:off x="838200" y="1625600"/>
            <a:ext cx="4826000" cy="279400"/>
          </a:xfrm>
          <a:prstGeom prst="rect">
            <a:avLst/>
          </a:prstGeom>
          <a:noFill/>
        </p:spPr>
        <p:txBody>
          <a:bodyPr vertOverflow="overflow" vert="horz" wrap="square" rtlCol="0" anchor="t">
            <a:spAutoFit/>
          </a:bodyPr>
          <a:lstStyle/>
          <a:p>
            <a:pPr algn="l"/>
            <a:r>
              <a:rPr lang="en-US" sz="1500" b="1">
                <a:solidFill>
                  <a:srgbClr val="1A1A1A"/>
                </a:solidFill>
                <a:latin typeface="Georgia"/>
              </a:rPr>
              <a:t>FlytBase</a:t>
            </a:r>
          </a:p>
        </p:txBody>
      </p:sp>
      <p:sp>
        <p:nvSpPr>
          <p:cNvPr id="7" name="TextBox 6">
            <a:extLst>
              <a:ext uri="{FF2B5EF4-FFF2-40B4-BE49-F238E27FC236}">
                <a16:creationId xmlns:a16="http://schemas.microsoft.com/office/drawing/2014/main" id="{BBDCDD47-B5AC-F042-906F-59E6DE288119}"/>
              </a:ext>
            </a:extLst>
          </p:cNvPr>
          <p:cNvSpPr txBox="1"/>
          <p:nvPr/>
        </p:nvSpPr>
        <p:spPr>
          <a:xfrm>
            <a:off x="838200" y="1930400"/>
            <a:ext cx="4826000" cy="203200"/>
          </a:xfrm>
          <a:prstGeom prst="rect">
            <a:avLst/>
          </a:prstGeom>
          <a:noFill/>
        </p:spPr>
        <p:txBody>
          <a:bodyPr vertOverflow="overflow" vert="horz" wrap="square" rtlCol="0" anchor="t">
            <a:spAutoFit/>
          </a:bodyPr>
          <a:lstStyle/>
          <a:p>
            <a:pPr algn="l"/>
            <a:r>
              <a:rPr lang="en-US" sz="1400" b="1">
                <a:solidFill>
                  <a:srgbClr val="C8B89A"/>
                </a:solidFill>
                <a:latin typeface="Calibri"/>
                <a:cs typeface="Calibri"/>
              </a:rPr>
              <a:t>Drone Autonomy + Fleet Management</a:t>
            </a:r>
          </a:p>
        </p:txBody>
      </p:sp>
      <p:sp>
        <p:nvSpPr>
          <p:cNvPr id="8" name="Rectangle 7">
            <a:extLst>
              <a:ext uri="{FF2B5EF4-FFF2-40B4-BE49-F238E27FC236}">
                <a16:creationId xmlns:a16="http://schemas.microsoft.com/office/drawing/2014/main" id="{F51236FD-04C0-A44D-991D-3EE272946C4C}"/>
              </a:ext>
            </a:extLst>
          </p:cNvPr>
          <p:cNvSpPr/>
          <p:nvPr/>
        </p:nvSpPr>
        <p:spPr>
          <a:xfrm>
            <a:off x="838200" y="2184400"/>
            <a:ext cx="4826000" cy="12700"/>
          </a:xfrm>
          <a:prstGeom prst="rect">
            <a:avLst/>
          </a:prstGeom>
          <a:solidFill>
            <a:srgbClr val="333333"/>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9" name="TextBox 8">
            <a:extLst>
              <a:ext uri="{FF2B5EF4-FFF2-40B4-BE49-F238E27FC236}">
                <a16:creationId xmlns:a16="http://schemas.microsoft.com/office/drawing/2014/main" id="{02EC5CE5-9B79-DA47-BB2D-8150A50FA89B}"/>
              </a:ext>
            </a:extLst>
          </p:cNvPr>
          <p:cNvSpPr txBox="1"/>
          <p:nvPr/>
        </p:nvSpPr>
        <p:spPr>
          <a:xfrm>
            <a:off x="838200" y="2311400"/>
            <a:ext cx="4826000" cy="889000"/>
          </a:xfrm>
          <a:prstGeom prst="rect">
            <a:avLst/>
          </a:prstGeom>
          <a:noFill/>
        </p:spPr>
        <p:txBody>
          <a:bodyPr vertOverflow="overflow" vert="horz" wrap="square" rtlCol="0" anchor="t">
            <a:spAutoFit/>
          </a:bodyPr>
          <a:lstStyle/>
          <a:p>
            <a:pPr algn="l"/>
            <a:r>
              <a:rPr lang="en-US" sz="1400">
                <a:solidFill>
                  <a:srgbClr val="E8E0D0"/>
                </a:solidFill>
                <a:latin typeface="Calibri"/>
                <a:cs typeface="Calibri"/>
              </a:rPr>
              <a:t>Launched “FlytBase One” Feb 2026. Drone-only. No eVTOL support. Not architected for multi-operator commercial scale.</a:t>
            </a:r>
          </a:p>
        </p:txBody>
      </p:sp>
      <p:sp>
        <p:nvSpPr>
          <p:cNvPr id="14" name="Rectangle 13">
            <a:extLst>
              <a:ext uri="{FF2B5EF4-FFF2-40B4-BE49-F238E27FC236}">
                <a16:creationId xmlns:a16="http://schemas.microsoft.com/office/drawing/2014/main" id="{5818BFF1-7CD1-6B49-B64B-9FD88032C750}"/>
              </a:ext>
            </a:extLst>
          </p:cNvPr>
          <p:cNvSpPr/>
          <p:nvPr/>
        </p:nvSpPr>
        <p:spPr>
          <a:xfrm>
            <a:off x="6324600" y="1447800"/>
            <a:ext cx="5232400" cy="1879600"/>
          </a:xfrm>
          <a:prstGeom prst="rect">
            <a:avLst/>
          </a:prstGeom>
          <a:solidFill>
            <a:srgbClr val="1E1E1E"/>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15" name="Rectangle 14">
            <a:extLst>
              <a:ext uri="{FF2B5EF4-FFF2-40B4-BE49-F238E27FC236}">
                <a16:creationId xmlns:a16="http://schemas.microsoft.com/office/drawing/2014/main" id="{97605708-1766-0049-AC54-EB909557B292}"/>
              </a:ext>
            </a:extLst>
          </p:cNvPr>
          <p:cNvSpPr/>
          <p:nvPr/>
        </p:nvSpPr>
        <p:spPr>
          <a:xfrm>
            <a:off x="6324600" y="1447800"/>
            <a:ext cx="5232400" cy="38100"/>
          </a:xfrm>
          <a:prstGeom prst="rect">
            <a:avLst/>
          </a:prstGeom>
          <a:solidFill>
            <a:srgbClr val="C8B89A"/>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16" name="TextBox 15">
            <a:extLst>
              <a:ext uri="{FF2B5EF4-FFF2-40B4-BE49-F238E27FC236}">
                <a16:creationId xmlns:a16="http://schemas.microsoft.com/office/drawing/2014/main" id="{A87F4A07-A751-F04F-BD38-5A5BF14B4A0E}"/>
              </a:ext>
            </a:extLst>
          </p:cNvPr>
          <p:cNvSpPr txBox="1"/>
          <p:nvPr/>
        </p:nvSpPr>
        <p:spPr>
          <a:xfrm>
            <a:off x="6527800" y="1625600"/>
            <a:ext cx="4826000" cy="279400"/>
          </a:xfrm>
          <a:prstGeom prst="rect">
            <a:avLst/>
          </a:prstGeom>
          <a:noFill/>
        </p:spPr>
        <p:txBody>
          <a:bodyPr vertOverflow="overflow" vert="horz" wrap="square" rtlCol="0" anchor="t">
            <a:spAutoFit/>
          </a:bodyPr>
          <a:lstStyle/>
          <a:p>
            <a:pPr algn="l"/>
            <a:r>
              <a:rPr lang="en-US" sz="1500" b="1">
                <a:solidFill>
                  <a:srgbClr val="1A1A1A"/>
                </a:solidFill>
                <a:latin typeface="Georgia"/>
              </a:rPr>
              <a:t>AlarisPro</a:t>
            </a:r>
          </a:p>
        </p:txBody>
      </p:sp>
      <p:sp>
        <p:nvSpPr>
          <p:cNvPr id="17" name="TextBox 16">
            <a:extLst>
              <a:ext uri="{FF2B5EF4-FFF2-40B4-BE49-F238E27FC236}">
                <a16:creationId xmlns:a16="http://schemas.microsoft.com/office/drawing/2014/main" id="{9D6DDF39-936F-2C43-BE9A-2090711BB570}"/>
              </a:ext>
            </a:extLst>
          </p:cNvPr>
          <p:cNvSpPr txBox="1"/>
          <p:nvPr/>
        </p:nvSpPr>
        <p:spPr>
          <a:xfrm>
            <a:off x="6527800" y="1930400"/>
            <a:ext cx="4826000" cy="203200"/>
          </a:xfrm>
          <a:prstGeom prst="rect">
            <a:avLst/>
          </a:prstGeom>
          <a:noFill/>
        </p:spPr>
        <p:txBody>
          <a:bodyPr vertOverflow="overflow" vert="horz" wrap="square" rtlCol="0" anchor="t">
            <a:spAutoFit/>
          </a:bodyPr>
          <a:lstStyle/>
          <a:p>
            <a:pPr algn="l"/>
            <a:r>
              <a:rPr lang="en-US" sz="1400" b="1">
                <a:solidFill>
                  <a:srgbClr val="C8B89A"/>
                </a:solidFill>
                <a:latin typeface="Calibri"/>
                <a:cs typeface="Calibri"/>
              </a:rPr>
              <a:t>Drone Fleet Ops</a:t>
            </a:r>
          </a:p>
        </p:txBody>
      </p:sp>
      <p:sp>
        <p:nvSpPr>
          <p:cNvPr id="18" name="Rectangle 17">
            <a:extLst>
              <a:ext uri="{FF2B5EF4-FFF2-40B4-BE49-F238E27FC236}">
                <a16:creationId xmlns:a16="http://schemas.microsoft.com/office/drawing/2014/main" id="{9BAEA1E4-CCB5-D547-B0FF-027D1A758FAB}"/>
              </a:ext>
            </a:extLst>
          </p:cNvPr>
          <p:cNvSpPr/>
          <p:nvPr/>
        </p:nvSpPr>
        <p:spPr>
          <a:xfrm>
            <a:off x="6527800" y="2184400"/>
            <a:ext cx="4826000" cy="12700"/>
          </a:xfrm>
          <a:prstGeom prst="rect">
            <a:avLst/>
          </a:prstGeom>
          <a:solidFill>
            <a:srgbClr val="333333"/>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19" name="TextBox 18">
            <a:extLst>
              <a:ext uri="{FF2B5EF4-FFF2-40B4-BE49-F238E27FC236}">
                <a16:creationId xmlns:a16="http://schemas.microsoft.com/office/drawing/2014/main" id="{EE71484F-19F9-FD44-A5C1-8F02946499D2}"/>
              </a:ext>
            </a:extLst>
          </p:cNvPr>
          <p:cNvSpPr txBox="1"/>
          <p:nvPr/>
        </p:nvSpPr>
        <p:spPr>
          <a:xfrm>
            <a:off x="6527800" y="2311400"/>
            <a:ext cx="4826000" cy="889000"/>
          </a:xfrm>
          <a:prstGeom prst="rect">
            <a:avLst/>
          </a:prstGeom>
          <a:noFill/>
        </p:spPr>
        <p:txBody>
          <a:bodyPr vertOverflow="overflow" vert="horz" wrap="square" rtlCol="0" anchor="t">
            <a:spAutoFit/>
          </a:bodyPr>
          <a:lstStyle/>
          <a:p>
            <a:pPr algn="l"/>
            <a:r>
              <a:rPr lang="en-US" sz="1400">
                <a:solidFill>
                  <a:srgbClr val="E8E0D0"/>
                </a:solidFill>
                <a:latin typeface="Calibri"/>
                <a:cs typeface="Calibri"/>
              </a:rPr>
              <a:t>Limited to smaller commercial operators. Not built for the compliance complexity of Part 135 passenger operations.</a:t>
            </a:r>
          </a:p>
        </p:txBody>
      </p:sp>
      <p:sp>
        <p:nvSpPr>
          <p:cNvPr id="20" name="Rectangle 19">
            <a:extLst>
              <a:ext uri="{FF2B5EF4-FFF2-40B4-BE49-F238E27FC236}">
                <a16:creationId xmlns:a16="http://schemas.microsoft.com/office/drawing/2014/main" id="{66619254-2508-C045-8418-E81F991058DE}"/>
              </a:ext>
            </a:extLst>
          </p:cNvPr>
          <p:cNvSpPr/>
          <p:nvPr/>
        </p:nvSpPr>
        <p:spPr>
          <a:xfrm>
            <a:off x="635000" y="3530600"/>
            <a:ext cx="5232400" cy="1879600"/>
          </a:xfrm>
          <a:prstGeom prst="rect">
            <a:avLst/>
          </a:prstGeom>
          <a:solidFill>
            <a:srgbClr val="1E1E1E"/>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21" name="Rectangle 20">
            <a:extLst>
              <a:ext uri="{FF2B5EF4-FFF2-40B4-BE49-F238E27FC236}">
                <a16:creationId xmlns:a16="http://schemas.microsoft.com/office/drawing/2014/main" id="{7EFACCFE-8B88-CC4F-9C0E-C83501DDD454}"/>
              </a:ext>
            </a:extLst>
          </p:cNvPr>
          <p:cNvSpPr/>
          <p:nvPr/>
        </p:nvSpPr>
        <p:spPr>
          <a:xfrm>
            <a:off x="635000" y="3530600"/>
            <a:ext cx="5232400" cy="38100"/>
          </a:xfrm>
          <a:prstGeom prst="rect">
            <a:avLst/>
          </a:prstGeom>
          <a:solidFill>
            <a:srgbClr val="C8B89A"/>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22" name="TextBox 21">
            <a:extLst>
              <a:ext uri="{FF2B5EF4-FFF2-40B4-BE49-F238E27FC236}">
                <a16:creationId xmlns:a16="http://schemas.microsoft.com/office/drawing/2014/main" id="{68753F7C-C365-ED48-9B7F-4769A49DAB79}"/>
              </a:ext>
            </a:extLst>
          </p:cNvPr>
          <p:cNvSpPr txBox="1"/>
          <p:nvPr/>
        </p:nvSpPr>
        <p:spPr>
          <a:xfrm>
            <a:off x="838200" y="3708400"/>
            <a:ext cx="4826000" cy="279400"/>
          </a:xfrm>
          <a:prstGeom prst="rect">
            <a:avLst/>
          </a:prstGeom>
          <a:noFill/>
        </p:spPr>
        <p:txBody>
          <a:bodyPr vertOverflow="overflow" vert="horz" wrap="square" rtlCol="0" anchor="t">
            <a:spAutoFit/>
          </a:bodyPr>
          <a:lstStyle/>
          <a:p>
            <a:pPr algn="l"/>
            <a:r>
              <a:rPr lang="en-US" sz="1500" b="1">
                <a:solidFill>
                  <a:srgbClr val="1A1A1A"/>
                </a:solidFill>
                <a:latin typeface="Georgia"/>
              </a:rPr>
              <a:t>AirData UAV</a:t>
            </a:r>
          </a:p>
        </p:txBody>
      </p:sp>
      <p:sp>
        <p:nvSpPr>
          <p:cNvPr id="23" name="TextBox 22">
            <a:extLst>
              <a:ext uri="{FF2B5EF4-FFF2-40B4-BE49-F238E27FC236}">
                <a16:creationId xmlns:a16="http://schemas.microsoft.com/office/drawing/2014/main" id="{5BFA9101-EA08-C14F-BF45-BC278BD187E8}"/>
              </a:ext>
            </a:extLst>
          </p:cNvPr>
          <p:cNvSpPr txBox="1"/>
          <p:nvPr/>
        </p:nvSpPr>
        <p:spPr>
          <a:xfrm>
            <a:off x="838200" y="4013200"/>
            <a:ext cx="4826000" cy="203200"/>
          </a:xfrm>
          <a:prstGeom prst="rect">
            <a:avLst/>
          </a:prstGeom>
          <a:noFill/>
        </p:spPr>
        <p:txBody>
          <a:bodyPr vertOverflow="overflow" vert="horz" wrap="square" rtlCol="0" anchor="t">
            <a:spAutoFit/>
          </a:bodyPr>
          <a:lstStyle/>
          <a:p>
            <a:pPr algn="l"/>
            <a:r>
              <a:rPr lang="en-US" sz="1400" b="1">
                <a:solidFill>
                  <a:srgbClr val="C8B89A"/>
                </a:solidFill>
                <a:latin typeface="Calibri"/>
                <a:cs typeface="Calibri"/>
              </a:rPr>
              <a:t>Flight Log Analytics</a:t>
            </a:r>
          </a:p>
        </p:txBody>
      </p:sp>
      <p:sp>
        <p:nvSpPr>
          <p:cNvPr id="24" name="Rectangle 23">
            <a:extLst>
              <a:ext uri="{FF2B5EF4-FFF2-40B4-BE49-F238E27FC236}">
                <a16:creationId xmlns:a16="http://schemas.microsoft.com/office/drawing/2014/main" id="{35AACE83-676F-E742-9E57-A13D0794A7CA}"/>
              </a:ext>
            </a:extLst>
          </p:cNvPr>
          <p:cNvSpPr/>
          <p:nvPr/>
        </p:nvSpPr>
        <p:spPr>
          <a:xfrm>
            <a:off x="838200" y="4267200"/>
            <a:ext cx="4826000" cy="12700"/>
          </a:xfrm>
          <a:prstGeom prst="rect">
            <a:avLst/>
          </a:prstGeom>
          <a:solidFill>
            <a:srgbClr val="333333"/>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25" name="TextBox 24">
            <a:extLst>
              <a:ext uri="{FF2B5EF4-FFF2-40B4-BE49-F238E27FC236}">
                <a16:creationId xmlns:a16="http://schemas.microsoft.com/office/drawing/2014/main" id="{73AADD09-B6E3-BD4F-A1D3-F0F13B983527}"/>
              </a:ext>
            </a:extLst>
          </p:cNvPr>
          <p:cNvSpPr txBox="1"/>
          <p:nvPr/>
        </p:nvSpPr>
        <p:spPr>
          <a:xfrm>
            <a:off x="838200" y="4394200"/>
            <a:ext cx="4826000" cy="889000"/>
          </a:xfrm>
          <a:prstGeom prst="rect">
            <a:avLst/>
          </a:prstGeom>
          <a:noFill/>
        </p:spPr>
        <p:txBody>
          <a:bodyPr vertOverflow="overflow" vert="horz" wrap="square" rtlCol="0" anchor="t">
            <a:spAutoFit/>
          </a:bodyPr>
          <a:lstStyle/>
          <a:p>
            <a:pPr algn="l"/>
            <a:r>
              <a:rPr lang="en-US" sz="1400">
                <a:solidFill>
                  <a:srgbClr val="E8E0D0"/>
                </a:solidFill>
                <a:latin typeface="Calibri"/>
                <a:cs typeface="Calibri"/>
              </a:rPr>
              <a:t>Post-flight log ingestion and analytics. Not a real-time ops or dispatch platform. No maintenance workflow.</a:t>
            </a:r>
          </a:p>
        </p:txBody>
      </p:sp>
      <p:sp>
        <p:nvSpPr>
          <p:cNvPr id="26" name="Rectangle 25">
            <a:extLst>
              <a:ext uri="{FF2B5EF4-FFF2-40B4-BE49-F238E27FC236}">
                <a16:creationId xmlns:a16="http://schemas.microsoft.com/office/drawing/2014/main" id="{2685A17D-F94E-7841-9779-3BB5CDAD5582}"/>
              </a:ext>
            </a:extLst>
          </p:cNvPr>
          <p:cNvSpPr/>
          <p:nvPr/>
        </p:nvSpPr>
        <p:spPr>
          <a:xfrm>
            <a:off x="6324600" y="3530600"/>
            <a:ext cx="5232400" cy="1879600"/>
          </a:xfrm>
          <a:prstGeom prst="rect">
            <a:avLst/>
          </a:prstGeom>
          <a:solidFill>
            <a:srgbClr val="1E1E1E"/>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27" name="Rectangle 26">
            <a:extLst>
              <a:ext uri="{FF2B5EF4-FFF2-40B4-BE49-F238E27FC236}">
                <a16:creationId xmlns:a16="http://schemas.microsoft.com/office/drawing/2014/main" id="{FF06CA05-08FC-6B45-9C67-064185519E63}"/>
              </a:ext>
            </a:extLst>
          </p:cNvPr>
          <p:cNvSpPr/>
          <p:nvPr/>
        </p:nvSpPr>
        <p:spPr>
          <a:xfrm>
            <a:off x="6324600" y="3530600"/>
            <a:ext cx="5232400" cy="38100"/>
          </a:xfrm>
          <a:prstGeom prst="rect">
            <a:avLst/>
          </a:prstGeom>
          <a:solidFill>
            <a:srgbClr val="C8B89A"/>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28" name="TextBox 27">
            <a:extLst>
              <a:ext uri="{FF2B5EF4-FFF2-40B4-BE49-F238E27FC236}">
                <a16:creationId xmlns:a16="http://schemas.microsoft.com/office/drawing/2014/main" id="{780F5DAD-9C67-B744-92AB-1CD0047ED8DA}"/>
              </a:ext>
            </a:extLst>
          </p:cNvPr>
          <p:cNvSpPr txBox="1"/>
          <p:nvPr/>
        </p:nvSpPr>
        <p:spPr>
          <a:xfrm>
            <a:off x="6527800" y="3708400"/>
            <a:ext cx="4826000" cy="279400"/>
          </a:xfrm>
          <a:prstGeom prst="rect">
            <a:avLst/>
          </a:prstGeom>
          <a:noFill/>
        </p:spPr>
        <p:txBody>
          <a:bodyPr vertOverflow="overflow" vert="horz" wrap="square" rtlCol="0" anchor="t">
            <a:spAutoFit/>
          </a:bodyPr>
          <a:lstStyle/>
          <a:p>
            <a:pPr algn="l"/>
            <a:r>
              <a:rPr lang="en-US" sz="1500" b="1">
                <a:solidFill>
                  <a:srgbClr val="1A1A1A"/>
                </a:solidFill>
                <a:latin typeface="Georgia"/>
              </a:rPr>
              <a:t>Aloft</a:t>
            </a:r>
          </a:p>
        </p:txBody>
      </p:sp>
      <p:sp>
        <p:nvSpPr>
          <p:cNvPr id="29" name="TextBox 28">
            <a:extLst>
              <a:ext uri="{FF2B5EF4-FFF2-40B4-BE49-F238E27FC236}">
                <a16:creationId xmlns:a16="http://schemas.microsoft.com/office/drawing/2014/main" id="{70CA843E-ABB8-EE48-BFF0-607D2C7FBE78}"/>
              </a:ext>
            </a:extLst>
          </p:cNvPr>
          <p:cNvSpPr txBox="1"/>
          <p:nvPr/>
        </p:nvSpPr>
        <p:spPr>
          <a:xfrm>
            <a:off x="6527800" y="4013200"/>
            <a:ext cx="4826000" cy="203200"/>
          </a:xfrm>
          <a:prstGeom prst="rect">
            <a:avLst/>
          </a:prstGeom>
          <a:noFill/>
        </p:spPr>
        <p:txBody>
          <a:bodyPr vertOverflow="overflow" vert="horz" wrap="square" rtlCol="0" anchor="t">
            <a:spAutoFit/>
          </a:bodyPr>
          <a:lstStyle/>
          <a:p>
            <a:pPr algn="l"/>
            <a:r>
              <a:rPr lang="en-US" sz="1400" b="1">
                <a:solidFill>
                  <a:srgbClr val="C8B89A"/>
                </a:solidFill>
                <a:latin typeface="Calibri"/>
                <a:cs typeface="Calibri"/>
              </a:rPr>
              <a:t>Airspace Management + LAANC</a:t>
            </a:r>
          </a:p>
        </p:txBody>
      </p:sp>
      <p:sp>
        <p:nvSpPr>
          <p:cNvPr id="30" name="Rectangle 29">
            <a:extLst>
              <a:ext uri="{FF2B5EF4-FFF2-40B4-BE49-F238E27FC236}">
                <a16:creationId xmlns:a16="http://schemas.microsoft.com/office/drawing/2014/main" id="{8D719909-EF5A-5948-9054-475601408DCC}"/>
              </a:ext>
            </a:extLst>
          </p:cNvPr>
          <p:cNvSpPr/>
          <p:nvPr/>
        </p:nvSpPr>
        <p:spPr>
          <a:xfrm>
            <a:off x="6527800" y="4267200"/>
            <a:ext cx="4826000" cy="12700"/>
          </a:xfrm>
          <a:prstGeom prst="rect">
            <a:avLst/>
          </a:prstGeom>
          <a:solidFill>
            <a:srgbClr val="333333"/>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31" name="TextBox 30">
            <a:extLst>
              <a:ext uri="{FF2B5EF4-FFF2-40B4-BE49-F238E27FC236}">
                <a16:creationId xmlns:a16="http://schemas.microsoft.com/office/drawing/2014/main" id="{C7DA6497-0781-F740-8DAC-B9DBABD5E9CA}"/>
              </a:ext>
            </a:extLst>
          </p:cNvPr>
          <p:cNvSpPr txBox="1"/>
          <p:nvPr/>
        </p:nvSpPr>
        <p:spPr>
          <a:xfrm>
            <a:off x="6527800" y="4394200"/>
            <a:ext cx="4826000" cy="889000"/>
          </a:xfrm>
          <a:prstGeom prst="rect">
            <a:avLst/>
          </a:prstGeom>
          <a:noFill/>
        </p:spPr>
        <p:txBody>
          <a:bodyPr vertOverflow="overflow" vert="horz" wrap="square" rtlCol="0" anchor="t">
            <a:spAutoFit/>
          </a:bodyPr>
          <a:lstStyle/>
          <a:p>
            <a:pPr algn="l"/>
            <a:r>
              <a:rPr lang="en-US" sz="1400">
                <a:solidFill>
                  <a:srgbClr val="E8E0D0"/>
                </a:solidFill>
                <a:latin typeface="Calibri"/>
                <a:cs typeface="Calibri"/>
              </a:rPr>
              <a:t>Solves one piece: airspace authorization. Does not address fleet dispatch, maintenance, or compliance logging.</a:t>
            </a:r>
          </a:p>
        </p:txBody>
      </p:sp>
      <p:sp>
        <p:nvSpPr>
          <p:cNvPr id="32" name="Rectangle 31">
            <a:extLst>
              <a:ext uri="{FF2B5EF4-FFF2-40B4-BE49-F238E27FC236}">
                <a16:creationId xmlns:a16="http://schemas.microsoft.com/office/drawing/2014/main" id="{2D3B316D-3A57-7143-9DD2-B8168BA65511}"/>
              </a:ext>
            </a:extLst>
          </p:cNvPr>
          <p:cNvSpPr/>
          <p:nvPr/>
        </p:nvSpPr>
        <p:spPr>
          <a:xfrm>
            <a:off x="635000" y="5715000"/>
            <a:ext cx="10922000" cy="584200"/>
          </a:xfrm>
          <a:prstGeom prst="rect">
            <a:avLst/>
          </a:prstGeom>
          <a:solidFill>
            <a:srgbClr val="181818"/>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33" name="Rectangle 32">
            <a:extLst>
              <a:ext uri="{FF2B5EF4-FFF2-40B4-BE49-F238E27FC236}">
                <a16:creationId xmlns:a16="http://schemas.microsoft.com/office/drawing/2014/main" id="{056EE0CE-A724-CA40-8A0F-9B7D03F60148}"/>
              </a:ext>
            </a:extLst>
          </p:cNvPr>
          <p:cNvSpPr/>
          <p:nvPr/>
        </p:nvSpPr>
        <p:spPr>
          <a:xfrm>
            <a:off x="635000" y="5715000"/>
            <a:ext cx="38100" cy="584200"/>
          </a:xfrm>
          <a:prstGeom prst="rect">
            <a:avLst/>
          </a:prstGeom>
          <a:solidFill>
            <a:srgbClr val="C8B89A"/>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34" name="TextBox 33">
            <a:extLst>
              <a:ext uri="{FF2B5EF4-FFF2-40B4-BE49-F238E27FC236}">
                <a16:creationId xmlns:a16="http://schemas.microsoft.com/office/drawing/2014/main" id="{7ECE2613-D148-F142-B51F-49D7C809660B}"/>
              </a:ext>
            </a:extLst>
          </p:cNvPr>
          <p:cNvSpPr txBox="1"/>
          <p:nvPr/>
        </p:nvSpPr>
        <p:spPr>
          <a:xfrm>
            <a:off x="787400" y="5816600"/>
            <a:ext cx="10668000" cy="406400"/>
          </a:xfrm>
          <a:prstGeom prst="rect">
            <a:avLst/>
          </a:prstGeom>
          <a:noFill/>
        </p:spPr>
        <p:txBody>
          <a:bodyPr vertOverflow="overflow" vert="horz" wrap="square" rtlCol="0" anchor="t">
            <a:spAutoFit/>
          </a:bodyPr>
          <a:lstStyle/>
          <a:p>
            <a:pPr algn="l"/>
            <a:r>
              <a:rPr lang="en-US" sz="1400">
                <a:solidFill>
                  <a:srgbClr val="E8E0D0"/>
                </a:solidFill>
                <a:latin typeface="Calibri"/>
                <a:cs typeface="Calibri"/>
              </a:rPr>
              <a:t>“None are architected for both drone fleets today and eVTOL at commercial scale. The gap is deliberate — it requires aviation domain depth most software teams don’t have.”</a:t>
            </a:r>
          </a:p>
        </p:txBody>
      </p:sp>
      <p:sp>
        <p:nvSpPr>
          <p:cNvPr id="35" name="Rectangle 34">
            <a:extLst>
              <a:ext uri="{FF2B5EF4-FFF2-40B4-BE49-F238E27FC236}">
                <a16:creationId xmlns:a16="http://schemas.microsoft.com/office/drawing/2014/main" id="{7293E604-FBE5-4B48-954B-61AA05A0BB5F}"/>
              </a:ext>
            </a:extLst>
          </p:cNvPr>
          <p:cNvSpPr/>
          <p:nvPr/>
        </p:nvSpPr>
        <p:spPr>
          <a:xfrm>
            <a:off x="635000" y="6273800"/>
            <a:ext cx="10922000" cy="12700"/>
          </a:xfrm>
          <a:prstGeom prst="rect">
            <a:avLst/>
          </a:prstGeom>
          <a:solidFill>
            <a:srgbClr val="333333"/>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36" name="TextBox 35">
            <a:extLst>
              <a:ext uri="{FF2B5EF4-FFF2-40B4-BE49-F238E27FC236}">
                <a16:creationId xmlns:a16="http://schemas.microsoft.com/office/drawing/2014/main" id="{F4303612-85E2-E44C-8AF1-C845140B2050}"/>
              </a:ext>
            </a:extLst>
          </p:cNvPr>
          <p:cNvSpPr txBox="1"/>
          <p:nvPr/>
        </p:nvSpPr>
        <p:spPr>
          <a:xfrm>
            <a:off x="635000" y="6337300"/>
            <a:ext cx="10922000" cy="190500"/>
          </a:xfrm>
          <a:prstGeom prst="rect">
            <a:avLst/>
          </a:prstGeom>
          <a:noFill/>
        </p:spPr>
        <p:txBody>
          <a:bodyPr vertOverflow="overflow" vert="horz" wrap="square" rtlCol="0" anchor="t">
            <a:spAutoFit/>
          </a:bodyPr>
          <a:lstStyle/>
          <a:p>
            <a:pPr algn="l"/>
            <a:r>
              <a:rPr lang="en-US" sz="1300">
                <a:solidFill>
                  <a:srgbClr val="555555"/>
                </a:solidFill>
                <a:latin typeface="Calibri"/>
                <a:cs typeface="Calibri"/>
              </a:rPr>
              <a:t>eVTOL Research Brief · UIUC 2026          CONFIDENTIAL · FOR DISCUSSION PURPOSES ONLY          08 / 09</a:t>
            </a:r>
          </a:p>
        </p:txBody>
      </p:sp>
    </p:spTree>
    <p:extLst>
      <p:ext uri="{BB962C8B-B14F-4D97-AF65-F5344CB8AC3E}">
        <p14:creationId xmlns:p14="http://schemas.microsoft.com/office/powerpoint/2010/main" val="233870384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0F0F0F">
            <a:alpha val="100000"/>
          </a:srgbClr>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832EF31F-7CFF-7E42-AFE1-75B1B43F20EA}"/>
              </a:ext>
            </a:extLst>
          </p:cNvPr>
          <p:cNvSpPr txBox="1"/>
          <p:nvPr/>
        </p:nvSpPr>
        <p:spPr>
          <a:xfrm>
            <a:off x="635000" y="355600"/>
            <a:ext cx="3810000" cy="203200"/>
          </a:xfrm>
          <a:prstGeom prst="rect">
            <a:avLst/>
          </a:prstGeom>
          <a:noFill/>
        </p:spPr>
        <p:txBody>
          <a:bodyPr vertOverflow="overflow" vert="horz" wrap="square" rtlCol="0" anchor="t">
            <a:spAutoFit/>
          </a:bodyPr>
          <a:lstStyle/>
          <a:p>
            <a:pPr algn="l"/>
            <a:r>
              <a:rPr lang="en-US" sz="900">
                <a:solidFill>
                  <a:srgbClr val="666666"/>
                </a:solidFill>
                <a:latin typeface="Calibri"/>
                <a:cs typeface="Calibri"/>
              </a:rPr>
              <a:t>NEXT STEP</a:t>
            </a:r>
          </a:p>
        </p:txBody>
      </p:sp>
      <p:sp>
        <p:nvSpPr>
          <p:cNvPr id="3" name="Rectangle 2">
            <a:extLst>
              <a:ext uri="{FF2B5EF4-FFF2-40B4-BE49-F238E27FC236}">
                <a16:creationId xmlns:a16="http://schemas.microsoft.com/office/drawing/2014/main" id="{AD5DACCA-BDF0-8C40-B86C-473C9971BC00}"/>
              </a:ext>
            </a:extLst>
          </p:cNvPr>
          <p:cNvSpPr/>
          <p:nvPr/>
        </p:nvSpPr>
        <p:spPr>
          <a:xfrm>
            <a:off x="457200" y="1117600"/>
            <a:ext cx="63500" cy="3810000"/>
          </a:xfrm>
          <a:prstGeom prst="rect">
            <a:avLst/>
          </a:prstGeom>
          <a:solidFill>
            <a:srgbClr val="C8B89A"/>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4" name="TextBox 3">
            <a:extLst>
              <a:ext uri="{FF2B5EF4-FFF2-40B4-BE49-F238E27FC236}">
                <a16:creationId xmlns:a16="http://schemas.microsoft.com/office/drawing/2014/main" id="{E3F897B8-54BF-4644-BB2F-356AF7D5582D}"/>
              </a:ext>
            </a:extLst>
          </p:cNvPr>
          <p:cNvSpPr txBox="1"/>
          <p:nvPr/>
        </p:nvSpPr>
        <p:spPr>
          <a:xfrm>
            <a:off x="635000" y="1117600"/>
            <a:ext cx="10922000" cy="1397000"/>
          </a:xfrm>
          <a:prstGeom prst="rect">
            <a:avLst/>
          </a:prstGeom>
          <a:noFill/>
        </p:spPr>
        <p:txBody>
          <a:bodyPr vertOverflow="overflow" vert="horz" wrap="square" rtlCol="0" anchor="t">
            <a:spAutoFit/>
          </a:bodyPr>
          <a:lstStyle/>
          <a:p>
            <a:pPr algn="l"/>
            <a:r>
              <a:rPr lang="en-US" sz="3200" b="1">
                <a:solidFill>
                  <a:srgbClr val="F0F0F0"/>
                </a:solidFill>
                <a:latin typeface="Georgia"/>
              </a:rPr>
              <a:t>20 minutes with the right person
changes what we build.</a:t>
            </a:r>
          </a:p>
        </p:txBody>
      </p:sp>
      <p:sp>
        <p:nvSpPr>
          <p:cNvPr id="5" name="TextBox 4">
            <a:extLst>
              <a:ext uri="{FF2B5EF4-FFF2-40B4-BE49-F238E27FC236}">
                <a16:creationId xmlns:a16="http://schemas.microsoft.com/office/drawing/2014/main" id="{3BFF899E-9E26-B341-9AB6-50328377CB3A}"/>
              </a:ext>
            </a:extLst>
          </p:cNvPr>
          <p:cNvSpPr txBox="1"/>
          <p:nvPr/>
        </p:nvSpPr>
        <p:spPr>
          <a:xfrm>
            <a:off x="635000" y="2667000"/>
            <a:ext cx="10922000" cy="635000"/>
          </a:xfrm>
          <a:prstGeom prst="rect">
            <a:avLst/>
          </a:prstGeom>
          <a:noFill/>
        </p:spPr>
        <p:txBody>
          <a:bodyPr vertOverflow="overflow" vert="horz" wrap="square" rtlCol="0" anchor="t">
            <a:spAutoFit/>
          </a:bodyPr>
          <a:lstStyle/>
          <a:p>
            <a:pPr algn="l"/>
            <a:r>
              <a:rPr lang="en-US" sz="1300">
                <a:solidFill>
                  <a:srgbClr val="999999"/>
                </a:solidFill>
                <a:latin typeface="Calibri"/>
                <a:cs typeface="Calibri"/>
              </a:rPr>
              <a:t>We’re at the research and early-build stage. Getting in front of the right operators before everyone is flying at scale is the only way to build something actually useful.</a:t>
            </a:r>
          </a:p>
        </p:txBody>
      </p:sp>
      <p:sp>
        <p:nvSpPr>
          <p:cNvPr id="6" name="Rectangle 5">
            <a:extLst>
              <a:ext uri="{FF2B5EF4-FFF2-40B4-BE49-F238E27FC236}">
                <a16:creationId xmlns:a16="http://schemas.microsoft.com/office/drawing/2014/main" id="{DFA052D6-BB57-7C4E-A0E3-BC825A7AEFE8}"/>
              </a:ext>
            </a:extLst>
          </p:cNvPr>
          <p:cNvSpPr/>
          <p:nvPr/>
        </p:nvSpPr>
        <p:spPr>
          <a:xfrm>
            <a:off x="635000" y="3492500"/>
            <a:ext cx="10922000" cy="12700"/>
          </a:xfrm>
          <a:prstGeom prst="rect">
            <a:avLst/>
          </a:prstGeom>
          <a:solidFill>
            <a:srgbClr val="333333"/>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17" name="Rectangle 16">
            <a:extLst>
              <a:ext uri="{FF2B5EF4-FFF2-40B4-BE49-F238E27FC236}">
                <a16:creationId xmlns:a16="http://schemas.microsoft.com/office/drawing/2014/main" id="{6074CB62-9C28-B147-B463-4C6941F04DBB}"/>
              </a:ext>
            </a:extLst>
          </p:cNvPr>
          <p:cNvSpPr/>
          <p:nvPr/>
        </p:nvSpPr>
        <p:spPr>
          <a:xfrm>
            <a:off x="635000" y="6273800"/>
            <a:ext cx="10922000" cy="12700"/>
          </a:xfrm>
          <a:prstGeom prst="rect">
            <a:avLst/>
          </a:prstGeom>
          <a:solidFill>
            <a:srgbClr val="333333"/>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18" name="TextBox 17">
            <a:extLst>
              <a:ext uri="{FF2B5EF4-FFF2-40B4-BE49-F238E27FC236}">
                <a16:creationId xmlns:a16="http://schemas.microsoft.com/office/drawing/2014/main" id="{B4E6523B-1871-E44A-8B5E-C295A1F7A175}"/>
              </a:ext>
            </a:extLst>
          </p:cNvPr>
          <p:cNvSpPr txBox="1"/>
          <p:nvPr/>
        </p:nvSpPr>
        <p:spPr>
          <a:xfrm>
            <a:off x="635000" y="6337300"/>
            <a:ext cx="10922000" cy="190500"/>
          </a:xfrm>
          <a:prstGeom prst="rect">
            <a:avLst/>
          </a:prstGeom>
          <a:noFill/>
        </p:spPr>
        <p:txBody>
          <a:bodyPr vertOverflow="overflow" vert="horz" wrap="square" rtlCol="0" anchor="t">
            <a:spAutoFit/>
          </a:bodyPr>
          <a:lstStyle/>
          <a:p>
            <a:pPr algn="l"/>
            <a:r>
              <a:rPr lang="en-US" sz="800">
                <a:solidFill>
                  <a:srgbClr val="555555"/>
                </a:solidFill>
                <a:latin typeface="Calibri"/>
                <a:cs typeface="Calibri"/>
              </a:rPr>
              <a:t>eVTOL Research Brief · UIUC 2026          CONFIDENTIAL · FOR DISCUSSION PURPOSES ONLY          09 / 09</a:t>
            </a:r>
          </a:p>
        </p:txBody>
      </p:sp>
      <p:sp>
        <p:nvSpPr>
          <p:cNvPr id="19" name="Rectangle 18">
            <a:extLst>
              <a:ext uri="{FF2B5EF4-FFF2-40B4-BE49-F238E27FC236}">
                <a16:creationId xmlns:a16="http://schemas.microsoft.com/office/drawing/2014/main" id="{C8737924-6B28-5D4B-AA93-C8AB45C4E9C1}"/>
              </a:ext>
            </a:extLst>
          </p:cNvPr>
          <p:cNvSpPr/>
          <p:nvPr/>
        </p:nvSpPr>
        <p:spPr>
          <a:xfrm>
            <a:off x="1016000" y="3746500"/>
            <a:ext cx="4953000" cy="1905000"/>
          </a:xfrm>
          <a:prstGeom prst="rect">
            <a:avLst/>
          </a:prstGeom>
          <a:solidFill>
            <a:srgbClr val="1E1E1E"/>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23" name="Rectangle 22">
            <a:extLst>
              <a:ext uri="{FF2B5EF4-FFF2-40B4-BE49-F238E27FC236}">
                <a16:creationId xmlns:a16="http://schemas.microsoft.com/office/drawing/2014/main" id="{86ED566A-F401-CD41-8BE6-E5BF9D0D5335}"/>
              </a:ext>
            </a:extLst>
          </p:cNvPr>
          <p:cNvSpPr/>
          <p:nvPr/>
        </p:nvSpPr>
        <p:spPr>
          <a:xfrm>
            <a:off x="1016000" y="3746500"/>
            <a:ext cx="4953000" cy="38100"/>
          </a:xfrm>
          <a:prstGeom prst="rect">
            <a:avLst/>
          </a:prstGeom>
          <a:solidFill>
            <a:srgbClr val="C8B89A"/>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24" name="TextBox 23">
            <a:extLst>
              <a:ext uri="{FF2B5EF4-FFF2-40B4-BE49-F238E27FC236}">
                <a16:creationId xmlns:a16="http://schemas.microsoft.com/office/drawing/2014/main" id="{BDDDE1A5-42B5-C849-87CB-28EEF578136B}"/>
              </a:ext>
            </a:extLst>
          </p:cNvPr>
          <p:cNvSpPr txBox="1"/>
          <p:nvPr/>
        </p:nvSpPr>
        <p:spPr>
          <a:xfrm>
            <a:off x="1270000" y="3949700"/>
            <a:ext cx="4445000" cy="330200"/>
          </a:xfrm>
          <a:prstGeom prst="rect">
            <a:avLst/>
          </a:prstGeom>
          <a:noFill/>
        </p:spPr>
        <p:txBody>
          <a:bodyPr vertOverflow="overflow" vert="horz" wrap="square" rtlCol="0" anchor="t">
            <a:spAutoFit/>
          </a:bodyPr>
          <a:lstStyle/>
          <a:p>
            <a:pPr algn="l"/>
            <a:r>
              <a:rPr lang="en-US" b="1">
                <a:solidFill>
                  <a:srgbClr val="F0F0F0"/>
                </a:solidFill>
                <a:latin typeface="Georgia"/>
              </a:rPr>
              <a:t>Aarav Verma</a:t>
            </a:r>
          </a:p>
        </p:txBody>
      </p:sp>
      <p:sp>
        <p:nvSpPr>
          <p:cNvPr id="25" name="TextBox 24">
            <a:extLst>
              <a:ext uri="{FF2B5EF4-FFF2-40B4-BE49-F238E27FC236}">
                <a16:creationId xmlns:a16="http://schemas.microsoft.com/office/drawing/2014/main" id="{E1F64C76-68C1-1146-8863-974CA46959A8}"/>
              </a:ext>
            </a:extLst>
          </p:cNvPr>
          <p:cNvSpPr txBox="1"/>
          <p:nvPr/>
        </p:nvSpPr>
        <p:spPr>
          <a:xfrm>
            <a:off x="1270000" y="4330700"/>
            <a:ext cx="4445000" cy="203200"/>
          </a:xfrm>
          <a:prstGeom prst="rect">
            <a:avLst/>
          </a:prstGeom>
          <a:noFill/>
        </p:spPr>
        <p:txBody>
          <a:bodyPr vertOverflow="overflow" vert="horz" wrap="square" rtlCol="0" anchor="t">
            <a:spAutoFit/>
          </a:bodyPr>
          <a:lstStyle/>
          <a:p>
            <a:pPr algn="l"/>
            <a:r>
              <a:rPr lang="en-US" sz="1000" b="1">
                <a:solidFill>
                  <a:srgbClr val="C8B89A"/>
                </a:solidFill>
                <a:latin typeface="Calibri"/>
                <a:cs typeface="Calibri"/>
              </a:rPr>
              <a:t>Aerospace Engineering, UIUC</a:t>
            </a:r>
          </a:p>
        </p:txBody>
      </p:sp>
      <p:sp>
        <p:nvSpPr>
          <p:cNvPr id="26" name="TextBox 25">
            <a:extLst>
              <a:ext uri="{FF2B5EF4-FFF2-40B4-BE49-F238E27FC236}">
                <a16:creationId xmlns:a16="http://schemas.microsoft.com/office/drawing/2014/main" id="{A3B842FE-40C0-0747-8698-9B508FC46235}"/>
              </a:ext>
            </a:extLst>
          </p:cNvPr>
          <p:cNvSpPr txBox="1"/>
          <p:nvPr/>
        </p:nvSpPr>
        <p:spPr>
          <a:xfrm>
            <a:off x="1270000" y="4635500"/>
            <a:ext cx="4445000" cy="190500"/>
          </a:xfrm>
          <a:prstGeom prst="rect">
            <a:avLst/>
          </a:prstGeom>
          <a:noFill/>
        </p:spPr>
        <p:txBody>
          <a:bodyPr vertOverflow="overflow" vert="horz" wrap="square" rtlCol="0" anchor="t">
            <a:spAutoFit/>
          </a:bodyPr>
          <a:lstStyle/>
          <a:p>
            <a:pPr algn="l"/>
            <a:r>
              <a:rPr lang="en-US" sz="1100">
                <a:solidFill>
                  <a:srgbClr val="999999"/>
                </a:solidFill>
                <a:latin typeface="Calibri"/>
                <a:cs typeface="Calibri"/>
              </a:rPr>
              <a:t>vermaa0118@gmail.com</a:t>
            </a:r>
          </a:p>
        </p:txBody>
      </p:sp>
      <p:sp>
        <p:nvSpPr>
          <p:cNvPr id="27" name="TextBox 26">
            <a:extLst>
              <a:ext uri="{FF2B5EF4-FFF2-40B4-BE49-F238E27FC236}">
                <a16:creationId xmlns:a16="http://schemas.microsoft.com/office/drawing/2014/main" id="{2A2AE0BC-050E-AB4A-A19F-97E9FFBB598A}"/>
              </a:ext>
            </a:extLst>
          </p:cNvPr>
          <p:cNvSpPr txBox="1"/>
          <p:nvPr/>
        </p:nvSpPr>
        <p:spPr>
          <a:xfrm>
            <a:off x="1270000" y="4864100"/>
            <a:ext cx="4445000" cy="190500"/>
          </a:xfrm>
          <a:prstGeom prst="rect">
            <a:avLst/>
          </a:prstGeom>
          <a:noFill/>
        </p:spPr>
        <p:txBody>
          <a:bodyPr vertOverflow="overflow" vert="horz" wrap="square" rtlCol="0" anchor="t">
            <a:spAutoFit/>
          </a:bodyPr>
          <a:lstStyle/>
          <a:p>
            <a:pPr algn="l"/>
            <a:r>
              <a:rPr lang="en-US" sz="1100">
                <a:solidFill>
                  <a:srgbClr val="999999"/>
                </a:solidFill>
                <a:latin typeface="Calibri"/>
                <a:cs typeface="Calibri"/>
              </a:rPr>
              <a:t>[phone]</a:t>
            </a:r>
          </a:p>
        </p:txBody>
      </p:sp>
      <p:sp>
        <p:nvSpPr>
          <p:cNvPr id="28" name="Rectangle 27">
            <a:extLst>
              <a:ext uri="{FF2B5EF4-FFF2-40B4-BE49-F238E27FC236}">
                <a16:creationId xmlns:a16="http://schemas.microsoft.com/office/drawing/2014/main" id="{8CB7AD49-7C86-B749-8086-9B22DBA17757}"/>
              </a:ext>
            </a:extLst>
          </p:cNvPr>
          <p:cNvSpPr/>
          <p:nvPr/>
        </p:nvSpPr>
        <p:spPr>
          <a:xfrm>
            <a:off x="6223000" y="3746500"/>
            <a:ext cx="4953000" cy="1905000"/>
          </a:xfrm>
          <a:prstGeom prst="rect">
            <a:avLst/>
          </a:prstGeom>
          <a:solidFill>
            <a:srgbClr val="1E1E1E"/>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29" name="Rectangle 28">
            <a:extLst>
              <a:ext uri="{FF2B5EF4-FFF2-40B4-BE49-F238E27FC236}">
                <a16:creationId xmlns:a16="http://schemas.microsoft.com/office/drawing/2014/main" id="{B1594470-EAD1-9C4A-AD40-AC7F6B159A3A}"/>
              </a:ext>
            </a:extLst>
          </p:cNvPr>
          <p:cNvSpPr/>
          <p:nvPr/>
        </p:nvSpPr>
        <p:spPr>
          <a:xfrm>
            <a:off x="6223000" y="3746500"/>
            <a:ext cx="4953000" cy="38100"/>
          </a:xfrm>
          <a:prstGeom prst="rect">
            <a:avLst/>
          </a:prstGeom>
          <a:solidFill>
            <a:srgbClr val="C8B89A"/>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33" name="TextBox 32">
            <a:extLst>
              <a:ext uri="{FF2B5EF4-FFF2-40B4-BE49-F238E27FC236}">
                <a16:creationId xmlns:a16="http://schemas.microsoft.com/office/drawing/2014/main" id="{9EC581E4-18FE-944A-959B-83BD64F8345D}"/>
              </a:ext>
            </a:extLst>
          </p:cNvPr>
          <p:cNvSpPr txBox="1"/>
          <p:nvPr/>
        </p:nvSpPr>
        <p:spPr>
          <a:xfrm>
            <a:off x="6477000" y="3949700"/>
            <a:ext cx="4445000" cy="330200"/>
          </a:xfrm>
          <a:prstGeom prst="rect">
            <a:avLst/>
          </a:prstGeom>
          <a:noFill/>
        </p:spPr>
        <p:txBody>
          <a:bodyPr vertOverflow="overflow" vert="horz" wrap="square" rtlCol="0" anchor="t">
            <a:spAutoFit/>
          </a:bodyPr>
          <a:lstStyle/>
          <a:p>
            <a:pPr algn="l"/>
            <a:r>
              <a:rPr lang="en-US" b="1">
                <a:solidFill>
                  <a:srgbClr val="F0F0F0"/>
                </a:solidFill>
                <a:latin typeface="Georgia"/>
              </a:rPr>
              <a:t>Tharun</a:t>
            </a:r>
          </a:p>
        </p:txBody>
      </p:sp>
      <p:sp>
        <p:nvSpPr>
          <p:cNvPr id="34" name="TextBox 33">
            <a:extLst>
              <a:ext uri="{FF2B5EF4-FFF2-40B4-BE49-F238E27FC236}">
                <a16:creationId xmlns:a16="http://schemas.microsoft.com/office/drawing/2014/main" id="{C1977AF0-8044-3946-BA85-3DA81314C36A}"/>
              </a:ext>
            </a:extLst>
          </p:cNvPr>
          <p:cNvSpPr txBox="1"/>
          <p:nvPr/>
        </p:nvSpPr>
        <p:spPr>
          <a:xfrm>
            <a:off x="6477000" y="4330700"/>
            <a:ext cx="4445000" cy="203200"/>
          </a:xfrm>
          <a:prstGeom prst="rect">
            <a:avLst/>
          </a:prstGeom>
          <a:noFill/>
        </p:spPr>
        <p:txBody>
          <a:bodyPr vertOverflow="overflow" vert="horz" wrap="square" rtlCol="0" anchor="t">
            <a:spAutoFit/>
          </a:bodyPr>
          <a:lstStyle/>
          <a:p>
            <a:pPr algn="l"/>
            <a:r>
              <a:rPr lang="en-US" sz="1000" b="1">
                <a:solidFill>
                  <a:srgbClr val="C8B89A"/>
                </a:solidFill>
                <a:latin typeface="Calibri"/>
                <a:cs typeface="Calibri"/>
              </a:rPr>
              <a:t>Materials Science, UIUC · Co-founder</a:t>
            </a:r>
          </a:p>
        </p:txBody>
      </p:sp>
      <p:sp>
        <p:nvSpPr>
          <p:cNvPr id="35" name="TextBox 34">
            <a:extLst>
              <a:ext uri="{FF2B5EF4-FFF2-40B4-BE49-F238E27FC236}">
                <a16:creationId xmlns:a16="http://schemas.microsoft.com/office/drawing/2014/main" id="{4C3AFA7F-3CD9-8C4A-B192-360524244CCD}"/>
              </a:ext>
            </a:extLst>
          </p:cNvPr>
          <p:cNvSpPr txBox="1"/>
          <p:nvPr/>
        </p:nvSpPr>
        <p:spPr>
          <a:xfrm>
            <a:off x="6477000" y="4635500"/>
            <a:ext cx="4445000" cy="190500"/>
          </a:xfrm>
          <a:prstGeom prst="rect">
            <a:avLst/>
          </a:prstGeom>
          <a:noFill/>
        </p:spPr>
        <p:txBody>
          <a:bodyPr vertOverflow="overflow" vert="horz" wrap="square" rtlCol="0" anchor="t">
            <a:spAutoFit/>
          </a:bodyPr>
          <a:lstStyle/>
          <a:p>
            <a:pPr algn="l"/>
            <a:r>
              <a:rPr lang="en-US" sz="1100">
                <a:solidFill>
                  <a:srgbClr val="999999"/>
                </a:solidFill>
                <a:latin typeface="Calibri"/>
                <a:cs typeface="Calibri"/>
              </a:rPr>
              <a:t>[email]</a:t>
            </a:r>
          </a:p>
        </p:txBody>
      </p:sp>
      <p:sp>
        <p:nvSpPr>
          <p:cNvPr id="36" name="TextBox 35">
            <a:extLst>
              <a:ext uri="{FF2B5EF4-FFF2-40B4-BE49-F238E27FC236}">
                <a16:creationId xmlns:a16="http://schemas.microsoft.com/office/drawing/2014/main" id="{1F60D175-D4F0-0444-8D48-7C8FAA26D57C}"/>
              </a:ext>
            </a:extLst>
          </p:cNvPr>
          <p:cNvSpPr txBox="1"/>
          <p:nvPr/>
        </p:nvSpPr>
        <p:spPr>
          <a:xfrm>
            <a:off x="635000" y="5829300"/>
            <a:ext cx="10922000" cy="228600"/>
          </a:xfrm>
          <a:prstGeom prst="rect">
            <a:avLst/>
          </a:prstGeom>
          <a:noFill/>
        </p:spPr>
        <p:txBody>
          <a:bodyPr vertOverflow="overflow" vert="horz" wrap="square" rtlCol="0" anchor="t">
            <a:spAutoFit/>
          </a:bodyPr>
          <a:lstStyle/>
          <a:p>
            <a:pPr algn="l"/>
            <a:r>
              <a:rPr lang="en-US" sz="1100">
                <a:solidFill>
                  <a:srgbClr val="666666"/>
                </a:solidFill>
                <a:latin typeface="Calibri"/>
                <a:cs typeface="Calibri"/>
              </a:rPr>
              <a:t>University of Illinois Urbana-Champaign — April 2026</a:t>
            </a:r>
          </a:p>
        </p:txBody>
      </p:sp>
    </p:spTree>
    <p:extLst>
      <p:ext uri="{BB962C8B-B14F-4D97-AF65-F5344CB8AC3E}">
        <p14:creationId xmlns:p14="http://schemas.microsoft.com/office/powerpoint/2010/main" val="52455333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1776098439909]">
  <a:themeElements>
    <a:clrScheme name="Office">
      <a:dk1>
        <a:srgbClr val="1A1A1A"/>
      </a:dk1>
      <a:lt1>
        <a:srgbClr val="F5F2EC"/>
      </a:lt1>
      <a:dk2>
        <a:srgbClr val="141414"/>
      </a:dk2>
      <a:lt2>
        <a:srgbClr val="F0EDE6"/>
      </a:lt2>
      <a:accent1>
        <a:srgbClr val="C8B89A"/>
      </a:accent1>
      <a:accent2>
        <a:srgbClr val="1E1E1E"/>
      </a:accent2>
      <a:accent3>
        <a:srgbClr val="7A7060"/>
      </a:accent3>
      <a:accent4>
        <a:srgbClr val="8A8070"/>
      </a:accent4>
      <a:accent5>
        <a:srgbClr val="D8D4CC"/>
      </a:accent5>
      <a:accent6>
        <a:srgbClr val="2E2E2E"/>
      </a:accent6>
      <a:hlink>
        <a:srgbClr val="467886"/>
      </a:hlink>
      <a:folHlink>
        <a:srgbClr val="96607D"/>
      </a:folHlink>
    </a:clrScheme>
    <a:fontScheme name="Office">
      <a:majorFont>
        <a:latin typeface="Trebuchet MS"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4.xml><?xml version="1.0" encoding="utf-8"?>
<a:theme xmlns:a="http://schemas.openxmlformats.org/drawingml/2006/main" name="Office Theme [1776663570658]">
  <a:themeElements>
    <a:clrScheme name="Office">
      <a:dk1>
        <a:srgbClr val="F0F0F0"/>
      </a:dk1>
      <a:lt1>
        <a:srgbClr val="0F0F0F"/>
      </a:lt1>
      <a:dk2>
        <a:srgbClr val="999999"/>
      </a:dk2>
      <a:lt2>
        <a:srgbClr val="1E1E1E"/>
      </a:lt2>
      <a:accent1>
        <a:srgbClr val="2F7EF5"/>
      </a:accent1>
      <a:accent2>
        <a:srgbClr val="555555"/>
      </a:accent2>
      <a:accent3>
        <a:srgbClr val="777777"/>
      </a:accent3>
      <a:accent4>
        <a:srgbClr val="333333"/>
      </a:accent4>
      <a:accent5>
        <a:srgbClr val="666666"/>
      </a:accent5>
      <a:accent6>
        <a:srgbClr val="444444"/>
      </a:accent6>
      <a:hlink>
        <a:srgbClr val="467886"/>
      </a:hlink>
      <a:folHlink>
        <a:srgbClr val="96607D"/>
      </a:folHlink>
    </a:clrScheme>
    <a:fontScheme name="Office">
      <a:majorFont>
        <a:latin typeface="Georgia"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350" row="0">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7A7603F4-9E49-5C49-BDA7-A585D5C3EC40}">
  <we:reference id="wa200010001" version="1.0.0.1" store="en-US" storeType="OMEX"/>
  <we:alternateReferences>
    <we:reference id="wa200010001" version="1.0.0.1" store="" storeType="OMEX"/>
  </we:alternateReferences>
  <we:properties>
    <we:property name="claude.fileId" value="&quot;769bf467-fb7a-4bb2-8c53-7358a0887bc0&quot;"/>
  </we:properties>
  <we:bindings/>
  <we:snapshot xmlns:r="http://schemas.openxmlformats.org/officeDocument/2006/relationships"/>
</we:webextension>
</file>

<file path=docProps/app.xml><?xml version="1.0" encoding="utf-8"?>
<Properties xmlns="http://schemas.openxmlformats.org/officeDocument/2006/extended-properties" xmlns:vt="http://schemas.openxmlformats.org/officeDocument/2006/docPropsVTypes">
  <TotalTime>1506</TotalTime>
  <Words>1292</Words>
  <Application>Microsoft Macintosh PowerPoint</Application>
  <PresentationFormat>Widescreen</PresentationFormat>
  <Paragraphs>139</Paragraphs>
  <Slides>9</Slides>
  <Notes>0</Notes>
  <HiddenSlides>0</HiddenSlides>
  <MMClips>0</MMClips>
  <ScaleCrop>false</ScaleCrop>
  <HeadingPairs>
    <vt:vector size="6" baseType="variant">
      <vt:variant>
        <vt:lpstr>Fonts Used</vt:lpstr>
      </vt:variant>
      <vt:variant>
        <vt:i4>6</vt:i4>
      </vt:variant>
      <vt:variant>
        <vt:lpstr>Theme</vt:lpstr>
      </vt:variant>
      <vt:variant>
        <vt:i4>4</vt:i4>
      </vt:variant>
      <vt:variant>
        <vt:lpstr>Slide Titles</vt:lpstr>
      </vt:variant>
      <vt:variant>
        <vt:i4>9</vt:i4>
      </vt:variant>
    </vt:vector>
  </HeadingPairs>
  <TitlesOfParts>
    <vt:vector size="19" baseType="lpstr">
      <vt:lpstr>Aptos</vt:lpstr>
      <vt:lpstr>Aptos Display</vt:lpstr>
      <vt:lpstr>Arial</vt:lpstr>
      <vt:lpstr>Calibri</vt:lpstr>
      <vt:lpstr>Georgia</vt:lpstr>
      <vt:lpstr>Trebuchet MS</vt:lpstr>
      <vt:lpstr>Office Theme</vt:lpstr>
      <vt:lpstr>Office Theme [1776098439909]</vt:lpstr>
      <vt:lpstr>Office Theme</vt:lpstr>
      <vt:lpstr>Office Theme [1776663570658]</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Verma, Aarav</dc:creator>
  <cp:lastModifiedBy>Verma, Aarav</cp:lastModifiedBy>
  <cp:revision>6</cp:revision>
  <dcterms:created xsi:type="dcterms:W3CDTF">2026-04-13T16:07:30Z</dcterms:created>
  <dcterms:modified xsi:type="dcterms:W3CDTF">2026-04-20T06:29:57Z</dcterms:modified>
</cp:coreProperties>
</file>